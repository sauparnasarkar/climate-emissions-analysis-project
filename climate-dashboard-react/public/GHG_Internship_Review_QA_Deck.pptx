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97" r:id="rId4"/>
    <p:sldId id="302" r:id="rId5"/>
    <p:sldId id="264" r:id="rId6"/>
    <p:sldId id="298" r:id="rId7"/>
    <p:sldId id="303" r:id="rId8"/>
    <p:sldId id="271" r:id="rId9"/>
    <p:sldId id="299" r:id="rId10"/>
    <p:sldId id="304" r:id="rId11"/>
    <p:sldId id="282" r:id="rId12"/>
    <p:sldId id="300" r:id="rId13"/>
    <p:sldId id="296" r:id="rId14"/>
    <p:sldId id="305" r:id="rId15"/>
    <p:sldId id="290" r:id="rId16"/>
    <p:sldId id="301" r:id="rId17"/>
    <p:sldId id="306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311EC0-82B3-6A41-8D41-8E8420E9DC9A}" v="590" dt="2026-07-27T21:49:11.4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26"/>
    <p:restoredTop sz="88864"/>
  </p:normalViewPr>
  <p:slideViewPr>
    <p:cSldViewPr snapToGrid="0" snapToObjects="1">
      <p:cViewPr varScale="1">
        <p:scale>
          <a:sx n="123" d="100"/>
          <a:sy n="123" d="100"/>
        </p:scale>
        <p:origin x="2048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uparna Sarkar" userId="a26b9972758fd2b2" providerId="LiveId" clId="{F049A4CF-87D7-51A9-B7E4-ED58385DA0DA}"/>
    <pc:docChg chg="custSel delSld modSld">
      <pc:chgData name="Sauparna Sarkar" userId="a26b9972758fd2b2" providerId="LiveId" clId="{F049A4CF-87D7-51A9-B7E4-ED58385DA0DA}" dt="2026-07-27T21:49:11.435" v="961" actId="20577"/>
      <pc:docMkLst>
        <pc:docMk/>
      </pc:docMkLst>
      <pc:sldChg chg="modSp mod">
        <pc:chgData name="Sauparna Sarkar" userId="a26b9972758fd2b2" providerId="LiveId" clId="{F049A4CF-87D7-51A9-B7E4-ED58385DA0DA}" dt="2026-07-27T21:40:48.824" v="798"/>
        <pc:sldMkLst>
          <pc:docMk/>
          <pc:sldMk cId="0" sldId="256"/>
        </pc:sldMkLst>
        <pc:spChg chg="mod">
          <ac:chgData name="Sauparna Sarkar" userId="a26b9972758fd2b2" providerId="LiveId" clId="{F049A4CF-87D7-51A9-B7E4-ED58385DA0DA}" dt="2026-07-27T21:40:48.824" v="798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25" v="802"/>
        <pc:sldMkLst>
          <pc:docMk/>
          <pc:sldMk cId="0" sldId="257"/>
        </pc:sldMkLst>
        <pc:spChg chg="mod">
          <ac:chgData name="Sauparna Sarkar" userId="a26b9972758fd2b2" providerId="LiveId" clId="{F049A4CF-87D7-51A9-B7E4-ED58385DA0DA}" dt="2026-07-27T21:32:35.870" v="284"/>
          <ac:spMkLst>
            <pc:docMk/>
            <pc:sldMk cId="0" sldId="257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32:35.872" v="285"/>
          <ac:spMkLst>
            <pc:docMk/>
            <pc:sldMk cId="0" sldId="257"/>
            <ac:spMk id="4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25" v="802"/>
          <ac:spMkLst>
            <pc:docMk/>
            <pc:sldMk cId="0" sldId="257"/>
            <ac:spMk id="7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27" v="806"/>
        <pc:sldMkLst>
          <pc:docMk/>
          <pc:sldMk cId="0" sldId="258"/>
        </pc:sldMkLst>
        <pc:spChg chg="mod">
          <ac:chgData name="Sauparna Sarkar" userId="a26b9972758fd2b2" providerId="LiveId" clId="{F049A4CF-87D7-51A9-B7E4-ED58385DA0DA}" dt="2026-07-27T21:32:35.873" v="286"/>
          <ac:spMkLst>
            <pc:docMk/>
            <pc:sldMk cId="0" sldId="258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27" v="806"/>
          <ac:spMkLst>
            <pc:docMk/>
            <pc:sldMk cId="0" sldId="258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28" v="810"/>
        <pc:sldMkLst>
          <pc:docMk/>
          <pc:sldMk cId="0" sldId="259"/>
        </pc:sldMkLst>
        <pc:spChg chg="mod">
          <ac:chgData name="Sauparna Sarkar" userId="a26b9972758fd2b2" providerId="LiveId" clId="{F049A4CF-87D7-51A9-B7E4-ED58385DA0DA}" dt="2026-07-27T21:32:35.874" v="287"/>
          <ac:spMkLst>
            <pc:docMk/>
            <pc:sldMk cId="0" sldId="259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28" v="810"/>
          <ac:spMkLst>
            <pc:docMk/>
            <pc:sldMk cId="0" sldId="259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29" v="814"/>
        <pc:sldMkLst>
          <pc:docMk/>
          <pc:sldMk cId="0" sldId="260"/>
        </pc:sldMkLst>
        <pc:spChg chg="mod">
          <ac:chgData name="Sauparna Sarkar" userId="a26b9972758fd2b2" providerId="LiveId" clId="{F049A4CF-87D7-51A9-B7E4-ED58385DA0DA}" dt="2026-07-27T21:32:35.875" v="288"/>
          <ac:spMkLst>
            <pc:docMk/>
            <pc:sldMk cId="0" sldId="260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29" v="814"/>
          <ac:spMkLst>
            <pc:docMk/>
            <pc:sldMk cId="0" sldId="260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30" v="818"/>
        <pc:sldMkLst>
          <pc:docMk/>
          <pc:sldMk cId="0" sldId="262"/>
        </pc:sldMkLst>
        <pc:spChg chg="mod">
          <ac:chgData name="Sauparna Sarkar" userId="a26b9972758fd2b2" providerId="LiveId" clId="{F049A4CF-87D7-51A9-B7E4-ED58385DA0DA}" dt="2026-07-27T21:32:35.876" v="289"/>
          <ac:spMkLst>
            <pc:docMk/>
            <pc:sldMk cId="0" sldId="262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30" v="818"/>
          <ac:spMkLst>
            <pc:docMk/>
            <pc:sldMk cId="0" sldId="262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31" v="822"/>
        <pc:sldMkLst>
          <pc:docMk/>
          <pc:sldMk cId="0" sldId="264"/>
        </pc:sldMkLst>
        <pc:spChg chg="mod">
          <ac:chgData name="Sauparna Sarkar" userId="a26b9972758fd2b2" providerId="LiveId" clId="{F049A4CF-87D7-51A9-B7E4-ED58385DA0DA}" dt="2026-07-27T21:32:35.877" v="290"/>
          <ac:spMkLst>
            <pc:docMk/>
            <pc:sldMk cId="0" sldId="264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32:35.878" v="291"/>
          <ac:spMkLst>
            <pc:docMk/>
            <pc:sldMk cId="0" sldId="264"/>
            <ac:spMk id="4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31" v="822"/>
          <ac:spMkLst>
            <pc:docMk/>
            <pc:sldMk cId="0" sldId="264"/>
            <ac:spMk id="7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32" v="826"/>
        <pc:sldMkLst>
          <pc:docMk/>
          <pc:sldMk cId="0" sldId="265"/>
        </pc:sldMkLst>
        <pc:spChg chg="mod">
          <ac:chgData name="Sauparna Sarkar" userId="a26b9972758fd2b2" providerId="LiveId" clId="{F049A4CF-87D7-51A9-B7E4-ED58385DA0DA}" dt="2026-07-27T21:32:35.879" v="292"/>
          <ac:spMkLst>
            <pc:docMk/>
            <pc:sldMk cId="0" sldId="265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32" v="826"/>
          <ac:spMkLst>
            <pc:docMk/>
            <pc:sldMk cId="0" sldId="265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34" v="830"/>
        <pc:sldMkLst>
          <pc:docMk/>
          <pc:sldMk cId="0" sldId="266"/>
        </pc:sldMkLst>
        <pc:spChg chg="mod">
          <ac:chgData name="Sauparna Sarkar" userId="a26b9972758fd2b2" providerId="LiveId" clId="{F049A4CF-87D7-51A9-B7E4-ED58385DA0DA}" dt="2026-07-27T21:32:35.880" v="293"/>
          <ac:spMkLst>
            <pc:docMk/>
            <pc:sldMk cId="0" sldId="266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0:12.121" v="0"/>
          <ac:spMkLst>
            <pc:docMk/>
            <pc:sldMk cId="0" sldId="266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34" v="830"/>
          <ac:spMkLst>
            <pc:docMk/>
            <pc:sldMk cId="0" sldId="266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35" v="834"/>
        <pc:sldMkLst>
          <pc:docMk/>
          <pc:sldMk cId="0" sldId="267"/>
        </pc:sldMkLst>
        <pc:spChg chg="mod">
          <ac:chgData name="Sauparna Sarkar" userId="a26b9972758fd2b2" providerId="LiveId" clId="{F049A4CF-87D7-51A9-B7E4-ED58385DA0DA}" dt="2026-07-27T21:32:35.881" v="294"/>
          <ac:spMkLst>
            <pc:docMk/>
            <pc:sldMk cId="0" sldId="267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0:18.704" v="1"/>
          <ac:spMkLst>
            <pc:docMk/>
            <pc:sldMk cId="0" sldId="267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35" v="834"/>
          <ac:spMkLst>
            <pc:docMk/>
            <pc:sldMk cId="0" sldId="267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36" v="838"/>
        <pc:sldMkLst>
          <pc:docMk/>
          <pc:sldMk cId="0" sldId="268"/>
        </pc:sldMkLst>
        <pc:spChg chg="mod">
          <ac:chgData name="Sauparna Sarkar" userId="a26b9972758fd2b2" providerId="LiveId" clId="{F049A4CF-87D7-51A9-B7E4-ED58385DA0DA}" dt="2026-07-27T21:32:35.882" v="295"/>
          <ac:spMkLst>
            <pc:docMk/>
            <pc:sldMk cId="0" sldId="268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36" v="838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38" v="842"/>
        <pc:sldMkLst>
          <pc:docMk/>
          <pc:sldMk cId="0" sldId="269"/>
        </pc:sldMkLst>
        <pc:spChg chg="mod">
          <ac:chgData name="Sauparna Sarkar" userId="a26b9972758fd2b2" providerId="LiveId" clId="{F049A4CF-87D7-51A9-B7E4-ED58385DA0DA}" dt="2026-07-27T21:32:35.883" v="296"/>
          <ac:spMkLst>
            <pc:docMk/>
            <pc:sldMk cId="0" sldId="269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0:31.211" v="2"/>
          <ac:spMkLst>
            <pc:docMk/>
            <pc:sldMk cId="0" sldId="269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38" v="842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39" v="846"/>
        <pc:sldMkLst>
          <pc:docMk/>
          <pc:sldMk cId="0" sldId="271"/>
        </pc:sldMkLst>
        <pc:spChg chg="mod">
          <ac:chgData name="Sauparna Sarkar" userId="a26b9972758fd2b2" providerId="LiveId" clId="{F049A4CF-87D7-51A9-B7E4-ED58385DA0DA}" dt="2026-07-27T21:32:35.884" v="297"/>
          <ac:spMkLst>
            <pc:docMk/>
            <pc:sldMk cId="0" sldId="271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0:39.369" v="3"/>
          <ac:spMkLst>
            <pc:docMk/>
            <pc:sldMk cId="0" sldId="271"/>
            <ac:spMk id="3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32:35.884" v="298"/>
          <ac:spMkLst>
            <pc:docMk/>
            <pc:sldMk cId="0" sldId="271"/>
            <ac:spMk id="4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39" v="846"/>
          <ac:spMkLst>
            <pc:docMk/>
            <pc:sldMk cId="0" sldId="271"/>
            <ac:spMk id="7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40" v="850"/>
        <pc:sldMkLst>
          <pc:docMk/>
          <pc:sldMk cId="0" sldId="272"/>
        </pc:sldMkLst>
        <pc:spChg chg="mod">
          <ac:chgData name="Sauparna Sarkar" userId="a26b9972758fd2b2" providerId="LiveId" clId="{F049A4CF-87D7-51A9-B7E4-ED58385DA0DA}" dt="2026-07-27T21:32:35.885" v="299"/>
          <ac:spMkLst>
            <pc:docMk/>
            <pc:sldMk cId="0" sldId="272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1:48.896" v="18" actId="27107"/>
          <ac:spMkLst>
            <pc:docMk/>
            <pc:sldMk cId="0" sldId="272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40" v="850"/>
          <ac:spMkLst>
            <pc:docMk/>
            <pc:sldMk cId="0" sldId="272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41" v="854"/>
        <pc:sldMkLst>
          <pc:docMk/>
          <pc:sldMk cId="0" sldId="273"/>
        </pc:sldMkLst>
        <pc:spChg chg="mod">
          <ac:chgData name="Sauparna Sarkar" userId="a26b9972758fd2b2" providerId="LiveId" clId="{F049A4CF-87D7-51A9-B7E4-ED58385DA0DA}" dt="2026-07-27T21:32:35.886" v="300"/>
          <ac:spMkLst>
            <pc:docMk/>
            <pc:sldMk cId="0" sldId="273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2:09.728" v="21" actId="20577"/>
          <ac:spMkLst>
            <pc:docMk/>
            <pc:sldMk cId="0" sldId="273"/>
            <ac:spMk id="3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2:42.964" v="65" actId="20577"/>
          <ac:spMkLst>
            <pc:docMk/>
            <pc:sldMk cId="0" sldId="273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41" v="854"/>
          <ac:spMkLst>
            <pc:docMk/>
            <pc:sldMk cId="0" sldId="273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42" v="858"/>
        <pc:sldMkLst>
          <pc:docMk/>
          <pc:sldMk cId="0" sldId="274"/>
        </pc:sldMkLst>
        <pc:spChg chg="mod">
          <ac:chgData name="Sauparna Sarkar" userId="a26b9972758fd2b2" providerId="LiveId" clId="{F049A4CF-87D7-51A9-B7E4-ED58385DA0DA}" dt="2026-07-27T21:32:35.887" v="301"/>
          <ac:spMkLst>
            <pc:docMk/>
            <pc:sldMk cId="0" sldId="274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42" v="858"/>
          <ac:spMkLst>
            <pc:docMk/>
            <pc:sldMk cId="0" sldId="274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6:23.846" v="923"/>
        <pc:sldMkLst>
          <pc:docMk/>
          <pc:sldMk cId="0" sldId="275"/>
        </pc:sldMkLst>
        <pc:spChg chg="mod">
          <ac:chgData name="Sauparna Sarkar" userId="a26b9972758fd2b2" providerId="LiveId" clId="{F049A4CF-87D7-51A9-B7E4-ED58385DA0DA}" dt="2026-07-27T21:32:35.888" v="302"/>
          <ac:spMkLst>
            <pc:docMk/>
            <pc:sldMk cId="0" sldId="275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6:23.846" v="923"/>
          <ac:spMkLst>
            <pc:docMk/>
            <pc:sldMk cId="0" sldId="275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43" v="862"/>
          <ac:spMkLst>
            <pc:docMk/>
            <pc:sldMk cId="0" sldId="275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44" v="866"/>
        <pc:sldMkLst>
          <pc:docMk/>
          <pc:sldMk cId="0" sldId="276"/>
        </pc:sldMkLst>
        <pc:spChg chg="mod">
          <ac:chgData name="Sauparna Sarkar" userId="a26b9972758fd2b2" providerId="LiveId" clId="{F049A4CF-87D7-51A9-B7E4-ED58385DA0DA}" dt="2026-07-27T21:32:35.889" v="303"/>
          <ac:spMkLst>
            <pc:docMk/>
            <pc:sldMk cId="0" sldId="276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3:10.049" v="66"/>
          <ac:spMkLst>
            <pc:docMk/>
            <pc:sldMk cId="0" sldId="276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44" v="866"/>
          <ac:spMkLst>
            <pc:docMk/>
            <pc:sldMk cId="0" sldId="276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45" v="870"/>
        <pc:sldMkLst>
          <pc:docMk/>
          <pc:sldMk cId="0" sldId="277"/>
        </pc:sldMkLst>
        <pc:spChg chg="mod">
          <ac:chgData name="Sauparna Sarkar" userId="a26b9972758fd2b2" providerId="LiveId" clId="{F049A4CF-87D7-51A9-B7E4-ED58385DA0DA}" dt="2026-07-27T21:32:35.889" v="304"/>
          <ac:spMkLst>
            <pc:docMk/>
            <pc:sldMk cId="0" sldId="277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45" v="870"/>
          <ac:spMkLst>
            <pc:docMk/>
            <pc:sldMk cId="0" sldId="277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47" v="874"/>
        <pc:sldMkLst>
          <pc:docMk/>
          <pc:sldMk cId="0" sldId="278"/>
        </pc:sldMkLst>
        <pc:spChg chg="mod">
          <ac:chgData name="Sauparna Sarkar" userId="a26b9972758fd2b2" providerId="LiveId" clId="{F049A4CF-87D7-51A9-B7E4-ED58385DA0DA}" dt="2026-07-27T21:32:35.890" v="305"/>
          <ac:spMkLst>
            <pc:docMk/>
            <pc:sldMk cId="0" sldId="278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3:44.513" v="78" actId="20577"/>
          <ac:spMkLst>
            <pc:docMk/>
            <pc:sldMk cId="0" sldId="278"/>
            <ac:spMk id="3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38:11.705" v="775" actId="20577"/>
          <ac:spMkLst>
            <pc:docMk/>
            <pc:sldMk cId="0" sldId="278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47" v="874"/>
          <ac:spMkLst>
            <pc:docMk/>
            <pc:sldMk cId="0" sldId="278"/>
            <ac:spMk id="8" creationId="{00000000-0000-0000-0000-000000000000}"/>
          </ac:spMkLst>
        </pc:spChg>
      </pc:sldChg>
      <pc:sldChg chg="modSp del mod">
        <pc:chgData name="Sauparna Sarkar" userId="a26b9972758fd2b2" providerId="LiveId" clId="{F049A4CF-87D7-51A9-B7E4-ED58385DA0DA}" dt="2026-07-27T21:04:14.540" v="80" actId="2696"/>
        <pc:sldMkLst>
          <pc:docMk/>
          <pc:sldMk cId="0" sldId="279"/>
        </pc:sldMkLst>
        <pc:spChg chg="mod">
          <ac:chgData name="Sauparna Sarkar" userId="a26b9972758fd2b2" providerId="LiveId" clId="{F049A4CF-87D7-51A9-B7E4-ED58385DA0DA}" dt="2026-07-27T21:04:01.843" v="79" actId="20577"/>
          <ac:spMkLst>
            <pc:docMk/>
            <pc:sldMk cId="0" sldId="279"/>
            <ac:spMk id="3" creationId="{00000000-0000-0000-0000-000000000000}"/>
          </ac:spMkLst>
        </pc:spChg>
      </pc:sldChg>
      <pc:sldChg chg="del">
        <pc:chgData name="Sauparna Sarkar" userId="a26b9972758fd2b2" providerId="LiveId" clId="{F049A4CF-87D7-51A9-B7E4-ED58385DA0DA}" dt="2026-07-27T21:04:20.826" v="81" actId="2696"/>
        <pc:sldMkLst>
          <pc:docMk/>
          <pc:sldMk cId="0" sldId="280"/>
        </pc:sldMkLst>
      </pc:sldChg>
      <pc:sldChg chg="del">
        <pc:chgData name="Sauparna Sarkar" userId="a26b9972758fd2b2" providerId="LiveId" clId="{F049A4CF-87D7-51A9-B7E4-ED58385DA0DA}" dt="2026-07-27T21:04:26.486" v="82" actId="2696"/>
        <pc:sldMkLst>
          <pc:docMk/>
          <pc:sldMk cId="0" sldId="281"/>
        </pc:sldMkLst>
      </pc:sldChg>
      <pc:sldChg chg="modSp mod">
        <pc:chgData name="Sauparna Sarkar" userId="a26b9972758fd2b2" providerId="LiveId" clId="{F049A4CF-87D7-51A9-B7E4-ED58385DA0DA}" dt="2026-07-27T21:40:48.848" v="878"/>
        <pc:sldMkLst>
          <pc:docMk/>
          <pc:sldMk cId="0" sldId="282"/>
        </pc:sldMkLst>
        <pc:spChg chg="mod">
          <ac:chgData name="Sauparna Sarkar" userId="a26b9972758fd2b2" providerId="LiveId" clId="{F049A4CF-87D7-51A9-B7E4-ED58385DA0DA}" dt="2026-07-27T21:32:35.891" v="306"/>
          <ac:spMkLst>
            <pc:docMk/>
            <pc:sldMk cId="0" sldId="282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4:40.353" v="83"/>
          <ac:spMkLst>
            <pc:docMk/>
            <pc:sldMk cId="0" sldId="282"/>
            <ac:spMk id="3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38:51.364" v="778" actId="20577"/>
          <ac:spMkLst>
            <pc:docMk/>
            <pc:sldMk cId="0" sldId="282"/>
            <ac:spMk id="4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48" v="878"/>
          <ac:spMkLst>
            <pc:docMk/>
            <pc:sldMk cId="0" sldId="282"/>
            <ac:spMk id="7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49" v="882"/>
        <pc:sldMkLst>
          <pc:docMk/>
          <pc:sldMk cId="0" sldId="283"/>
        </pc:sldMkLst>
        <pc:spChg chg="mod">
          <ac:chgData name="Sauparna Sarkar" userId="a26b9972758fd2b2" providerId="LiveId" clId="{F049A4CF-87D7-51A9-B7E4-ED58385DA0DA}" dt="2026-07-27T21:38:57.581" v="780" actId="20577"/>
          <ac:spMkLst>
            <pc:docMk/>
            <pc:sldMk cId="0" sldId="283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49" v="882"/>
          <ac:spMkLst>
            <pc:docMk/>
            <pc:sldMk cId="0" sldId="283"/>
            <ac:spMk id="8" creationId="{00000000-0000-0000-0000-000000000000}"/>
          </ac:spMkLst>
        </pc:spChg>
      </pc:sldChg>
      <pc:sldChg chg="del">
        <pc:chgData name="Sauparna Sarkar" userId="a26b9972758fd2b2" providerId="LiveId" clId="{F049A4CF-87D7-51A9-B7E4-ED58385DA0DA}" dt="2026-07-27T21:07:00.191" v="84" actId="2696"/>
        <pc:sldMkLst>
          <pc:docMk/>
          <pc:sldMk cId="0" sldId="284"/>
        </pc:sldMkLst>
      </pc:sldChg>
      <pc:sldChg chg="modSp mod">
        <pc:chgData name="Sauparna Sarkar" userId="a26b9972758fd2b2" providerId="LiveId" clId="{F049A4CF-87D7-51A9-B7E4-ED58385DA0DA}" dt="2026-07-27T21:40:48.850" v="886"/>
        <pc:sldMkLst>
          <pc:docMk/>
          <pc:sldMk cId="0" sldId="285"/>
        </pc:sldMkLst>
        <pc:spChg chg="mod">
          <ac:chgData name="Sauparna Sarkar" userId="a26b9972758fd2b2" providerId="LiveId" clId="{F049A4CF-87D7-51A9-B7E4-ED58385DA0DA}" dt="2026-07-27T21:39:02.119" v="782" actId="20577"/>
          <ac:spMkLst>
            <pc:docMk/>
            <pc:sldMk cId="0" sldId="285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7:09.637" v="86"/>
          <ac:spMkLst>
            <pc:docMk/>
            <pc:sldMk cId="0" sldId="285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50" v="886"/>
          <ac:spMkLst>
            <pc:docMk/>
            <pc:sldMk cId="0" sldId="285"/>
            <ac:spMk id="8" creationId="{00000000-0000-0000-0000-000000000000}"/>
          </ac:spMkLst>
        </pc:spChg>
      </pc:sldChg>
      <pc:sldChg chg="modSp del mod">
        <pc:chgData name="Sauparna Sarkar" userId="a26b9972758fd2b2" providerId="LiveId" clId="{F049A4CF-87D7-51A9-B7E4-ED58385DA0DA}" dt="2026-07-27T21:38:43.891" v="776" actId="2696"/>
        <pc:sldMkLst>
          <pc:docMk/>
          <pc:sldMk cId="0" sldId="286"/>
        </pc:sldMkLst>
        <pc:spChg chg="mod">
          <ac:chgData name="Sauparna Sarkar" userId="a26b9972758fd2b2" providerId="LiveId" clId="{F049A4CF-87D7-51A9-B7E4-ED58385DA0DA}" dt="2026-07-27T21:32:35.894" v="310"/>
          <ac:spMkLst>
            <pc:docMk/>
            <pc:sldMk cId="0" sldId="286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7:36.707" v="95"/>
          <ac:spMkLst>
            <pc:docMk/>
            <pc:sldMk cId="0" sldId="286"/>
            <ac:spMk id="3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7:47.375" v="97"/>
          <ac:spMkLst>
            <pc:docMk/>
            <pc:sldMk cId="0" sldId="286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33:07.472" v="416"/>
          <ac:spMkLst>
            <pc:docMk/>
            <pc:sldMk cId="0" sldId="286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51" v="890"/>
        <pc:sldMkLst>
          <pc:docMk/>
          <pc:sldMk cId="0" sldId="287"/>
        </pc:sldMkLst>
        <pc:spChg chg="mod">
          <ac:chgData name="Sauparna Sarkar" userId="a26b9972758fd2b2" providerId="LiveId" clId="{F049A4CF-87D7-51A9-B7E4-ED58385DA0DA}" dt="2026-07-27T21:39:11.181" v="786" actId="20577"/>
          <ac:spMkLst>
            <pc:docMk/>
            <pc:sldMk cId="0" sldId="287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8:00.064" v="98"/>
          <ac:spMkLst>
            <pc:docMk/>
            <pc:sldMk cId="0" sldId="287"/>
            <ac:spMk id="3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8:07.140" v="99"/>
          <ac:spMkLst>
            <pc:docMk/>
            <pc:sldMk cId="0" sldId="287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51" v="890"/>
          <ac:spMkLst>
            <pc:docMk/>
            <pc:sldMk cId="0" sldId="287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9:11.435" v="961" actId="20577"/>
        <pc:sldMkLst>
          <pc:docMk/>
          <pc:sldMk cId="0" sldId="288"/>
        </pc:sldMkLst>
        <pc:spChg chg="mod">
          <ac:chgData name="Sauparna Sarkar" userId="a26b9972758fd2b2" providerId="LiveId" clId="{F049A4CF-87D7-51A9-B7E4-ED58385DA0DA}" dt="2026-07-27T21:39:17.934" v="790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08:25.979" v="102" actId="20577"/>
          <ac:spMkLst>
            <pc:docMk/>
            <pc:sldMk cId="0" sldId="288"/>
            <ac:spMk id="3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9:11.435" v="961" actId="20577"/>
          <ac:spMkLst>
            <pc:docMk/>
            <pc:sldMk cId="0" sldId="288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52" v="894"/>
          <ac:spMkLst>
            <pc:docMk/>
            <pc:sldMk cId="0" sldId="288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54" v="898"/>
        <pc:sldMkLst>
          <pc:docMk/>
          <pc:sldMk cId="0" sldId="289"/>
        </pc:sldMkLst>
        <pc:spChg chg="mod">
          <ac:chgData name="Sauparna Sarkar" userId="a26b9972758fd2b2" providerId="LiveId" clId="{F049A4CF-87D7-51A9-B7E4-ED58385DA0DA}" dt="2026-07-27T21:39:28.310" v="794" actId="20577"/>
          <ac:spMkLst>
            <pc:docMk/>
            <pc:sldMk cId="0" sldId="289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10:25.722" v="176" actId="20577"/>
          <ac:spMkLst>
            <pc:docMk/>
            <pc:sldMk cId="0" sldId="289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54" v="898"/>
          <ac:spMkLst>
            <pc:docMk/>
            <pc:sldMk cId="0" sldId="289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55" v="902"/>
        <pc:sldMkLst>
          <pc:docMk/>
          <pc:sldMk cId="0" sldId="290"/>
        </pc:sldMkLst>
        <pc:spChg chg="mod">
          <ac:chgData name="Sauparna Sarkar" userId="a26b9972758fd2b2" providerId="LiveId" clId="{F049A4CF-87D7-51A9-B7E4-ED58385DA0DA}" dt="2026-07-27T21:32:35.896" v="314"/>
          <ac:spMkLst>
            <pc:docMk/>
            <pc:sldMk cId="0" sldId="290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10:35.907" v="177"/>
          <ac:spMkLst>
            <pc:docMk/>
            <pc:sldMk cId="0" sldId="290"/>
            <ac:spMk id="3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32:35.897" v="315"/>
          <ac:spMkLst>
            <pc:docMk/>
            <pc:sldMk cId="0" sldId="290"/>
            <ac:spMk id="4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55" v="902"/>
          <ac:spMkLst>
            <pc:docMk/>
            <pc:sldMk cId="0" sldId="290"/>
            <ac:spMk id="7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56" v="906"/>
        <pc:sldMkLst>
          <pc:docMk/>
          <pc:sldMk cId="0" sldId="291"/>
        </pc:sldMkLst>
        <pc:spChg chg="mod">
          <ac:chgData name="Sauparna Sarkar" userId="a26b9972758fd2b2" providerId="LiveId" clId="{F049A4CF-87D7-51A9-B7E4-ED58385DA0DA}" dt="2026-07-27T21:32:35.898" v="316"/>
          <ac:spMkLst>
            <pc:docMk/>
            <pc:sldMk cId="0" sldId="291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56" v="906"/>
          <ac:spMkLst>
            <pc:docMk/>
            <pc:sldMk cId="0" sldId="291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57" v="910"/>
        <pc:sldMkLst>
          <pc:docMk/>
          <pc:sldMk cId="0" sldId="292"/>
        </pc:sldMkLst>
        <pc:spChg chg="mod">
          <ac:chgData name="Sauparna Sarkar" userId="a26b9972758fd2b2" providerId="LiveId" clId="{F049A4CF-87D7-51A9-B7E4-ED58385DA0DA}" dt="2026-07-27T21:32:35.898" v="317"/>
          <ac:spMkLst>
            <pc:docMk/>
            <pc:sldMk cId="0" sldId="292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11:02.952" v="178"/>
          <ac:spMkLst>
            <pc:docMk/>
            <pc:sldMk cId="0" sldId="292"/>
            <ac:spMk id="3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12:55.981" v="225" actId="20577"/>
          <ac:spMkLst>
            <pc:docMk/>
            <pc:sldMk cId="0" sldId="292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57" v="910"/>
          <ac:spMkLst>
            <pc:docMk/>
            <pc:sldMk cId="0" sldId="292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58" v="914"/>
        <pc:sldMkLst>
          <pc:docMk/>
          <pc:sldMk cId="0" sldId="293"/>
        </pc:sldMkLst>
        <pc:spChg chg="mod">
          <ac:chgData name="Sauparna Sarkar" userId="a26b9972758fd2b2" providerId="LiveId" clId="{F049A4CF-87D7-51A9-B7E4-ED58385DA0DA}" dt="2026-07-27T21:32:35.899" v="318"/>
          <ac:spMkLst>
            <pc:docMk/>
            <pc:sldMk cId="0" sldId="293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13:17.011" v="226"/>
          <ac:spMkLst>
            <pc:docMk/>
            <pc:sldMk cId="0" sldId="293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58" v="914"/>
          <ac:spMkLst>
            <pc:docMk/>
            <pc:sldMk cId="0" sldId="293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60" v="918"/>
        <pc:sldMkLst>
          <pc:docMk/>
          <pc:sldMk cId="0" sldId="294"/>
        </pc:sldMkLst>
        <pc:spChg chg="mod">
          <ac:chgData name="Sauparna Sarkar" userId="a26b9972758fd2b2" providerId="LiveId" clId="{F049A4CF-87D7-51A9-B7E4-ED58385DA0DA}" dt="2026-07-27T21:32:35.900" v="319"/>
          <ac:spMkLst>
            <pc:docMk/>
            <pc:sldMk cId="0" sldId="294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13:48.159" v="237" actId="20577"/>
          <ac:spMkLst>
            <pc:docMk/>
            <pc:sldMk cId="0" sldId="294"/>
            <ac:spMk id="3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14:01.490" v="238"/>
          <ac:spMkLst>
            <pc:docMk/>
            <pc:sldMk cId="0" sldId="294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60" v="918"/>
          <ac:spMkLst>
            <pc:docMk/>
            <pc:sldMk cId="0" sldId="294"/>
            <ac:spMk id="8" creationId="{00000000-0000-0000-0000-000000000000}"/>
          </ac:spMkLst>
        </pc:spChg>
      </pc:sldChg>
      <pc:sldChg chg="modSp mod">
        <pc:chgData name="Sauparna Sarkar" userId="a26b9972758fd2b2" providerId="LiveId" clId="{F049A4CF-87D7-51A9-B7E4-ED58385DA0DA}" dt="2026-07-27T21:40:48.861" v="922"/>
        <pc:sldMkLst>
          <pc:docMk/>
          <pc:sldMk cId="0" sldId="295"/>
        </pc:sldMkLst>
        <pc:spChg chg="mod">
          <ac:chgData name="Sauparna Sarkar" userId="a26b9972758fd2b2" providerId="LiveId" clId="{F049A4CF-87D7-51A9-B7E4-ED58385DA0DA}" dt="2026-07-27T21:32:35.900" v="320"/>
          <ac:spMkLst>
            <pc:docMk/>
            <pc:sldMk cId="0" sldId="295"/>
            <ac:spMk id="2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14:54.848" v="277" actId="20577"/>
          <ac:spMkLst>
            <pc:docMk/>
            <pc:sldMk cId="0" sldId="295"/>
            <ac:spMk id="5" creationId="{00000000-0000-0000-0000-000000000000}"/>
          </ac:spMkLst>
        </pc:spChg>
        <pc:spChg chg="mod">
          <ac:chgData name="Sauparna Sarkar" userId="a26b9972758fd2b2" providerId="LiveId" clId="{F049A4CF-87D7-51A9-B7E4-ED58385DA0DA}" dt="2026-07-27T21:40:48.861" v="922"/>
          <ac:spMkLst>
            <pc:docMk/>
            <pc:sldMk cId="0" sldId="295"/>
            <ac:spMk id="8" creationId="{00000000-0000-0000-0000-000000000000}"/>
          </ac:spMkLst>
        </pc:spChg>
      </pc:sldChg>
      <pc:sldChg chg="del">
        <pc:chgData name="Sauparna Sarkar" userId="a26b9972758fd2b2" providerId="LiveId" clId="{F049A4CF-87D7-51A9-B7E4-ED58385DA0DA}" dt="2026-07-27T21:15:33.940" v="278" actId="2696"/>
        <pc:sldMkLst>
          <pc:docMk/>
          <pc:sldMk cId="0" sldId="296"/>
        </pc:sldMkLst>
      </pc:sldChg>
      <pc:sldChg chg="del">
        <pc:chgData name="Sauparna Sarkar" userId="a26b9972758fd2b2" providerId="LiveId" clId="{F049A4CF-87D7-51A9-B7E4-ED58385DA0DA}" dt="2026-07-27T21:15:52.454" v="279" actId="2696"/>
        <pc:sldMkLst>
          <pc:docMk/>
          <pc:sldMk cId="0" sldId="297"/>
        </pc:sldMkLst>
      </pc:sldChg>
      <pc:sldChg chg="del">
        <pc:chgData name="Sauparna Sarkar" userId="a26b9972758fd2b2" providerId="LiveId" clId="{F049A4CF-87D7-51A9-B7E4-ED58385DA0DA}" dt="2026-07-27T21:15:57.699" v="280" actId="2696"/>
        <pc:sldMkLst>
          <pc:docMk/>
          <pc:sldMk cId="0" sldId="298"/>
        </pc:sldMkLst>
      </pc:sldChg>
      <pc:sldChg chg="del">
        <pc:chgData name="Sauparna Sarkar" userId="a26b9972758fd2b2" providerId="LiveId" clId="{F049A4CF-87D7-51A9-B7E4-ED58385DA0DA}" dt="2026-07-27T21:16:01.234" v="281" actId="2696"/>
        <pc:sldMkLst>
          <pc:docMk/>
          <pc:sldMk cId="0" sldId="299"/>
        </pc:sldMkLst>
      </pc:sldChg>
      <pc:sldChg chg="del">
        <pc:chgData name="Sauparna Sarkar" userId="a26b9972758fd2b2" providerId="LiveId" clId="{F049A4CF-87D7-51A9-B7E4-ED58385DA0DA}" dt="2026-07-27T21:16:05.453" v="282" actId="2696"/>
        <pc:sldMkLst>
          <pc:docMk/>
          <pc:sldMk cId="0" sldId="30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4246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the slide says: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ETS (exponential smoothing) doesn't use predictors. It carries a small hidden state —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level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and each year's actual value nudges that state. Forecasting is just the same loop run forward with nothing to nudge it.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Worked example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national CO₂, </a:t>
            </a:r>
            <a:r>
              <a:rPr lang="el-G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α = 0.6, β* = 0.2, φ = 0.9.</a:t>
            </a: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Prior state, end of 2016: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level = 500 Mt, trend = +10 Mt/yr.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Expectation for 2017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= level + </a:t>
            </a:r>
            <a:r>
              <a:rPr lang="el-G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φ·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trend = 500 + 0.9(10) =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509 Mt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 observation: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actual 2017 =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505 Mt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→ error of −4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Update level: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0.6(505) + 0.4(509) =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506.6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pulled toward the actual, but only 60% of the way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Update trend: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0.2(506.6 − 500) + 0.8(0.9 × 10) = 1.32 + 7.20 =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8.52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trend cools from 10 to 8.5 because growth undershot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That's one turn of the loop, and it repeats for every year 1990 → 2018.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the forecast box: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past 2018 there are no more actuals, so steps 1–4 collapse into step 1 alone. The state freezes and only the damped trend propagates: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2019: 506.6 + 0.9(8.52) = 514.3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2020: 506.6 + (0.9 + 0.81)(8.52) = 521.2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2021: 506.6 + (0.9 + 0.81 + 0.729)(8.52) = 527.4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Increments shrink each year (+7.7, +6.9, +6.2) and the curve flattens toward a ceiling of about 583 Mt. That's what </a:t>
            </a:r>
            <a:r>
              <a:rPr lang="el-G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φ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buys you — a straight-line trend extrapolated 30 years out would be absurd; the damping makes the projection level off.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5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278892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GHG Emissions Analysis Internship Project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914400" y="342900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Presentation –Review and Q&amp;A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914400" y="3977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10-Country Baseline Analysis  ·  Weeks 1–5  ·  Jupyter Notebook Focus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4400" y="5806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TIH Summer Internship 2026  ·  Mentor Review Deck</a:t>
            </a:r>
            <a:endParaRPr lang="en-US" sz="1100" dirty="0"/>
          </a:p>
        </p:txBody>
      </p:sp>
      <p:pic>
        <p:nvPicPr>
          <p:cNvPr id="7" name="Image 1" descr="logo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1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135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5146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1 OF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88036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– Data Loading, Profiling &amp; EDA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40690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</a:t>
            </a:r>
            <a:r>
              <a:rPr lang="en-US" sz="1400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1400" dirty="0"/>
          </a:p>
        </p:txBody>
      </p:sp>
      <p:pic>
        <p:nvPicPr>
          <p:cNvPr id="5" name="Image 0" descr="logo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2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</a:t>
            </a:r>
            <a:r>
              <a:rPr lang="en-US" sz="1200" b="1" kern="0" spc="15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REVIEW  ·  ~3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Lessons – EDA &amp; Data Engineering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EDA &amp; Data Engineering curriculum doc</a:t>
            </a:r>
            <a:endParaRPr lang="en-US" sz="1100" dirty="0"/>
          </a:p>
        </p:txBody>
      </p:sp>
      <p:sp>
        <p:nvSpPr>
          <p:cNvPr id="5" name="AnswerBox"/>
          <p:cNvSpPr/>
          <p:nvPr/>
        </p:nvSpPr>
        <p:spPr>
          <a:xfrm>
            <a:off x="640080" y="2606040"/>
            <a:ext cx="10911535" cy="3474720"/>
          </a:xfrm>
          <a:prstGeom prst="roundRect">
            <a:avLst>
              <a:gd name="adj" fmla="val 2105"/>
            </a:avLst>
          </a:prstGeom>
          <a:solidFill>
            <a:srgbClr val="EAF9FB"/>
          </a:solidFill>
          <a:ln/>
        </p:spPr>
        <p:txBody>
          <a:bodyPr wrap="square" lIns="320040" tIns="320040" rIns="320040" bIns="320040" rtlCol="0" anchor="t"/>
          <a:lstStyle/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engineering is most of the work.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Profiling, cleaning, and persisting a raw dataset routinely takes more effort than the modeling that follows — treat it as the main event, not a preamble.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before touching anything.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Check shape and dtypes, then missingness — concentration matters more than the overall rate, since it tells you which entities or periods are actually usable.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with a documented reason.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Exclude aggregate/rollup rows to avoid double-counting, and always .copy() a filtered DataFrame to avoid silently mutating the original.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 the cleaned result.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Save it (bronze → silver → gold) so later notebook weeks reload a known-good starting point instead of re-deriving the same logic.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chart to the question.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Static matplotlib/pandas .plot() for a quick single-series check; Plotly Express once hovering or toggling a legend actually helps — e.g., comparing several countries at once.</a:t>
            </a:r>
            <a:endParaRPr lang="en-US" sz="1300" dirty="0"/>
          </a:p>
        </p:txBody>
      </p:sp>
      <p:pic>
        <p:nvPicPr>
          <p:cNvPr id="6" name="Image 0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3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 ·  Q&amp;A SUMMARY  ·  4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46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Summary – Data Loading, Profiling &amp; EDA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3411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questions are shown now — press → or click to reveal each answer in turn.</a:t>
            </a:r>
            <a:endParaRPr lang="en-US" sz="1100" dirty="0"/>
          </a:p>
        </p:txBody>
      </p:sp>
      <p:sp>
        <p:nvSpPr>
          <p:cNvPr id="9" name="HeaderQ"/>
          <p:cNvSpPr/>
          <p:nvPr/>
        </p:nvSpPr>
        <p:spPr>
          <a:xfrm>
            <a:off x="640080" y="1706880"/>
            <a:ext cx="3962400" cy="26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98A3"/>
                </a:solidFill>
                <a:latin typeface="Arial" pitchFamily="34" charset="0"/>
              </a:rPr>
              <a:t>QUESTION</a:t>
            </a:r>
            <a:endParaRPr lang="en-US" sz="1000" dirty="0"/>
          </a:p>
        </p:txBody>
      </p:sp>
      <p:sp>
        <p:nvSpPr>
          <p:cNvPr id="10" name="HeaderA"/>
          <p:cNvSpPr/>
          <p:nvPr/>
        </p:nvSpPr>
        <p:spPr>
          <a:xfrm>
            <a:off x="4739640" y="1706880"/>
            <a:ext cx="6811975" cy="26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98A3"/>
                </a:solidFill>
                <a:latin typeface="Arial" pitchFamily="34" charset="0"/>
              </a:rPr>
              <a:t>ANSWER  (click to reveal)</a:t>
            </a:r>
            <a:endParaRPr lang="en-US" sz="1000" dirty="0"/>
          </a:p>
        </p:txBody>
      </p:sp>
      <p:cxnSp>
        <p:nvCxnSpPr>
          <p:cNvPr id="11" name="Divider0"/>
          <p:cNvCxnSpPr/>
          <p:nvPr/>
        </p:nvCxnSpPr>
        <p:spPr>
          <a:xfrm>
            <a:off x="640080" y="1995420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2" name="Row1Question"/>
          <p:cNvSpPr/>
          <p:nvPr/>
        </p:nvSpPr>
        <p:spPr>
          <a:xfrm>
            <a:off x="640080" y="2018280"/>
            <a:ext cx="3962400" cy="1033908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cut the data off at 1990?</a:t>
            </a:r>
            <a:endParaRPr lang="en-US" sz="1100" dirty="0"/>
          </a:p>
        </p:txBody>
      </p:sp>
      <p:sp>
        <p:nvSpPr>
          <p:cNvPr id="13" name="Row1Answer"/>
          <p:cNvSpPr/>
          <p:nvPr/>
        </p:nvSpPr>
        <p:spPr>
          <a:xfrm>
            <a:off x="4739640" y="2048760"/>
            <a:ext cx="6811975" cy="972948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Pre-1990 coverage is sparse and predates major boundary changes; 1990 is also the standard policy baseline year.</a:t>
            </a:r>
            <a:endParaRPr lang="en-US" sz="1100" dirty="0"/>
          </a:p>
        </p:txBody>
      </p:sp>
      <p:cxnSp>
        <p:nvCxnSpPr>
          <p:cNvPr id="14" name="Divider1"/>
          <p:cNvCxnSpPr/>
          <p:nvPr/>
        </p:nvCxnSpPr>
        <p:spPr>
          <a:xfrm>
            <a:off x="640080" y="3052188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5" name="Row2Question"/>
          <p:cNvSpPr/>
          <p:nvPr/>
        </p:nvSpPr>
        <p:spPr>
          <a:xfrm>
            <a:off x="640080" y="3052188"/>
            <a:ext cx="3962400" cy="1033908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exclude aggregate rows (World, Asia…)?</a:t>
            </a:r>
            <a:endParaRPr lang="en-US" sz="1100" dirty="0"/>
          </a:p>
        </p:txBody>
      </p:sp>
      <p:sp>
        <p:nvSpPr>
          <p:cNvPr id="16" name="Row2Answer"/>
          <p:cNvSpPr/>
          <p:nvPr/>
        </p:nvSpPr>
        <p:spPr>
          <a:xfrm>
            <a:off x="4739640" y="3082668"/>
            <a:ext cx="6811975" cy="972948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They'd double-count emissions if summed with the countries that make them up — filter to sovereign nations first.</a:t>
            </a:r>
            <a:endParaRPr lang="en-US" sz="1100" dirty="0"/>
          </a:p>
        </p:txBody>
      </p:sp>
      <p:cxnSp>
        <p:nvCxnSpPr>
          <p:cNvPr id="17" name="Divider2"/>
          <p:cNvCxnSpPr/>
          <p:nvPr/>
        </p:nvCxnSpPr>
        <p:spPr>
          <a:xfrm>
            <a:off x="640080" y="4086096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8" name="Row3Question"/>
          <p:cNvSpPr/>
          <p:nvPr/>
        </p:nvSpPr>
        <p:spPr>
          <a:xfrm>
            <a:off x="640080" y="4086096"/>
            <a:ext cx="3962400" cy="1033908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coverage threshold should we use?</a:t>
            </a:r>
            <a:endParaRPr lang="en-US" sz="1100" dirty="0"/>
          </a:p>
        </p:txBody>
      </p:sp>
      <p:sp>
        <p:nvSpPr>
          <p:cNvPr id="19" name="Row3Answer"/>
          <p:cNvSpPr/>
          <p:nvPr/>
        </p:nvSpPr>
        <p:spPr>
          <a:xfrm>
            <a:off x="4739640" y="4116576"/>
            <a:ext cx="6811975" cy="972948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 each key column to individually clear a high non-null threshold, and document why that number was chosen.</a:t>
            </a:r>
            <a:endParaRPr lang="en-US" sz="1100" dirty="0"/>
          </a:p>
        </p:txBody>
      </p:sp>
      <p:cxnSp>
        <p:nvCxnSpPr>
          <p:cNvPr id="20" name="Divider3"/>
          <p:cNvCxnSpPr/>
          <p:nvPr/>
        </p:nvCxnSpPr>
        <p:spPr>
          <a:xfrm>
            <a:off x="640080" y="5120004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21" name="Row4Question"/>
          <p:cNvSpPr/>
          <p:nvPr/>
        </p:nvSpPr>
        <p:spPr>
          <a:xfrm>
            <a:off x="640080" y="5120004"/>
            <a:ext cx="3962400" cy="1033908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data pass from one week's notebook to the next?</a:t>
            </a:r>
            <a:endParaRPr lang="en-US" sz="1100" dirty="0"/>
          </a:p>
        </p:txBody>
      </p:sp>
      <p:sp>
        <p:nvSpPr>
          <p:cNvPr id="22" name="Row4Answer"/>
          <p:cNvSpPr/>
          <p:nvPr/>
        </p:nvSpPr>
        <p:spPr>
          <a:xfrm>
            <a:off x="4739640" y="5150484"/>
            <a:ext cx="6811975" cy="972948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week runs in its own kernel, so the filtered dataset is persisted to disk and reloaded, not recomputed.</a:t>
            </a:r>
            <a:endParaRPr lang="en-US" sz="1100" dirty="0"/>
          </a:p>
        </p:txBody>
      </p:sp>
      <p:pic>
        <p:nvPicPr>
          <p:cNvPr id="6" name="Image 0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4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9" grpId="0" animBg="1"/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35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5146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2 OF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88036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– Feature Engineering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40690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</a:t>
            </a:r>
            <a:r>
              <a:rPr lang="en-US" sz="1400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1400" dirty="0"/>
          </a:p>
        </p:txBody>
      </p:sp>
      <p:pic>
        <p:nvPicPr>
          <p:cNvPr id="5" name="Image 0" descr="logo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5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</a:t>
            </a:r>
            <a:r>
              <a:rPr lang="en-US" sz="1200" b="1" kern="0" spc="15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REVIEW  ·  ~3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Lessons – Feature Engineering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Feature Engineering curriculum doc</a:t>
            </a:r>
            <a:endParaRPr lang="en-US" sz="1100" dirty="0"/>
          </a:p>
        </p:txBody>
      </p:sp>
      <p:sp>
        <p:nvSpPr>
          <p:cNvPr id="5" name="AnswerBox"/>
          <p:cNvSpPr/>
          <p:nvPr/>
        </p:nvSpPr>
        <p:spPr>
          <a:xfrm>
            <a:off x="640080" y="2606040"/>
            <a:ext cx="10911535" cy="3474720"/>
          </a:xfrm>
          <a:prstGeom prst="roundRect">
            <a:avLst>
              <a:gd name="adj" fmla="val 2105"/>
            </a:avLst>
          </a:prstGeom>
          <a:solidFill>
            <a:srgbClr val="EAF9FB"/>
          </a:solidFill>
          <a:ln/>
        </p:spPr>
        <p:txBody>
          <a:bodyPr wrap="square" lIns="320040" tIns="320040" rIns="320040" bIns="320040" rtlCol="0" anchor="t"/>
          <a:lstStyle/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Features, not model choice, usually decide the outcome.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model can only learn from the columns it's given — feature engineering is often what separates a mediocre model from a good one.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feature types cover most panel/time-series work: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index, rolling window stats, lag features, growth/rate-of-change, and ratio/intensity.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 features exploit autocorrelation.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This period's value predicts the next because most real processes have inertia — an assumption that breaks during structural shocks the model has never seen.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NaNs are correct, not a bug.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first rows of each country's lag/rolling features are NaN by construction — never fill or impute them.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encoders and scalers once, on training data only.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LabelEncoder refit on a subset can silently reassign a category's code and corrupt what the model learned.</a:t>
            </a:r>
            <a:endParaRPr lang="en-US" sz="1300" dirty="0"/>
          </a:p>
        </p:txBody>
      </p:sp>
      <p:pic>
        <p:nvPicPr>
          <p:cNvPr id="6" name="Image 0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6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 ·  Q&amp;A SUMMARY  ·  5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46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Summary – Feature Engineering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3411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questions are shown now — press → or click to reveal each answer in turn.</a:t>
            </a:r>
            <a:endParaRPr lang="en-US" sz="1100" dirty="0"/>
          </a:p>
        </p:txBody>
      </p:sp>
      <p:sp>
        <p:nvSpPr>
          <p:cNvPr id="9" name="HeaderQ"/>
          <p:cNvSpPr/>
          <p:nvPr/>
        </p:nvSpPr>
        <p:spPr>
          <a:xfrm>
            <a:off x="640080" y="1706880"/>
            <a:ext cx="3962400" cy="26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98A3"/>
                </a:solidFill>
                <a:latin typeface="Arial" pitchFamily="34" charset="0"/>
              </a:rPr>
              <a:t>QUESTION</a:t>
            </a:r>
            <a:endParaRPr lang="en-US" sz="1000" dirty="0"/>
          </a:p>
        </p:txBody>
      </p:sp>
      <p:sp>
        <p:nvSpPr>
          <p:cNvPr id="10" name="HeaderA"/>
          <p:cNvSpPr/>
          <p:nvPr/>
        </p:nvSpPr>
        <p:spPr>
          <a:xfrm>
            <a:off x="4739640" y="1706880"/>
            <a:ext cx="6811975" cy="26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98A3"/>
                </a:solidFill>
                <a:latin typeface="Arial" pitchFamily="34" charset="0"/>
              </a:rPr>
              <a:t>ANSWER  (click to reveal)</a:t>
            </a:r>
            <a:endParaRPr lang="en-US" sz="1000" dirty="0"/>
          </a:p>
        </p:txBody>
      </p:sp>
      <p:cxnSp>
        <p:nvCxnSpPr>
          <p:cNvPr id="11" name="Divider0"/>
          <p:cNvCxnSpPr/>
          <p:nvPr/>
        </p:nvCxnSpPr>
        <p:spPr>
          <a:xfrm>
            <a:off x="640080" y="1995420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2" name="Row1Question"/>
          <p:cNvSpPr/>
          <p:nvPr/>
        </p:nvSpPr>
        <p:spPr>
          <a:xfrm>
            <a:off x="640080" y="2018280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lag feature, and why use it?</a:t>
            </a:r>
            <a:endParaRPr lang="en-US" sz="1100" dirty="0"/>
          </a:p>
        </p:txBody>
      </p:sp>
      <p:sp>
        <p:nvSpPr>
          <p:cNvPr id="13" name="Row1Answer"/>
          <p:cNvSpPr/>
          <p:nvPr/>
        </p:nvSpPr>
        <p:spPr>
          <a:xfrm>
            <a:off x="4739640" y="2048760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past value (e.g. last year's CO₂) used as a model input — emissions are highly autocorrelated year-to-year.</a:t>
            </a:r>
            <a:endParaRPr lang="en-US" sz="1100" dirty="0"/>
          </a:p>
        </p:txBody>
      </p:sp>
      <p:cxnSp>
        <p:nvCxnSpPr>
          <p:cNvPr id="14" name="Divider1"/>
          <p:cNvCxnSpPr/>
          <p:nvPr/>
        </p:nvCxnSpPr>
        <p:spPr>
          <a:xfrm>
            <a:off x="640080" y="2845406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5" name="Row2Question"/>
          <p:cNvSpPr/>
          <p:nvPr/>
        </p:nvSpPr>
        <p:spPr>
          <a:xfrm>
            <a:off x="640080" y="2845406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ghg_intensity measure, and why * 1e9?</a:t>
            </a:r>
            <a:endParaRPr lang="en-US" sz="1100" dirty="0"/>
          </a:p>
        </p:txBody>
      </p:sp>
      <p:sp>
        <p:nvSpPr>
          <p:cNvPr id="16" name="Row2Answer"/>
          <p:cNvSpPr/>
          <p:nvPr/>
        </p:nvSpPr>
        <p:spPr>
          <a:xfrm>
            <a:off x="4739640" y="2875886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total_ghg / gdp, scaled by 1e9 to convert an otherwise-unreadable ~1e-9 ratio into kg CO₂e per dollar of GDP.</a:t>
            </a:r>
            <a:endParaRPr lang="en-US" sz="1100" dirty="0"/>
          </a:p>
        </p:txBody>
      </p:sp>
      <p:cxnSp>
        <p:nvCxnSpPr>
          <p:cNvPr id="17" name="Divider2"/>
          <p:cNvCxnSpPr/>
          <p:nvPr/>
        </p:nvCxnSpPr>
        <p:spPr>
          <a:xfrm>
            <a:off x="640080" y="3672532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8" name="Row3Question"/>
          <p:cNvSpPr/>
          <p:nvPr/>
        </p:nvSpPr>
        <p:spPr>
          <a:xfrm>
            <a:off x="640080" y="3672532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ghg_intensity left out of the Week 3 features?</a:t>
            </a:r>
            <a:endParaRPr lang="en-US" sz="1100" dirty="0"/>
          </a:p>
        </p:txBody>
      </p:sp>
      <p:sp>
        <p:nvSpPr>
          <p:cNvPr id="19" name="Row3Answer"/>
          <p:cNvSpPr/>
          <p:nvPr/>
        </p:nvSpPr>
        <p:spPr>
          <a:xfrm>
            <a:off x="4739640" y="3703012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 is ~70% missing across the 10 countries, so including it would force dropna to discard usable training rows.</a:t>
            </a:r>
            <a:endParaRPr lang="en-US" sz="1100" dirty="0"/>
          </a:p>
        </p:txBody>
      </p:sp>
      <p:cxnSp>
        <p:nvCxnSpPr>
          <p:cNvPr id="20" name="Divider3"/>
          <p:cNvCxnSpPr/>
          <p:nvPr/>
        </p:nvCxnSpPr>
        <p:spPr>
          <a:xfrm>
            <a:off x="640080" y="4499658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21" name="Row4Question"/>
          <p:cNvSpPr/>
          <p:nvPr/>
        </p:nvSpPr>
        <p:spPr>
          <a:xfrm>
            <a:off x="640080" y="4499658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co2_yoy_change vs co2_yoy_pct_change — when to use which?</a:t>
            </a:r>
            <a:endParaRPr lang="en-US" sz="1100" dirty="0"/>
          </a:p>
        </p:txBody>
      </p:sp>
      <p:sp>
        <p:nvSpPr>
          <p:cNvPr id="22" name="Row4Answer"/>
          <p:cNvSpPr/>
          <p:nvPr/>
        </p:nvSpPr>
        <p:spPr>
          <a:xfrm>
            <a:off x="4739640" y="4530138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change for total climate impact; percentage change to fairly rank growth rates across countries of different scale.</a:t>
            </a:r>
            <a:endParaRPr lang="en-US" sz="1100" dirty="0"/>
          </a:p>
        </p:txBody>
      </p:sp>
      <p:cxnSp>
        <p:nvCxnSpPr>
          <p:cNvPr id="23" name="Divider4"/>
          <p:cNvCxnSpPr/>
          <p:nvPr/>
        </p:nvCxnSpPr>
        <p:spPr>
          <a:xfrm>
            <a:off x="640080" y="5326784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24" name="Row5Question"/>
          <p:cNvSpPr/>
          <p:nvPr/>
        </p:nvSpPr>
        <p:spPr>
          <a:xfrm>
            <a:off x="640080" y="5326784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add a 5-year rolling mean on top of lag1–3?</a:t>
            </a:r>
            <a:endParaRPr lang="en-US" sz="1100" dirty="0"/>
          </a:p>
        </p:txBody>
      </p:sp>
      <p:sp>
        <p:nvSpPr>
          <p:cNvPr id="25" name="Row5Answer"/>
          <p:cNvSpPr/>
          <p:nvPr/>
        </p:nvSpPr>
        <p:spPr>
          <a:xfrm>
            <a:off x="4739640" y="5357264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Lags capture recent points; the rolling mean captures the smoothed recent trend level — complementary information.</a:t>
            </a:r>
            <a:endParaRPr lang="en-US" sz="1100" dirty="0"/>
          </a:p>
        </p:txBody>
      </p:sp>
      <p:pic>
        <p:nvPicPr>
          <p:cNvPr id="6" name="Image 0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7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9" grpId="0" animBg="1"/>
      <p:bldP spid="22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35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5146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3 OF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88036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– Baseline ML Models: Regression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40690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</a:t>
            </a:r>
            <a:r>
              <a:rPr lang="en-US" sz="1400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1400" dirty="0"/>
          </a:p>
        </p:txBody>
      </p:sp>
      <p:pic>
        <p:nvPicPr>
          <p:cNvPr id="5" name="Image 0" descr="logo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8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</a:t>
            </a:r>
            <a:r>
              <a:rPr lang="en-US" sz="1200" b="1" kern="0" spc="15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REVIEW  ·  ~3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Lessons – Regression Models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Regression Models curriculum doc</a:t>
            </a:r>
            <a:endParaRPr lang="en-US" sz="1100" dirty="0"/>
          </a:p>
        </p:txBody>
      </p:sp>
      <p:sp>
        <p:nvSpPr>
          <p:cNvPr id="5" name="AnswerBox"/>
          <p:cNvSpPr/>
          <p:nvPr/>
        </p:nvSpPr>
        <p:spPr>
          <a:xfrm>
            <a:off x="640080" y="2606040"/>
            <a:ext cx="10911535" cy="3474720"/>
          </a:xfrm>
          <a:prstGeom prst="roundRect">
            <a:avLst>
              <a:gd name="adj" fmla="val 2105"/>
            </a:avLst>
          </a:prstGeom>
          <a:solidFill>
            <a:srgbClr val="EAF9FB"/>
          </a:solidFill>
          <a:ln/>
        </p:spPr>
        <p:txBody>
          <a:bodyPr wrap="square" lIns="320040" tIns="320040" rIns="320040" bIns="320040" rtlCol="0" anchor="t"/>
          <a:lstStyle/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naive baseline is a floor, not a competitor.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Any real model that can't beat “repeat last year's value” isn't adding value — always report it alongside every other model.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complexity must match data availability.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This is the bias-variance trade-off in practice — a 100-tree Random Forest on 25 rows/country memorizes noise and can lose to the baseline.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Pooling is the fix when segments are individually too small.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Combine countries into one training set and add a categorical country feature so the model can still tell them apart.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Time-series data needs a chronological split, never a random shuffle.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TimeSeriesSplit for cross-validation — a shuffled split leaks future information into training.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 extrapolates without limit.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can predict past zero for a quantity that can't go negative — a real risk once predictions feed back into a recursive multi-step forecast.</a:t>
            </a:r>
            <a:endParaRPr lang="en-US" sz="1300" dirty="0"/>
          </a:p>
        </p:txBody>
      </p:sp>
      <p:pic>
        <p:nvPicPr>
          <p:cNvPr id="6" name="Image 0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9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  ·  Q&amp;A SUMMARY  ·  7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46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Summary – Regression Models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3411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questions are shown now — press → or click to reveal each answer in turn.</a:t>
            </a:r>
            <a:endParaRPr lang="en-US" sz="1100" dirty="0"/>
          </a:p>
        </p:txBody>
      </p:sp>
      <p:sp>
        <p:nvSpPr>
          <p:cNvPr id="9" name="HeaderQ"/>
          <p:cNvSpPr/>
          <p:nvPr/>
        </p:nvSpPr>
        <p:spPr>
          <a:xfrm>
            <a:off x="640080" y="1706880"/>
            <a:ext cx="3962400" cy="26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98A3"/>
                </a:solidFill>
                <a:latin typeface="Arial" pitchFamily="34" charset="0"/>
              </a:rPr>
              <a:t>QUESTION</a:t>
            </a:r>
            <a:endParaRPr lang="en-US" sz="1000" dirty="0"/>
          </a:p>
        </p:txBody>
      </p:sp>
      <p:sp>
        <p:nvSpPr>
          <p:cNvPr id="10" name="HeaderA"/>
          <p:cNvSpPr/>
          <p:nvPr/>
        </p:nvSpPr>
        <p:spPr>
          <a:xfrm>
            <a:off x="4739640" y="1706880"/>
            <a:ext cx="6811975" cy="26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98A3"/>
                </a:solidFill>
                <a:latin typeface="Arial" pitchFamily="34" charset="0"/>
              </a:rPr>
              <a:t>ANSWER  (click to reveal)</a:t>
            </a:r>
            <a:endParaRPr lang="en-US" sz="1000" dirty="0"/>
          </a:p>
        </p:txBody>
      </p:sp>
      <p:cxnSp>
        <p:nvCxnSpPr>
          <p:cNvPr id="11" name="Divider0"/>
          <p:cNvCxnSpPr/>
          <p:nvPr/>
        </p:nvCxnSpPr>
        <p:spPr>
          <a:xfrm>
            <a:off x="640080" y="1995420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2" name="Row1Question"/>
          <p:cNvSpPr/>
          <p:nvPr/>
        </p:nvSpPr>
        <p:spPr>
          <a:xfrm>
            <a:off x="640080" y="2018280"/>
            <a:ext cx="3962400" cy="590804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split train/test by time, not randomly?</a:t>
            </a:r>
            <a:endParaRPr lang="en-US" sz="1100" dirty="0"/>
          </a:p>
        </p:txBody>
      </p:sp>
      <p:sp>
        <p:nvSpPr>
          <p:cNvPr id="13" name="Row1Answer"/>
          <p:cNvSpPr/>
          <p:nvPr/>
        </p:nvSpPr>
        <p:spPr>
          <a:xfrm>
            <a:off x="4739640" y="2048760"/>
            <a:ext cx="6811975" cy="529844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random split would leak future years into training — evaluation must mimic real deployment, past-only.</a:t>
            </a:r>
            <a:endParaRPr lang="en-US" sz="1100" dirty="0"/>
          </a:p>
        </p:txBody>
      </p:sp>
      <p:cxnSp>
        <p:nvCxnSpPr>
          <p:cNvPr id="14" name="Divider1"/>
          <p:cNvCxnSpPr/>
          <p:nvPr/>
        </p:nvCxnSpPr>
        <p:spPr>
          <a:xfrm>
            <a:off x="640080" y="2609084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5" name="Row2Question"/>
          <p:cNvSpPr/>
          <p:nvPr/>
        </p:nvSpPr>
        <p:spPr>
          <a:xfrm>
            <a:off x="640080" y="2609084"/>
            <a:ext cx="3962400" cy="590804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test on 2019–2023 specifically?</a:t>
            </a:r>
            <a:endParaRPr lang="en-US" sz="1100" dirty="0"/>
          </a:p>
        </p:txBody>
      </p:sp>
      <p:sp>
        <p:nvSpPr>
          <p:cNvPr id="16" name="Row2Answer"/>
          <p:cNvSpPr/>
          <p:nvPr/>
        </p:nvSpPr>
        <p:spPr>
          <a:xfrm>
            <a:off x="4739640" y="2639564"/>
            <a:ext cx="6811975" cy="529844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includes the 2020 COVID dip and recovery — a genuine stress test, not just a window of “normal” years.</a:t>
            </a:r>
            <a:endParaRPr lang="en-US" sz="1100" dirty="0"/>
          </a:p>
        </p:txBody>
      </p:sp>
      <p:cxnSp>
        <p:nvCxnSpPr>
          <p:cNvPr id="17" name="Divider2"/>
          <p:cNvCxnSpPr/>
          <p:nvPr/>
        </p:nvCxnSpPr>
        <p:spPr>
          <a:xfrm>
            <a:off x="640080" y="3199888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8" name="Row3Question"/>
          <p:cNvSpPr/>
          <p:nvPr/>
        </p:nvSpPr>
        <p:spPr>
          <a:xfrm>
            <a:off x="640080" y="3199888"/>
            <a:ext cx="3962400" cy="590804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bother with a naive baseline model?</a:t>
            </a:r>
            <a:endParaRPr lang="en-US" sz="1100" dirty="0"/>
          </a:p>
        </p:txBody>
      </p:sp>
      <p:sp>
        <p:nvSpPr>
          <p:cNvPr id="19" name="Row3Answer"/>
          <p:cNvSpPr/>
          <p:nvPr/>
        </p:nvSpPr>
        <p:spPr>
          <a:xfrm>
            <a:off x="4739640" y="3230368"/>
            <a:ext cx="6811975" cy="529844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 floor — any real model that can't beat “repeat last year's value” isn't adding value.</a:t>
            </a:r>
            <a:endParaRPr lang="en-US" sz="1100" dirty="0"/>
          </a:p>
        </p:txBody>
      </p:sp>
      <p:cxnSp>
        <p:nvCxnSpPr>
          <p:cNvPr id="20" name="Divider3"/>
          <p:cNvCxnSpPr/>
          <p:nvPr/>
        </p:nvCxnSpPr>
        <p:spPr>
          <a:xfrm>
            <a:off x="640080" y="3790692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21" name="Row4Question"/>
          <p:cNvSpPr/>
          <p:nvPr/>
        </p:nvSpPr>
        <p:spPr>
          <a:xfrm>
            <a:off x="640080" y="3790692"/>
            <a:ext cx="3962400" cy="590804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model won the 10-country comparison?</a:t>
            </a:r>
            <a:endParaRPr lang="en-US" sz="1100" dirty="0"/>
          </a:p>
        </p:txBody>
      </p:sp>
      <p:sp>
        <p:nvSpPr>
          <p:cNvPr id="22" name="Row4Answer"/>
          <p:cNvSpPr/>
          <p:nvPr/>
        </p:nvSpPr>
        <p:spPr>
          <a:xfrm>
            <a:off x="4739640" y="3821172"/>
            <a:ext cx="6811975" cy="529844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single model wins across all 10 — each country's trend differs; the exercise is about methodology, not a leaderboard.</a:t>
            </a:r>
            <a:endParaRPr lang="en-US" sz="1100" dirty="0"/>
          </a:p>
        </p:txBody>
      </p:sp>
      <p:cxnSp>
        <p:nvCxnSpPr>
          <p:cNvPr id="23" name="Divider4"/>
          <p:cNvCxnSpPr/>
          <p:nvPr/>
        </p:nvCxnSpPr>
        <p:spPr>
          <a:xfrm>
            <a:off x="640080" y="4381496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24" name="Row5Question"/>
          <p:cNvSpPr/>
          <p:nvPr/>
        </p:nvSpPr>
        <p:spPr>
          <a:xfrm>
            <a:off x="640080" y="4381496"/>
            <a:ext cx="3962400" cy="590804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Linear Regression per-country but Random Forest pooled?</a:t>
            </a:r>
            <a:endParaRPr lang="en-US" sz="1100" dirty="0"/>
          </a:p>
        </p:txBody>
      </p:sp>
      <p:sp>
        <p:nvSpPr>
          <p:cNvPr id="25" name="Row5Answer"/>
          <p:cNvSpPr/>
          <p:nvPr/>
        </p:nvSpPr>
        <p:spPr>
          <a:xfrm>
            <a:off x="4739640" y="4411976"/>
            <a:ext cx="6811975" cy="529844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~25 rows/country is enough for a 6-feature linear fit but nowhere near enough for a 100-tree ensemble.</a:t>
            </a:r>
            <a:endParaRPr lang="en-US" sz="1100" dirty="0"/>
          </a:p>
        </p:txBody>
      </p:sp>
      <p:cxnSp>
        <p:nvCxnSpPr>
          <p:cNvPr id="26" name="Divider5"/>
          <p:cNvCxnSpPr/>
          <p:nvPr/>
        </p:nvCxnSpPr>
        <p:spPr>
          <a:xfrm>
            <a:off x="640080" y="4972300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27" name="Row6Question"/>
          <p:cNvSpPr/>
          <p:nvPr/>
        </p:nvSpPr>
        <p:spPr>
          <a:xfrm>
            <a:off x="640080" y="4972300"/>
            <a:ext cx="3962400" cy="590804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training RF per country on ~25 rows?</a:t>
            </a:r>
            <a:endParaRPr lang="en-US" sz="1100" dirty="0"/>
          </a:p>
        </p:txBody>
      </p:sp>
      <p:sp>
        <p:nvSpPr>
          <p:cNvPr id="28" name="Row6Answer"/>
          <p:cNvSpPr/>
          <p:nvPr/>
        </p:nvSpPr>
        <p:spPr>
          <a:xfrm>
            <a:off x="4739640" y="5002780"/>
            <a:ext cx="6811975" cy="529844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underperforms the naive baseline for most countries — memorizes noise instead of a generalizable pattern.</a:t>
            </a:r>
            <a:endParaRPr lang="en-US" sz="1100" dirty="0"/>
          </a:p>
        </p:txBody>
      </p:sp>
      <p:cxnSp>
        <p:nvCxnSpPr>
          <p:cNvPr id="29" name="Divider6"/>
          <p:cNvCxnSpPr/>
          <p:nvPr/>
        </p:nvCxnSpPr>
        <p:spPr>
          <a:xfrm>
            <a:off x="640080" y="5563104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30" name="Row7Question"/>
          <p:cNvSpPr/>
          <p:nvPr/>
        </p:nvSpPr>
        <p:spPr>
          <a:xfrm>
            <a:off x="640080" y="5563104"/>
            <a:ext cx="3962400" cy="590804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pooling RF across all 10 countries fix that?</a:t>
            </a:r>
            <a:endParaRPr lang="en-US" sz="1100" dirty="0"/>
          </a:p>
        </p:txBody>
      </p:sp>
      <p:sp>
        <p:nvSpPr>
          <p:cNvPr id="31" name="Row7Answer"/>
          <p:cNvSpPr/>
          <p:nvPr/>
        </p:nvSpPr>
        <p:spPr>
          <a:xfrm>
            <a:off x="4739640" y="5593584"/>
            <a:ext cx="6811975" cy="529844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partly — it still trails on several countries, since mixing very different trajectories costs country-specific structure.</a:t>
            </a:r>
            <a:endParaRPr lang="en-US" sz="1100" dirty="0"/>
          </a:p>
        </p:txBody>
      </p:sp>
      <p:pic>
        <p:nvPicPr>
          <p:cNvPr id="6" name="Image 0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10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9" grpId="0" animBg="1"/>
      <p:bldP spid="22" grpId="0" animBg="1"/>
      <p:bldP spid="25" grpId="0" animBg="1"/>
      <p:bldP spid="28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135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5146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4 OF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88036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– ETS(A,Ad,N) Time-Series Forecasting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40690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Questions</a:t>
            </a:r>
            <a:endParaRPr lang="en-US" sz="1400" dirty="0"/>
          </a:p>
        </p:txBody>
      </p:sp>
      <p:pic>
        <p:nvPicPr>
          <p:cNvPr id="5" name="Image 0" descr="logo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11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</a:t>
            </a:r>
            <a:r>
              <a:rPr lang="en-US" sz="1200" b="1" kern="0" spc="15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REVIEW  ·  ~4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Lessons – ETS Time-Series Forecasting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Time-Series Forecasting curriculum doc</a:t>
            </a:r>
            <a:endParaRPr lang="en-US" sz="1100" dirty="0"/>
          </a:p>
        </p:txBody>
      </p:sp>
      <p:sp>
        <p:nvSpPr>
          <p:cNvPr id="5" name="AnswerBox"/>
          <p:cNvSpPr/>
          <p:nvPr/>
        </p:nvSpPr>
        <p:spPr>
          <a:xfrm>
            <a:off x="640080" y="2606040"/>
            <a:ext cx="10911535" cy="3474720"/>
          </a:xfrm>
          <a:prstGeom prst="roundRect">
            <a:avLst>
              <a:gd name="adj" fmla="val 2105"/>
            </a:avLst>
          </a:prstGeom>
          <a:solidFill>
            <a:srgbClr val="EAF9FB"/>
          </a:solidFill>
          <a:ln/>
        </p:spPr>
        <p:txBody>
          <a:bodyPr wrap="square" lIns="320040" tIns="320040" rIns="320040" bIns="320040" rtlCol="0" anchor="t"/>
          <a:lstStyle/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ETS is a state-space model, not a regression.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forecasts a series from its own history alone — no feature matrix, no engineered columns (diagram next).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damped trend (Ad) is what makes it safe at a 20-year horizon.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φ geometrically decays trend growth toward flat, instead of extrapolating the last observed rate forever.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α, β*, and φ are each worth reading at a glance.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Smoothing level, smoothing trend, and damping — sanity-check them against domain intuition before trusting a forecast.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intervals here come from simulation, and they widen with horizon.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Treat a 2030 forecast with far more confidence than a 2040 one.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Forest, not Linear Regression, is the safer choice for recursive forecasting.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Its predictions are bounded by the training range; a linear model's are not.</a:t>
            </a:r>
            <a:endParaRPr lang="en-US" sz="1300" dirty="0"/>
          </a:p>
        </p:txBody>
      </p:sp>
      <p:pic>
        <p:nvPicPr>
          <p:cNvPr id="6" name="Image 0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12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DIAGRAM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ETS Updates Its Hidden State, One Year at a Time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514954" y="146304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EAF9FB"/>
          </a:solidFill>
          <a:ln w="12700">
            <a:solidFill>
              <a:srgbClr val="00B8D9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Observation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yₜ  (actual CO₂ this year)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2286000" cy="1097280"/>
          </a:xfrm>
          <a:prstGeom prst="roundRect">
            <a:avLst>
              <a:gd name="adj" fmla="val 6667"/>
            </a:avLst>
          </a:prstGeom>
          <a:solidFill>
            <a:srgbClr val="EAF9FB"/>
          </a:solidFill>
          <a:ln w="12700">
            <a:solidFill>
              <a:srgbClr val="00B8D9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5B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t − 1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Level, Trend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514954" y="2606040"/>
            <a:ext cx="2286000" cy="1097280"/>
          </a:xfrm>
          <a:prstGeom prst="roundRect">
            <a:avLst>
              <a:gd name="adj" fmla="val 6667"/>
            </a:avLst>
          </a:prstGeom>
          <a:solidFill>
            <a:srgbClr val="213541"/>
          </a:solidFill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Step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α, β*  smoothing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φ  damping on trend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89827" y="2606040"/>
            <a:ext cx="2286000" cy="1097280"/>
          </a:xfrm>
          <a:prstGeom prst="roundRect">
            <a:avLst>
              <a:gd name="adj" fmla="val 6667"/>
            </a:avLst>
          </a:prstGeom>
          <a:solidFill>
            <a:srgbClr val="EAF9FB"/>
          </a:solidFill>
          <a:ln w="12700">
            <a:solidFill>
              <a:srgbClr val="00B8D9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State</a:t>
            </a:r>
            <a:endParaRPr lang="en-US" sz="14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5B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t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Level, Trend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264701" y="2606040"/>
            <a:ext cx="2286000" cy="1097280"/>
          </a:xfrm>
          <a:prstGeom prst="roundRect">
            <a:avLst>
              <a:gd name="adj" fmla="val 6667"/>
            </a:avLst>
          </a:prstGeom>
          <a:solidFill>
            <a:srgbClr val="EAF9FB"/>
          </a:solidFill>
          <a:ln w="12700">
            <a:solidFill>
              <a:srgbClr val="00B8D9"/>
            </a:solidFill>
          </a:ln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</a:t>
            </a:r>
            <a:endParaRPr lang="en-US" sz="140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data — state evolves via φ-damped trend only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926080" y="3154680"/>
            <a:ext cx="588874" cy="0"/>
          </a:xfrm>
          <a:prstGeom prst="line">
            <a:avLst/>
          </a:prstGeom>
          <a:noFill/>
          <a:ln w="22225">
            <a:solidFill>
              <a:srgbClr val="21354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57954" y="2240280"/>
            <a:ext cx="0" cy="365760"/>
          </a:xfrm>
          <a:prstGeom prst="line">
            <a:avLst/>
          </a:prstGeom>
          <a:noFill/>
          <a:ln w="22225">
            <a:solidFill>
              <a:srgbClr val="21354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800954" y="3154680"/>
            <a:ext cx="588874" cy="0"/>
          </a:xfrm>
          <a:prstGeom prst="line">
            <a:avLst/>
          </a:prstGeom>
          <a:noFill/>
          <a:ln w="22225">
            <a:solidFill>
              <a:srgbClr val="21354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675827" y="3154680"/>
            <a:ext cx="588874" cy="0"/>
          </a:xfrm>
          <a:prstGeom prst="line">
            <a:avLst/>
          </a:prstGeom>
          <a:noFill/>
          <a:ln w="22225">
            <a:solidFill>
              <a:srgbClr val="21354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532827" y="3703320"/>
            <a:ext cx="0" cy="502920"/>
          </a:xfrm>
          <a:prstGeom prst="line">
            <a:avLst/>
          </a:prstGeom>
          <a:noFill/>
          <a:ln w="19050">
            <a:solidFill>
              <a:srgbClr val="5B6B7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783080" y="4206240"/>
            <a:ext cx="5749747" cy="0"/>
          </a:xfrm>
          <a:prstGeom prst="line">
            <a:avLst/>
          </a:prstGeom>
          <a:noFill/>
          <a:ln w="19050">
            <a:solidFill>
              <a:srgbClr val="5B6B77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 flipV="1">
            <a:off x="1783080" y="3703320"/>
            <a:ext cx="0" cy="502920"/>
          </a:xfrm>
          <a:prstGeom prst="line">
            <a:avLst/>
          </a:prstGeom>
          <a:noFill/>
          <a:ln w="19050">
            <a:solidFill>
              <a:srgbClr val="5B6B77"/>
            </a:solidFill>
            <a:prstDash val="dash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80357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B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repeats every year, 1990 → 2018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0080" y="48006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B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no feature matrix here — only the series itself feeds the loop. Each year's actual value nudges the level and trend; forecasting just keeps running the loop forward without new data to correct it.</a:t>
            </a:r>
            <a:endParaRPr lang="en-US" sz="1250" dirty="0"/>
          </a:p>
        </p:txBody>
      </p:sp>
      <p:pic>
        <p:nvPicPr>
          <p:cNvPr id="18" name="Image 0" descr="logo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31EE8074-4A70-657A-20A3-8AFFABAEEB5A}"/>
              </a:ext>
            </a:extLst>
          </p:cNvPr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13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  ·  Q&amp;A SUMMARY  ·  5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46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Summary – ETS Time-Series Forecasting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3411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questions are shown now — press → or click to reveal each answer in turn.</a:t>
            </a:r>
            <a:endParaRPr lang="en-US" sz="1100" dirty="0"/>
          </a:p>
        </p:txBody>
      </p:sp>
      <p:sp>
        <p:nvSpPr>
          <p:cNvPr id="9" name="HeaderQ"/>
          <p:cNvSpPr/>
          <p:nvPr/>
        </p:nvSpPr>
        <p:spPr>
          <a:xfrm>
            <a:off x="640080" y="1706880"/>
            <a:ext cx="3962400" cy="26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98A3"/>
                </a:solidFill>
                <a:latin typeface="Arial" pitchFamily="34" charset="0"/>
              </a:rPr>
              <a:t>QUESTION</a:t>
            </a:r>
            <a:endParaRPr lang="en-US" sz="1000" dirty="0"/>
          </a:p>
        </p:txBody>
      </p:sp>
      <p:sp>
        <p:nvSpPr>
          <p:cNvPr id="10" name="HeaderA"/>
          <p:cNvSpPr/>
          <p:nvPr/>
        </p:nvSpPr>
        <p:spPr>
          <a:xfrm>
            <a:off x="4739640" y="1706880"/>
            <a:ext cx="6811975" cy="26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98A3"/>
                </a:solidFill>
                <a:latin typeface="Arial" pitchFamily="34" charset="0"/>
              </a:rPr>
              <a:t>ANSWER  (click to reveal)</a:t>
            </a:r>
            <a:endParaRPr lang="en-US" sz="1000" dirty="0"/>
          </a:p>
        </p:txBody>
      </p:sp>
      <p:cxnSp>
        <p:nvCxnSpPr>
          <p:cNvPr id="11" name="Divider0"/>
          <p:cNvCxnSpPr/>
          <p:nvPr/>
        </p:nvCxnSpPr>
        <p:spPr>
          <a:xfrm>
            <a:off x="640080" y="1995420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2" name="Row1Question"/>
          <p:cNvSpPr/>
          <p:nvPr/>
        </p:nvSpPr>
        <p:spPr>
          <a:xfrm>
            <a:off x="640080" y="2018280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ETS(A,Ad,N) stand for?</a:t>
            </a:r>
            <a:endParaRPr lang="en-US" sz="1100" dirty="0"/>
          </a:p>
        </p:txBody>
      </p:sp>
      <p:sp>
        <p:nvSpPr>
          <p:cNvPr id="13" name="Row1Answer"/>
          <p:cNvSpPr/>
          <p:nvPr/>
        </p:nvSpPr>
        <p:spPr>
          <a:xfrm>
            <a:off x="4739640" y="2048760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Additive error, additive damped trend, no seasonality — the damped trend bounds a 20-year forecast to something plausible.</a:t>
            </a:r>
            <a:endParaRPr lang="en-US" sz="1100" dirty="0"/>
          </a:p>
        </p:txBody>
      </p:sp>
      <p:cxnSp>
        <p:nvCxnSpPr>
          <p:cNvPr id="14" name="Divider1"/>
          <p:cNvCxnSpPr/>
          <p:nvPr/>
        </p:nvCxnSpPr>
        <p:spPr>
          <a:xfrm>
            <a:off x="640080" y="2845406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5" name="Row2Question"/>
          <p:cNvSpPr/>
          <p:nvPr/>
        </p:nvSpPr>
        <p:spPr>
          <a:xfrm>
            <a:off x="640080" y="2845406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α, β*, and φ each control?</a:t>
            </a:r>
            <a:endParaRPr lang="en-US" sz="1100" dirty="0"/>
          </a:p>
        </p:txBody>
      </p:sp>
      <p:sp>
        <p:nvSpPr>
          <p:cNvPr id="16" name="Row2Answer"/>
          <p:cNvSpPr/>
          <p:nvPr/>
        </p:nvSpPr>
        <p:spPr>
          <a:xfrm>
            <a:off x="4739640" y="2875886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level responsiveness, β* = trend responsiveness, φ = how fast the trend decays toward flat over the horizon.</a:t>
            </a:r>
            <a:endParaRPr lang="en-US" sz="1100" dirty="0"/>
          </a:p>
        </p:txBody>
      </p:sp>
      <p:cxnSp>
        <p:nvCxnSpPr>
          <p:cNvPr id="17" name="Divider2"/>
          <p:cNvCxnSpPr/>
          <p:nvPr/>
        </p:nvCxnSpPr>
        <p:spPr>
          <a:xfrm>
            <a:off x="640080" y="3672532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8" name="Row3Question"/>
          <p:cNvSpPr/>
          <p:nvPr/>
        </p:nvSpPr>
        <p:spPr>
          <a:xfrm>
            <a:off x="640080" y="3672532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ETS use no engineered features?</a:t>
            </a:r>
            <a:endParaRPr lang="en-US" sz="1100" dirty="0"/>
          </a:p>
        </p:txBody>
      </p:sp>
      <p:sp>
        <p:nvSpPr>
          <p:cNvPr id="19" name="Row3Answer"/>
          <p:cNvSpPr/>
          <p:nvPr/>
        </p:nvSpPr>
        <p:spPr>
          <a:xfrm>
            <a:off x="4739640" y="3703012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 state-space model — it updates level/trend from the series' own history alone, unlike Week 3's regressions.</a:t>
            </a:r>
            <a:endParaRPr lang="en-US" sz="1100" dirty="0"/>
          </a:p>
        </p:txBody>
      </p:sp>
      <p:cxnSp>
        <p:nvCxnSpPr>
          <p:cNvPr id="20" name="Divider3"/>
          <p:cNvCxnSpPr/>
          <p:nvPr/>
        </p:nvCxnSpPr>
        <p:spPr>
          <a:xfrm>
            <a:off x="640080" y="4499658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21" name="Row4Question"/>
          <p:cNvSpPr/>
          <p:nvPr/>
        </p:nvSpPr>
        <p:spPr>
          <a:xfrm>
            <a:off x="640080" y="4499658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ETS beat the other models on the holdout?</a:t>
            </a:r>
            <a:endParaRPr lang="en-US" sz="1100" dirty="0"/>
          </a:p>
        </p:txBody>
      </p:sp>
      <p:sp>
        <p:nvSpPr>
          <p:cNvPr id="22" name="Row4Answer"/>
          <p:cNvSpPr/>
          <p:nvPr/>
        </p:nvSpPr>
        <p:spPr>
          <a:xfrm>
            <a:off x="4739640" y="4530138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in some cases — its real value is long-horizon plausibility, not short-horizon holdout accuracy.</a:t>
            </a:r>
            <a:endParaRPr lang="en-US" sz="1100" dirty="0"/>
          </a:p>
        </p:txBody>
      </p:sp>
      <p:cxnSp>
        <p:nvCxnSpPr>
          <p:cNvPr id="23" name="Divider4"/>
          <p:cNvCxnSpPr/>
          <p:nvPr/>
        </p:nvCxnSpPr>
        <p:spPr>
          <a:xfrm>
            <a:off x="640080" y="5326784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24" name="Row5Question"/>
          <p:cNvSpPr/>
          <p:nvPr/>
        </p:nvSpPr>
        <p:spPr>
          <a:xfrm>
            <a:off x="640080" y="5326784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confidence interval widen or narrow with horizon?</a:t>
            </a:r>
            <a:endParaRPr lang="en-US" sz="1100" dirty="0"/>
          </a:p>
        </p:txBody>
      </p:sp>
      <p:sp>
        <p:nvSpPr>
          <p:cNvPr id="25" name="Row5Answer"/>
          <p:cNvSpPr/>
          <p:nvPr/>
        </p:nvSpPr>
        <p:spPr>
          <a:xfrm>
            <a:off x="4739640" y="5357264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widens — treat a 2040 point estimate with far less confidence than a 2030 one.</a:t>
            </a:r>
            <a:endParaRPr lang="en-US" sz="1100" dirty="0"/>
          </a:p>
        </p:txBody>
      </p:sp>
      <p:pic>
        <p:nvPicPr>
          <p:cNvPr id="6" name="Image 0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14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9" grpId="0" animBg="1"/>
      <p:bldP spid="22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135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5146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5 OF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880360"/>
            <a:ext cx="103628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– Scenario Analysis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406908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</a:t>
            </a:r>
            <a:r>
              <a:rPr lang="en-US" sz="1400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1400" dirty="0"/>
          </a:p>
        </p:txBody>
      </p:sp>
      <p:pic>
        <p:nvPicPr>
          <p:cNvPr id="5" name="Image 0" descr="logo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15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 </a:t>
            </a:r>
            <a:r>
              <a:rPr lang="en-US" sz="1200" b="1" kern="0" spc="15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REVIEW  ·  ~3 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Lessons – Scenario Analysis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Time-Series Forecasting curriculum doc, §7</a:t>
            </a:r>
            <a:endParaRPr lang="en-US" sz="1100" dirty="0"/>
          </a:p>
        </p:txBody>
      </p:sp>
      <p:sp>
        <p:nvSpPr>
          <p:cNvPr id="5" name="AnswerBox"/>
          <p:cNvSpPr/>
          <p:nvPr/>
        </p:nvSpPr>
        <p:spPr>
          <a:xfrm>
            <a:off x="640080" y="2606040"/>
            <a:ext cx="10911535" cy="3474720"/>
          </a:xfrm>
          <a:prstGeom prst="roundRect">
            <a:avLst>
              <a:gd name="adj" fmla="val 2105"/>
            </a:avLst>
          </a:prstGeom>
          <a:solidFill>
            <a:srgbClr val="EAF9FB"/>
          </a:solidFill>
          <a:ln/>
        </p:spPr>
        <p:txBody>
          <a:bodyPr wrap="square" lIns="320040" tIns="320040" rIns="320040" bIns="320040" rtlCol="0" anchor="t"/>
          <a:lstStyle/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what-if scenario applies a compounding adjustment rate to a baseline forecast.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It's a simple, transparent mechanism — not a new model.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illustrative, not causal.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flat 2%/5% rate applied uniformly across very different countries is a simplification, useful for order-of-magnitude comparisons only.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benchmark against a real reference point.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Showing each country's 1990 level lets a reader judge a scenario against an actual policy baseline, not just a trend line.</a:t>
            </a:r>
            <a:endParaRPr lang="en-US" sz="1300" dirty="0"/>
          </a:p>
          <a:p>
            <a:pPr marL="228600" indent="-228600" algn="l">
              <a:lnSpc>
                <a:spcPct val="110000"/>
              </a:lnSpc>
              <a:spcAft>
                <a:spcPts val="600"/>
              </a:spcAft>
              <a:buFont typeface="Arial"/>
              <a:buChar char="•"/>
            </a:pPr>
            <a:r>
              <a:rPr lang="en-US" sz="13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both the individual and the aggregate view.</a:t>
            </a:r>
            <a:r>
              <a:rPr lang="en-US" sz="13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per-country chart shows who moves most; a summed chart answers the more policy-relevant “collectively, how much does this group change.”</a:t>
            </a:r>
            <a:endParaRPr lang="en-US" sz="1300" dirty="0"/>
          </a:p>
        </p:txBody>
      </p:sp>
      <p:pic>
        <p:nvPicPr>
          <p:cNvPr id="6" name="Image 0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16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  ·  Q&amp;A SUMMARY  ·  5 QUESTIONS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46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Summary – Scenario Analysis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3411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8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questions are shown now — press → or click to reveal each answer in turn.</a:t>
            </a:r>
            <a:endParaRPr lang="en-US" sz="1100" dirty="0"/>
          </a:p>
        </p:txBody>
      </p:sp>
      <p:sp>
        <p:nvSpPr>
          <p:cNvPr id="9" name="HeaderQ"/>
          <p:cNvSpPr/>
          <p:nvPr/>
        </p:nvSpPr>
        <p:spPr>
          <a:xfrm>
            <a:off x="640080" y="1706880"/>
            <a:ext cx="3962400" cy="26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98A3"/>
                </a:solidFill>
                <a:latin typeface="Arial" pitchFamily="34" charset="0"/>
              </a:rPr>
              <a:t>QUESTION</a:t>
            </a:r>
            <a:endParaRPr lang="en-US" sz="1000" dirty="0"/>
          </a:p>
        </p:txBody>
      </p:sp>
      <p:sp>
        <p:nvSpPr>
          <p:cNvPr id="10" name="HeaderA"/>
          <p:cNvSpPr/>
          <p:nvPr/>
        </p:nvSpPr>
        <p:spPr>
          <a:xfrm>
            <a:off x="4739640" y="1706880"/>
            <a:ext cx="6811975" cy="26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8A98A3"/>
                </a:solidFill>
                <a:latin typeface="Arial" pitchFamily="34" charset="0"/>
              </a:rPr>
              <a:t>ANSWER  (click to reveal)</a:t>
            </a:r>
            <a:endParaRPr lang="en-US" sz="1000" dirty="0"/>
          </a:p>
        </p:txBody>
      </p:sp>
      <p:cxnSp>
        <p:nvCxnSpPr>
          <p:cNvPr id="11" name="Divider0"/>
          <p:cNvCxnSpPr/>
          <p:nvPr/>
        </p:nvCxnSpPr>
        <p:spPr>
          <a:xfrm>
            <a:off x="640080" y="1995420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2" name="Row1Question"/>
          <p:cNvSpPr/>
          <p:nvPr/>
        </p:nvSpPr>
        <p:spPr>
          <a:xfrm>
            <a:off x="640080" y="2018280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the three scenarios?</a:t>
            </a:r>
            <a:endParaRPr lang="en-US" sz="1100" dirty="0"/>
          </a:p>
        </p:txBody>
      </p:sp>
      <p:sp>
        <p:nvSpPr>
          <p:cNvPr id="13" name="Row1Answer"/>
          <p:cNvSpPr/>
          <p:nvPr/>
        </p:nvSpPr>
        <p:spPr>
          <a:xfrm>
            <a:off x="4739640" y="2048760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= unmodified ETS forecast; Moderate = −2%/yr from 2025; Aggressive = −5%/yr from 2025.</a:t>
            </a:r>
            <a:endParaRPr lang="en-US" sz="1100" dirty="0"/>
          </a:p>
        </p:txBody>
      </p:sp>
      <p:cxnSp>
        <p:nvCxnSpPr>
          <p:cNvPr id="14" name="Divider1"/>
          <p:cNvCxnSpPr/>
          <p:nvPr/>
        </p:nvCxnSpPr>
        <p:spPr>
          <a:xfrm>
            <a:off x="640080" y="2845406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5" name="Row2Question"/>
          <p:cNvSpPr/>
          <p:nvPr/>
        </p:nvSpPr>
        <p:spPr>
          <a:xfrm>
            <a:off x="640080" y="2845406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 2%/5% rates a flaw, since they're not policy-derived?</a:t>
            </a:r>
            <a:endParaRPr lang="en-US" sz="1100" dirty="0"/>
          </a:p>
        </p:txBody>
      </p:sp>
      <p:sp>
        <p:nvSpPr>
          <p:cNvPr id="16" name="Row2Answer"/>
          <p:cNvSpPr/>
          <p:nvPr/>
        </p:nvSpPr>
        <p:spPr>
          <a:xfrm>
            <a:off x="4739640" y="2875886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— they're explicitly illustrative, meant to build the what-if mechanics, not a calibrated projection.</a:t>
            </a:r>
            <a:endParaRPr lang="en-US" sz="1100" dirty="0"/>
          </a:p>
        </p:txBody>
      </p:sp>
      <p:cxnSp>
        <p:nvCxnSpPr>
          <p:cNvPr id="17" name="Divider2"/>
          <p:cNvCxnSpPr/>
          <p:nvPr/>
        </p:nvCxnSpPr>
        <p:spPr>
          <a:xfrm>
            <a:off x="640080" y="3672532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18" name="Row3Question"/>
          <p:cNvSpPr/>
          <p:nvPr/>
        </p:nvSpPr>
        <p:spPr>
          <a:xfrm>
            <a:off x="640080" y="3672532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show each country's 1990 level on the charts?</a:t>
            </a:r>
            <a:endParaRPr lang="en-US" sz="1100" dirty="0"/>
          </a:p>
        </p:txBody>
      </p:sp>
      <p:sp>
        <p:nvSpPr>
          <p:cNvPr id="19" name="Row3Answer"/>
          <p:cNvSpPr/>
          <p:nvPr/>
        </p:nvSpPr>
        <p:spPr>
          <a:xfrm>
            <a:off x="4739640" y="3703012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the standard policy baseline — lets a reader see if a scenario gets back to it.</a:t>
            </a:r>
            <a:endParaRPr lang="en-US" sz="1100" dirty="0"/>
          </a:p>
        </p:txBody>
      </p:sp>
      <p:cxnSp>
        <p:nvCxnSpPr>
          <p:cNvPr id="20" name="Divider3"/>
          <p:cNvCxnSpPr/>
          <p:nvPr/>
        </p:nvCxnSpPr>
        <p:spPr>
          <a:xfrm>
            <a:off x="640080" y="4499658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21" name="Row4Question"/>
          <p:cNvSpPr/>
          <p:nvPr/>
        </p:nvSpPr>
        <p:spPr>
          <a:xfrm>
            <a:off x="640080" y="4499658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the global aggregate chart add?</a:t>
            </a:r>
            <a:endParaRPr lang="en-US" sz="1100" dirty="0"/>
          </a:p>
        </p:txBody>
      </p:sp>
      <p:sp>
        <p:nvSpPr>
          <p:cNvPr id="22" name="Row4Answer"/>
          <p:cNvSpPr/>
          <p:nvPr/>
        </p:nvSpPr>
        <p:spPr>
          <a:xfrm>
            <a:off x="4739640" y="4530138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sums all 10 countries per scenario — answers “how much does this whole group change,” which per-country charts don't.</a:t>
            </a:r>
            <a:endParaRPr lang="en-US" sz="1100" dirty="0"/>
          </a:p>
        </p:txBody>
      </p:sp>
      <p:cxnSp>
        <p:nvCxnSpPr>
          <p:cNvPr id="23" name="Divider4"/>
          <p:cNvCxnSpPr/>
          <p:nvPr/>
        </p:nvCxnSpPr>
        <p:spPr>
          <a:xfrm>
            <a:off x="640080" y="5326784"/>
            <a:ext cx="10911535" cy="0"/>
          </a:xfrm>
          <a:prstGeom prst="line">
            <a:avLst/>
          </a:prstGeom>
          <a:ln w="9525">
            <a:solidFill>
              <a:srgbClr val="E1E7EA"/>
            </a:solidFill>
          </a:ln>
        </p:spPr>
      </p:cxnSp>
      <p:sp>
        <p:nvSpPr>
          <p:cNvPr id="24" name="Row5Question"/>
          <p:cNvSpPr/>
          <p:nvPr/>
        </p:nvSpPr>
        <p:spPr>
          <a:xfrm>
            <a:off x="640080" y="5326784"/>
            <a:ext cx="3962400" cy="827126"/>
          </a:xfrm>
          <a:prstGeom prst="rect">
            <a:avLst/>
          </a:prstGeom>
          <a:noFill/>
          <a:ln/>
        </p:spPr>
        <p:txBody>
          <a:bodyPr wrap="square" lIns="0" tIns="45720" rIns="91440" bIns="4572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countries benefit most from aggressive mitigation?</a:t>
            </a:r>
            <a:endParaRPr lang="en-US" sz="1100" dirty="0"/>
          </a:p>
        </p:txBody>
      </p:sp>
      <p:sp>
        <p:nvSpPr>
          <p:cNvPr id="25" name="Row5Answer"/>
          <p:cNvSpPr/>
          <p:nvPr/>
        </p:nvSpPr>
        <p:spPr>
          <a:xfrm>
            <a:off x="4739640" y="5357264"/>
            <a:ext cx="6811975" cy="766166"/>
          </a:xfrm>
          <a:prstGeom prst="roundRect">
            <a:avLst>
              <a:gd name="adj" fmla="val 8000"/>
            </a:avLst>
          </a:prstGeom>
          <a:solidFill>
            <a:srgbClr val="EAF9FB"/>
          </a:solidFill>
          <a:ln>
            <a:noFill/>
          </a:ln>
        </p:spPr>
        <p:txBody>
          <a:bodyPr wrap="square" lIns="137160" tIns="45720" rIns="137160" bIns="45720" rtlCol="0" anchor="ctr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absolute emitters (China, USA, India) show the largest absolute cut; percentage cuts are similar across all 10.</a:t>
            </a:r>
            <a:endParaRPr lang="en-US" sz="1100" dirty="0"/>
          </a:p>
        </p:txBody>
      </p:sp>
      <p:pic>
        <p:nvPicPr>
          <p:cNvPr id="6" name="Image 0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62910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13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SYENA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53600" y="6291072"/>
            <a:ext cx="198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8A98A3"/>
                </a:solidFill>
                <a:latin typeface="Arial"/>
                <a:ea typeface="Arial" pitchFamily="34" charset="-122"/>
                <a:cs typeface="Arial"/>
              </a:rPr>
              <a:t>Page 17 of 17</a:t>
            </a:r>
            <a:endParaRPr lang="en-US" sz="900" dirty="0">
              <a:solidFill>
                <a:srgbClr val="8A98A3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9" grpId="0" animBg="1"/>
      <p:bldP spid="22" grpId="0" animBg="1"/>
      <p:bldP spid="2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00A39A-79E6-AF4E-BF91-5F120FCC6001}">
  <we:reference id="wa200010001" version="1.0.0.0" store="en-US" storeType="OMEX"/>
  <we:alternateReferences>
    <we:reference id="wa200010001" version="1.0.0.0" store="" storeType="OMEX"/>
  </we:alternateReferences>
  <we:properties>
    <we:property name="claude.fileId" value="&quot;54422827-f4a8-47d9-a178-9accb1d609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757</TotalTime>
  <Words>2489</Words>
  <Application>Microsoft Macintosh PowerPoint</Application>
  <PresentationFormat>Widescreen</PresentationFormat>
  <Paragraphs>206</Paragraphs>
  <Slides>17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Sauparna Sarkar</cp:lastModifiedBy>
  <cp:revision>7</cp:revision>
  <dcterms:created xsi:type="dcterms:W3CDTF">2026-07-27T20:29:39Z</dcterms:created>
  <dcterms:modified xsi:type="dcterms:W3CDTF">2026-07-29T02:08:37Z</dcterms:modified>
</cp:coreProperties>
</file>
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307" r:id="rId3"/>
    <p:sldId id="257" r:id="rId4"/>
    <p:sldId id="297" r:id="rId5"/>
    <p:sldId id="302" r:id="rId6"/>
    <p:sldId id="264" r:id="rId7"/>
    <p:sldId id="298" r:id="rId8"/>
    <p:sldId id="303" r:id="rId9"/>
    <p:sldId id="271" r:id="rId10"/>
    <p:sldId id="299" r:id="rId11"/>
    <p:sldId id="308" r:id="rId12"/>
    <p:sldId id="304" r:id="rId13"/>
    <p:sldId id="282" r:id="rId14"/>
    <p:sldId id="300" r:id="rId15"/>
    <p:sldId id="296" r:id="rId16"/>
    <p:sldId id="305" r:id="rId17"/>
    <p:sldId id="290" r:id="rId18"/>
    <p:sldId id="301" r:id="rId19"/>
    <p:sldId id="30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311EC0-82B3-6A41-8D41-8E8420E9DC9A}" v="590" dt="2026-07-27T21:49:11.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3"/>
    <p:restoredTop sz="88864"/>
  </p:normalViewPr>
  <p:slideViewPr>
    <p:cSldViewPr snapToGrid="0" snapToObjects="1">
      <p:cViewPr varScale="1">
        <p:scale>
          <a:sx n="137" d="100"/>
          <a:sy n="137" d="100"/>
        </p:scale>
        <p:origin x="14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parna Sarkar" userId="a26b9972758fd2b2" providerId="LiveId" clId="{F049A4CF-87D7-51A9-B7E4-ED58385DA0DA}"/>
    <pc:docChg chg="custSel delSld modSld">
      <pc:chgData name="Sauparna Sarkar" userId="a26b9972758fd2b2" providerId="LiveId" clId="{F049A4CF-87D7-51A9-B7E4-ED58385DA0DA}" dt="2026-07-27T21:49:11.435" v="961" actId="20577"/>
      <pc:docMkLst>
        <pc:docMk/>
      </pc:docMkLst>
      <pc:sldChg chg="modSp mod">
        <pc:chgData name="Sauparna Sarkar" userId="a26b9972758fd2b2" providerId="LiveId" clId="{F049A4CF-87D7-51A9-B7E4-ED58385DA0DA}" dt="2026-07-27T21:40:48.824" v="798"/>
        <pc:sldMkLst>
          <pc:docMk/>
          <pc:sldMk cId="0" sldId="256"/>
        </pc:sldMkLst>
        <pc:spChg chg="mod">
          <ac:chgData name="Sauparna Sarkar" userId="a26b9972758fd2b2" providerId="LiveId" clId="{F049A4CF-87D7-51A9-B7E4-ED58385DA0DA}" dt="2026-07-27T21:40:48.824" v="798"/>
          <ac:spMkLst>
            <pc:docMk/>
            <pc:sldMk cId="0" sldId="256"/>
            <ac:spMk id="9" creationId="{00000000-0000-0000-0000-000000000000}"/>
          </ac:spMkLst>
        </pc:spChg>
      </pc:sldChg>
      <pc:sldChg chg="modSp mod">
        <pc:chgData name="Sauparna Sarkar" userId="a26b9972758fd2b2" providerId="LiveId" clId="{F049A4CF-87D7-51A9-B7E4-ED58385DA0DA}" dt="2026-07-27T21:40:48.825" v="802"/>
        <pc:sldMkLst>
          <pc:docMk/>
          <pc:sldMk cId="0" sldId="257"/>
        </pc:sldMkLst>
        <pc:spChg chg="mod">
          <ac:chgData name="Sauparna Sarkar" userId="a26b9972758fd2b2" providerId="LiveId" clId="{F049A4CF-87D7-51A9-B7E4-ED58385DA0DA}" dt="2026-07-27T21:32:35.870" v="284"/>
          <ac:spMkLst>
            <pc:docMk/>
            <pc:sldMk cId="0" sldId="257"/>
            <ac:spMk id="2" creationId="{00000000-0000-0000-0000-000000000000}"/>
          </ac:spMkLst>
        </pc:spChg>
        <pc:spChg chg="mod">
          <ac:chgData name="Sauparna Sarkar" userId="a26b9972758fd2b2" providerId="LiveId" clId="{F049A4CF-87D7-51A9-B7E4-ED58385DA0DA}" dt="2026-07-27T21:32:35.872" v="285"/>
          <ac:spMkLst>
            <pc:docMk/>
            <pc:sldMk cId="0" sldId="257"/>
            <ac:spMk id="4" creationId="{00000000-0000-0000-0000-000000000000}"/>
          </ac:spMkLst>
        </pc:spChg>
        <pc:spChg chg="mod">
          <ac:chgData name="Sauparna Sarkar" userId="a26b9972758fd2b2" providerId="LiveId" clId="{F049A4CF-87D7-51A9-B7E4-ED58385DA0DA}" dt="2026-07-27T21:40:48.825" v="802"/>
          <ac:spMkLst>
            <pc:docMk/>
            <pc:sldMk cId="0" sldId="257"/>
            <ac:spMk id="7" creationId="{00000000-0000-0000-0000-000000000000}"/>
          </ac:spMkLst>
        </pc:spChg>
      </pc:sldChg>
      <pc:sldChg chg="modSp mod">
        <pc:chgData name="Sauparna Sarkar" userId="a26b9972758fd2b2" providerId="LiveId" clId="{F049A4CF-87D7-51A9-B7E4-ED58385DA0DA}" dt="2026-07-27T21:40:48.827" v="806"/>
        <pc:sldMkLst>
          <pc:docMk/>
          <pc:sldMk cId="0" sldId="258"/>
        </pc:sldMkLst>
        <pc:spChg chg="mod">
          <ac:chgData name="Sauparna Sarkar" userId="a26b9972758fd2b2" providerId="LiveId" clId="{F049A4CF-87D7-51A9-B7E4-ED58385DA0DA}" dt="2026-07-27T21:32:35.873" v="286"/>
          <ac:spMkLst>
            <pc:docMk/>
            <pc:sldMk cId="0" sldId="258"/>
            <ac:spMk id="2" creationId="{00000000-0000-0000-0000-000000000000}"/>
          </ac:spMkLst>
        </pc:spChg>
        <pc:spChg chg="mod">
          <ac:chgData name="Sauparna Sarkar" userId="a26b9972758fd2b2" providerId="LiveId" clId="{F049A4CF-87D7-51A9-B7E4-ED58385DA0DA}" dt="2026-07-27T21:40:48.827" v="806"/>
          <ac:spMkLst>
            <pc:docMk/>
            <pc:sldMk cId="0" sldId="258"/>
            <ac:spMk id="8" creationId="{00000000-0000-0000-0000-000000000000}"/>
          </ac:spMkLst>
        </pc:spChg>
      </pc:sldChg>
      <pc:sldChg chg="modSp mod">
        <pc:chgData name="Sauparna Sarkar" userId="a26b9972758fd2b2" providerId="LiveId" clId="{F049A4CF-87D7-51A9-B7E4-ED58385DA0DA}" dt="2026-07-27T21:40:48.828" v="810"/>
        <pc:sldMkLst>
          <pc:docMk/>
          <pc:sldMk cId="0" sldId="259"/>
        </pc:sldMkLst>
        <pc:spChg chg="mod">
          <ac:chgData name="Sauparna Sarkar" userId="a26b9972758fd2b2" providerId="LiveId" clId="{F049A4CF-87D7-51A9-B7E4-ED58385DA0DA}" dt="2026-07-27T21:32:35.874" v="287"/>
          <ac:spMkLst>
            <pc:docMk/>
            <pc:sldMk cId="0" sldId="259"/>
            <ac:spMk id="2" creationId="{00000000-0000-0000-0000-000000000000}"/>
          </ac:spMkLst>
        </pc:spChg>
        <pc:spChg chg="mod">
          <ac:chgData name="Sauparna Sarkar" userId="a26b9972758fd2b2" providerId="LiveId" clId="{F049A4CF-87D7-51A9-B7E4-ED58385DA0DA}" dt="2026-07-27T21:40:48.828" v="810"/>
          <ac:spMkLst>
            <pc:docMk/>
            <pc:sldMk cId="0" sldId="259"/>
            <ac:spMk id="8" creationId="{00000000-0000-0000-0000-000000000000}"/>
          </ac:spMkLst>
        </pc:spChg>
      </pc:sldChg>
      <pc:sldChg chg="modSp mod">
        <pc:chgData name="Sauparna Sarkar" userId="a26b9972758fd2b2" providerId="LiveId" clId="{F049A4CF-87D7-51A9-B7E4-ED58385DA0DA}" dt="2026-07-27T21:40:48.829" v="814"/>
        <pc:sldMkLst>
          <pc:docMk/>
          <pc:sldMk cId="0" sldId="260"/>
        </pc:sldMkLst>
        <pc:spChg chg="mod">
          <ac:chgData name="Sauparna Sarkar" userId="a26b9972758fd2b2" providerId="LiveId" clId="{F049A4CF-87D7-51A9-B7E4-ED58385DA0DA}" dt="2026-07-27T21:32:35.875" v="288"/>
          <ac:spMkLst>
            <pc:docMk/>
            <pc:sldMk cId="0" sldId="260"/>
            <ac:spMk id="2" creationId="{00000000-0000-0000-0000-000000000000}"/>
          </ac:spMkLst>
        </pc:spChg>
        <pc:spChg chg="mod">
          <ac:chgData name="Sauparna Sarkar" userId="a26b9972758fd2b2" providerId="LiveId" clId="{F049A4CF-87D7-51A9-B7E4-ED58385DA0DA}" dt="2026-07-27T21:40:48.829" v="814"/>
          <ac:spMkLst>
            <pc:docMk/>
            <pc:sldMk cId="0" sldId="260"/>
            <ac:spMk id="8" creationId="{00000000-0000-0000-0000-000000000000}"/>
          </ac:spMkLst>
        </pc:spChg>
      </pc:sldChg>
      <pc:sldChg chg="modSp mod">
        <pc:chgData name="Sauparna Sarkar" userId="a26b9972758fd2b2" providerId="LiveId" clId="{F049A4CF-87D7-51A9-B7E4-ED58385DA0DA}" dt="2026-07-27T21:40:48.830" v="818"/>
        <pc:sldMkLst>
          <pc:docMk/>
          <pc:sldMk cId="0" sldId="262"/>
        </pc:sldMkLst>
        <pc:spChg chg="mod">
          <ac:chgData name="Sauparna Sarkar" userId="a26b9972758fd2b2" providerId="LiveId" clId="{F049A4CF-87D7-51A9-B7E4-ED58385DA0DA}" dt="2026-07-27T21:32:35.876" v="289"/>
          <ac:spMkLst>
            <pc:docMk/>
            <pc:sldMk cId="0" sldId="262"/>
            <ac:spMk id="2" creationId="{00000000-0000-0000-0000-000000000000}"/>
          </ac:spMkLst>
        </pc:spChg>
        <pc:spChg chg="mod">
          <ac:chgData name="Sauparna Sarkar" userId="a26b9972758fd2b2" providerId="LiveId" clId="{F049A4CF-87D7-51A9-B7E4-ED58385DA0DA}" dt="2026-07-27T21:40:48.830" v="818"/>
          <ac:spMkLst>
            <pc:docMk/>
            <pc:sldMk cId="0" sldId="262"/>
            <ac:spMk id="8" creationId="{00000000-0000-0000-0000-000000000000}"/>
          </ac:spMkLst>
        </pc:spChg>
      </pc:sldChg>
      <pc:sldChg chg="modSp mod">
        <pc:chgData name="Sauparna Sarkar" userId="a26b9972758fd2b2" providerId="LiveId" clId="{F049A4CF-87D7-51A9-B7E4-ED58385DA0DA}" dt="2026-07-27T21:40:48.831" v="822"/>
        <pc:sldMkLst>
          <pc:docMk/>
          <pc:sldMk cId="0" sldId="264"/>
        </pc:sldMkLst>
        <pc:spChg chg="mod">
          <ac:chgData name="Sauparna Sarkar" userId="a26b9972758fd2b2" providerId="LiveId" clId="{F049A4CF-87D7-51A9-B7E4-ED58385DA0DA}" dt="2026-07-27T21:32:35.877" v="290"/>
          <ac:spMkLst>
            <pc:docMk/>
            <pc:sldMk cId="0" sldId="264"/>
            <ac:spMk id="2" creationId="{00000000-0000-0000-0000-000000000000}"/>
          </ac:spMkLst>
        </pc:spChg>
        <pc:spChg chg="mod">
          <ac:chgData name="Sauparna Sarkar" userId="a26b9972758fd2b2" providerId="LiveId" clId="{F049A4CF-87D7-51A9-B7E4-ED58385DA0DA}" dt="2026-07-27T21:32:35.878" v="291"/>
          <ac:spMkLst>
            <pc:docMk/>
            <pc:sldMk cId="0" sldId="264"/>
            <ac:spMk id="4" creationId="{00000000-0000-0000-0000-000000000000}"/>
          </ac:spMkLst>
        </pc:spChg>
        <pc:spChg chg="mod">
          <ac:chgData name="Sauparna Sarkar" userId="a26b9972758fd2b2" providerId="LiveId" clId="{F049A4CF-87D7-51A9-B7E4-ED58385DA0DA}" dt="2026-07-27T21:40:48.831" v="822"/>
          <ac:spMkLst>
            <pc:docMk/>
            <pc:sldMk cId="0" sldId="264"/>
            <ac:spMk id="7" creationId="{00000000-0000-0000-0000-000000000000}"/>
          </ac:spMkLst>
        </pc:spChg>
      </pc:sldChg>
      <pc:sldChg chg="modSp mod">
        <pc:chgData name="Sauparna Sarkar" userId="a26b9972758fd2b2" providerId="LiveId" clId="{F049A4CF-87D7-51A9-B7E4-ED58385DA0DA}" dt="2026-07-27T21:40:48.832" v="826"/>
        <pc:sldMkLst>
          <pc:docMk/>
          <pc:sldMk cId="0" sldId="265"/>
        </pc:sldMkLst>
        <pc:spChg chg="mod">
          <ac:chgData name="Sauparna Sarkar" userId="a26b9972758fd2b2" providerId="LiveId" clId="{F049A4CF-87D7-51A9-B7E4-ED58385DA0DA}" dt="2026-07-27T21:32:35.879" v="292"/>
          <ac:spMkLst>
            <pc:docMk/>
            <pc:sldMk cId="0" sldId="265"/>
            <ac:spMk id="2" creationId="{00000000-0000-0000-0000-000000000000}"/>
          </ac:spMkLst>
        </pc:spChg>
        <pc:spChg chg="mod">
          <ac:chgData name="Sauparna Sarkar" userId="a26b9972758fd2b2" providerId="LiveId" clId="{F049A4CF-87D7-51A9-B7E4-ED58385DA0DA}" dt="2026-07-27T21:40:48.832" v="826"/>
          <ac:spMkLst>
            <pc:docMk/>
            <pc:sldMk cId="0" sldId="265"/>
            <ac:spMk id="8" creationId="{00000000-0000-0000-0000-000000000000}"/>
          </ac:spMkLst>
        </pc:spChg>
      </pc:sldChg>
      <pc:sldChg chg="modSp mod">
        <pc:chgData name="Sauparna Sarkar" userId="a26b9972758fd2b2" providerId="LiveId" clId="{F049A4CF-87D7-51A9-B7E4-ED58385DA0DA}" dt="2026-07-27T21:40:48.834" v="830"/>
        <pc:sldMkLst>
          <pc:docMk/>
          <pc:sldMk cId="0" sldId="266"/>
        </pc:sldMkLst>
        <pc:spChg chg="mod">
          <ac:chgData name="Sauparna Sarkar" userId="a26b9972758fd2b2" providerId="LiveId" clId="{F049A4CF-87D7-51A9-B7E4-ED58385DA0DA}" dt="2026-07-27T21:32:35.880" v="293"/>
          <ac:spMkLst>
            <pc:docMk/>
            <pc:sldMk cId="0" sldId="266"/>
            <ac:spMk id="2" creationId="{00000000-0000-0000-0000-000000000000}"/>
          </ac:spMkLst>
        </pc:spChg>
        <pc:spChg chg="mod">
          <ac:chgData name="Sauparna Sarkar" userId="a26b9972758fd2b2" providerId="LiveId" clId="{F049A4CF-87D7-51A9-B7E4-ED58385DA0DA}" dt="2026-07-27T21:00:12.121" v="0"/>
          <ac:spMkLst>
            <pc:docMk/>
            <pc:sldMk cId="0" sldId="266"/>
            <ac:spMk id="5" creationId="{00000000-0000-0000-0000-000000000000}"/>
          </ac:spMkLst>
        </pc:spChg>
        <pc:spChg chg="mod">
          <ac:chgData name="Sauparna Sarkar" userId="a26b9972758fd2b2" providerId="LiveId" clId="{F049A4CF-87D7-51A9-B7E4-ED58385DA0DA}" dt="2026-07-27T21:40:48.834" v="830"/>
          <ac:spMkLst>
            <pc:docMk/>
            <pc:sldMk cId="0" sldId="266"/>
            <ac:spMk id="8" creationId="{00000000-0000-0000-0000-000000000000}"/>
          </ac:spMkLst>
        </pc:spChg>
      </pc:sldChg>
      <pc:sldChg chg="modSp mod">
        <pc:chgData name="Sauparna Sarkar" userId="a26b9972758fd2b2" providerId="LiveId" clId="{F049A4CF-87D7-51A9-B7E4-ED58385DA0DA}" dt="2026-07-27T21:40:48.835" v="834"/>
        <pc:sldMkLst>
          <pc:docMk/>
          <pc:sldMk cId="0" sldId="267"/>
        </pc:sldMkLst>
        <pc:spChg chg="mod">
          <ac:chgData name="Sauparna Sarkar" userId="a26b9972758fd2b2" providerId="LiveId" clId="{F049A4CF-87D7-51A9-B7E4-ED58385DA0DA}" dt="2026-07-27T21:32:35.881" v="294"/>
          <ac:spMkLst>
            <pc:docMk/>
            <pc:sldMk cId="0" sldId="267"/>
            <ac:spMk id="2" creationId="{00000000-0000-0000-0000-000000000000}"/>
          </ac:spMkLst>
        </pc:spChg>
        <pc:spChg chg="mod">
          <ac:chgData name="Sauparna Sarkar" userId="a26b9972758fd2b2" providerId="LiveId" clId="{F049A4CF-87D7-51A9-B7E4-ED58385DA0DA}" dt="2026-07-27T21:00:18.704" v="1"/>
          <ac:spMkLst>
            <pc:docMk/>
            <pc:sldMk cId="0" sldId="267"/>
            <ac:spMk id="5" creationId="{00000000-0000-0000-0000-000000000000}"/>
          </ac:spMkLst>
        </pc:spChg>
        <pc:spChg chg="mod">
          <ac:chgData name="Sauparna Sarkar" userId="a26b9972758fd2b2" providerId="LiveId" clId="{F049A4CF-87D7-51A9-B7E4-ED58385DA0DA}" dt="2026-07-27T21:40:48.835" v="834"/>
          <ac:spMkLst>
            <pc:docMk/>
            <pc:sldMk cId="0" sldId="267"/>
            <ac:spMk id="8" creationId="{00000000-0000-0000-0000-000000000000}"/>
          </ac:spMkLst>
        </pc:spChg>
      </pc:sldChg>
      <pc:sldChg chg="modSp mod">
        <pc:chgData name="Sauparna Sarkar" userId="a26b9972758fd2b2" providerId="LiveId" clId="{F049A4CF-87D7-51A9-B7E4-ED58385DA0DA}" dt="2026-07-27T21:40:48.836" v="838"/>
        <pc:sldMkLst>
          <pc:docMk/>
          <pc:sldMk cId="0" sldId="268"/>
        </pc:sldMkLst>
        <pc:spChg chg="mod">
          <ac:chgData name="Sauparna Sarkar" userId="a26b9972758fd2b2" providerId="LiveId" clId="{F049A4CF-87D7-51A9-B7E4-ED58385DA0DA}" dt="2026-07-27T21:32:35.882" v="295"/>
          <ac:spMkLst>
            <pc:docMk/>
            <pc:sldMk cId="0" sldId="268"/>
            <ac:spMk id="2" creationId="{00000000-0000-0000-0000-000000000000}"/>
          </ac:spMkLst>
        </pc:spChg>
        <pc:spChg chg="mod">
          <ac:chgData name="Sauparna Sarkar" userId="a26b9972758fd2b2" providerId="LiveId" clId="{F049A4CF-87D7-51A9-B7E4-ED58385DA0DA}" dt="2026-07-27T21:40:48.836" v="838"/>
          <ac:spMkLst>
            <pc:docMk/>
            <pc:sldMk cId="0" sldId="268"/>
            <ac:spMk id="8" creationId="{00000000-0000-0000-0000-000000000000}"/>
          </ac:spMkLst>
        </pc:spChg>
      </pc:sldChg>
      <pc:sldChg chg="modSp mod">
        <pc:chgData name="Sauparna Sarkar" userId="a26b9972758fd2b2" providerId="LiveId" clId="{F049A4CF-87D7-51A9-B7E4-ED58385DA0DA}" dt="2026-07-27T21:40:48.838" v="842"/>
        <pc:sldMkLst>
          <pc:docMk/>
          <pc:sldMk cId="0" sldId="269"/>
        </pc:sldMkLst>
        <pc:spChg chg="mod">
          <ac:chgData name="Sauparna Sarkar" userId="a26b9972758fd2b2" providerId="LiveId" clId="{F049A4CF-87D7-51A9-B7E4-ED58385DA0DA}" dt="2026-07-27T21:32:35.883" v="296"/>
          <ac:spMkLst>
            <pc:docMk/>
            <pc:sldMk cId="0" sldId="269"/>
            <ac:spMk id="2" creationId="{00000000-0000-0000-0000-000000000000}"/>
          </ac:spMkLst>
        </pc:spChg>
        <pc:spChg chg="mod">
          <ac:chgData name="Sauparna Sarkar" userId="a26b9972758fd2b2" providerId="LiveId" clId="{F049A4CF-87D7-51A9-B7E4-ED58385DA0DA}" dt="2026-07-27T21:00:31.211" v="2"/>
          <ac:spMkLst>
            <pc:docMk/>
            <pc:sldMk cId="0" sldId="269"/>
            <ac:spMk id="5" creationId="{00000000-0000-0000-0000-000000000000}"/>
          </ac:spMkLst>
        </pc:spChg>
        <pc:spChg chg="mod">
          <ac:chgData name="Sauparna Sarkar" userId="a26b9972758fd2b2" providerId="LiveId" clId="{F049A4CF-87D7-51A9-B7E4-ED58385DA0DA}" dt="2026-07-27T21:40:48.838" v="842"/>
          <ac:spMkLst>
            <pc:docMk/>
            <pc:sldMk cId="0" sldId="269"/>
            <ac:spMk id="8" creationId="{00000000-0000-0000-0000-000000000000}"/>
          </ac:spMkLst>
        </pc:spChg>
      </pc:sldChg>
      <pc:sldChg chg="modSp mod">
        <pc:chgData name="Sauparna Sarkar" userId="a26b9972758fd2b2" providerId="LiveId" clId="{F049A4CF-87D7-51A9-B7E4-ED58385DA0DA}" dt="2026-07-27T21:40:48.839" v="846"/>
        <pc:sldMkLst>
          <pc:docMk/>
          <pc:sldMk cId="0" sldId="271"/>
        </pc:sldMkLst>
        <pc:spChg chg="mod">
          <ac:chgData name="Sauparna Sarkar" userId="a26b9972758fd2b2" providerId="LiveId" clId="{F049A4CF-87D7-51A9-B7E4-ED58385DA0DA}" dt="2026-07-27T21:32:35.884" v="297"/>
          <ac:spMkLst>
            <pc:docMk/>
            <pc:sldMk cId="0" sldId="271"/>
            <ac:spMk id="2" creationId="{00000000-0000-0000-0000-000000000000}"/>
          </ac:spMkLst>
        </pc:spChg>
        <pc:spChg chg="mod">
          <ac:chgData name="Sauparna Sarkar" userId="a26b9972758fd2b2" providerId="LiveId" clId="{F049A4CF-87D7-51A9-B7E4-ED58385DA0DA}" dt="2026-07-27T21:00:39.369" v="3"/>
          <ac:spMkLst>
            <pc:docMk/>
            <pc:sldMk cId="0" sldId="271"/>
            <ac:spMk id="3" creationId="{00000000-0000-0000-0000-000000000000}"/>
          </ac:spMkLst>
        </pc:spChg>
        <pc:spChg chg="mod">
          <ac:chgData name="Sauparna Sarkar" userId="a26b9972758fd2b2" providerId="LiveId" clId="{F049A4CF-87D7-51A9-B7E4-ED58385DA0DA}" dt="2026-07-27T21:32:35.884" v="298"/>
          <ac:spMkLst>
            <pc:docMk/>
            <pc:sldMk cId="0" sldId="271"/>
            <ac:spMk id="4" creationId="{00000000-0000-0000-0000-000000000000}"/>
          </ac:spMkLst>
        </pc:spChg>
        <pc:spChg chg="mod">
          <ac:chgData name="Sauparna Sarkar" userId="a26b9972758fd2b2" providerId="LiveId" clId="{F049A4CF-87D7-51A9-B7E4-ED58385DA0DA}" dt="2026-07-27T21:40:48.839" v="846"/>
          <ac:spMkLst>
            <pc:docMk/>
            <pc:sldMk cId="0" sldId="271"/>
            <ac:spMk id="7" creationId="{00000000-0000-0000-0000-000000000000}"/>
          </ac:spMkLst>
        </pc:spChg>
      </pc:sldChg>
      <pc:sldChg chg="modSp mod">
        <pc:chgData name="Sauparna Sarkar" userId="a26b9972758fd2b2" providerId="LiveId" clId="{F049A4CF-87D7-51A9-B7E4-ED58385DA0DA}" dt="2026-07-27T21:40:48.840" v="850"/>
        <pc:sldMkLst>
          <pc:docMk/>
          <pc:sldMk cId="0" sldId="272"/>
        </pc:sldMkLst>
        <pc:spChg chg="mod">
          <ac:chgData name="Sauparna Sarkar" userId="a26b9972758fd2b2" providerId="LiveId" clId="{F049A4CF-87D7-51A9-B7E4-ED58385DA0DA}" dt="2026-07-27T21:32:35.885" v="299"/>
          <ac:spMkLst>
            <pc:docMk/>
            <pc:sldMk cId="0" sldId="272"/>
            <ac:spMk id="2" creationId="{00000000-0000-0000-0000-000000000000}"/>
          </ac:spMkLst>
        </pc:spChg>
        <pc:spChg chg="mod">
          <ac:chgData name="Sauparna Sarkar" userId="a26b9972758fd2b2" providerId="LiveId" clId="{F049A4CF-87D7-51A9-B7E4-ED58385DA0DA}" dt="2026-07-27T21:01:48.896" v="18" actId="27107"/>
          <ac:spMkLst>
            <pc:docMk/>
            <pc:sldMk cId="0" sldId="272"/>
            <ac:spMk id="5" creationId="{00000000-0000-0000-0000-000000000000}"/>
          </ac:spMkLst>
        </pc:spChg>
        <pc:spChg chg="mod">
          <ac:chgData name="Sauparna Sarkar" userId="a26b9972758fd2b2" providerId="LiveId" clId="{F049A4CF-87D7-51A9-B7E4-ED58385DA0DA}" dt="2026-07-27T21:40:48.840" v="850"/>
          <ac:spMkLst>
            <pc:docMk/>
            <pc:sldMk cId="0" sldId="272"/>
            <ac:spMk id="8" creationId="{00000000-0000-0000-0000-000000000000}"/>
          </ac:spMkLst>
        </pc:spChg>
      </pc:sldChg>
      <pc:sldChg chg="modSp mod">
        <pc:chgData name="Sauparna Sarkar" userId="a26b9972758fd2b2" providerId="LiveId" clId="{F049A4CF-87D7-51A9-B7E4-ED58385DA0DA}" dt="2026-07-27T21:40:48.841" v="854"/>
        <pc:sldMkLst>
          <pc:docMk/>
          <pc:sldMk cId="0" sldId="273"/>
        </pc:sldMkLst>
        <pc:spChg chg="mod">
          <ac:chgData name="Sauparna Sarkar" userId="a26b9972758fd2b2" providerId="LiveId" clId="{F049A4CF-87D7-51A9-B7E4-ED58385DA0DA}" dt="2026-07-27T21:32:35.886" v="300"/>
          <ac:spMkLst>
            <pc:docMk/>
            <pc:sldMk cId="0" sldId="273"/>
            <ac:spMk id="2" creationId="{00000000-0000-0000-0000-000000000000}"/>
          </ac:spMkLst>
        </pc:spChg>
        <pc:spChg chg="mod">
          <ac:chgData name="Sauparna Sarkar" userId="a26b9972758fd2b2" providerId="LiveId" clId="{F049A4CF-87D7-51A9-B7E4-ED58385DA0DA}" dt="2026-07-27T21:02:09.728" v="21" actId="20577"/>
          <ac:spMkLst>
            <pc:docMk/>
            <pc:sldMk cId="0" sldId="273"/>
            <ac:spMk id="3" creationId="{00000000-0000-0000-0000-000000000000}"/>
          </ac:spMkLst>
        </pc:spChg>
        <pc:spChg chg="mod">
          <ac:chgData name="Sauparna Sarkar" userId="a26b9972758fd2b2" providerId="LiveId" clId="{F049A4CF-87D7-51A9-B7E4-ED58385DA0DA}" dt="2026-07-27T21:02:42.964" v="65" actId="20577"/>
          <ac:spMkLst>
            <pc:docMk/>
            <pc:sldMk cId="0" sldId="273"/>
            <ac:spMk id="5" creationId="{00000000-0000-0000-0000-000000000000}"/>
          </ac:spMkLst>
        </pc:spChg>
        <pc:spChg chg="mod">
          <ac:chgData name="Sauparna Sarkar" userId="a26b9972758fd2b2" providerId="LiveId" clId="{F049A4CF-87D7-51A9-B7E4-ED58385DA0DA}" dt="2026-07-27T21:40:48.841" v="854"/>
          <ac:spMkLst>
            <pc:docMk/>
            <pc:sldMk cId="0" sldId="273"/>
            <ac:spMk id="8" creationId="{00000000-0000-0000-0000-000000000000}"/>
          </ac:spMkLst>
        </pc:spChg>
      </pc:sldChg>
      <pc:sldChg chg="modSp mod">
        <pc:chgData name="Sauparna Sarkar" userId="a26b9972758fd2b2" providerId="LiveId" clId="{F049A4CF-87D7-51A9-B7E4-ED58385DA0DA}" dt="2026-07-27T21:40:48.842" v="858"/>
        <pc:sldMkLst>
          <pc:docMk/>
          <pc:sldMk cId="0" sldId="274"/>
        </pc:sldMkLst>
        <pc:spChg chg="mod">
          <ac:chgData name="Sauparna Sarkar" userId="a26b9972758fd2b2" providerId="LiveId" clId="{F049A4CF-87D7-51A9-B7E4-ED58385DA0DA}" dt="2026-07-27T21:32:35.887" v="301"/>
          <ac:spMkLst>
            <pc:docMk/>
            <pc:sldMk cId="0" sldId="274"/>
            <ac:spMk id="2" creationId="{00000000-0000-0000-0000-000000000000}"/>
          </ac:spMkLst>
        </pc:spChg>
        <pc:spChg chg="mod">
          <ac:chgData name="Sauparna Sarkar" userId="a26b9972758fd2b2" providerId="LiveId" clId="{F049A4CF-87D7-51A9-B7E4-ED58385DA0DA}" dt="2026-07-27T21:40:48.842" v="858"/>
          <ac:spMkLst>
            <pc:docMk/>
            <pc:sldMk cId="0" sldId="274"/>
            <ac:spMk id="8" creationId="{00000000-0000-0000-0000-000000000000}"/>
          </ac:spMkLst>
        </pc:spChg>
      </pc:sldChg>
      <pc:sldChg chg="modSp mod">
        <pc:chgData name="Sauparna Sarkar" userId="a26b9972758fd2b2" providerId="LiveId" clId="{F049A4CF-87D7-51A9-B7E4-ED58385DA0DA}" dt="2026-07-27T21:46:23.846" v="923"/>
        <pc:sldMkLst>
          <pc:docMk/>
          <pc:sldMk cId="0" sldId="275"/>
        </pc:sldMkLst>
        <pc:spChg chg="mod">
          <ac:chgData name="Sauparna Sarkar" userId="a26b9972758fd2b2" providerId="LiveId" clId="{F049A4CF-87D7-51A9-B7E4-ED58385DA0DA}" dt="2026-07-27T21:32:35.888" v="302"/>
          <ac:spMkLst>
            <pc:docMk/>
            <pc:sldMk cId="0" sldId="275"/>
            <ac:spMk id="2" creationId="{00000000-0000-0000-0000-000000000000}"/>
          </ac:spMkLst>
        </pc:spChg>
        <pc:spChg chg="mod">
          <ac:chgData name="Sauparna Sarkar" userId="a26b9972758fd2b2" providerId="LiveId" clId="{F049A4CF-87D7-51A9-B7E4-ED58385DA0DA}" dt="2026-07-27T21:46:23.846" v="923"/>
          <ac:spMkLst>
            <pc:docMk/>
            <pc:sldMk cId="0" sldId="275"/>
            <ac:spMk id="5" creationId="{00000000-0000-0000-0000-000000000000}"/>
          </ac:spMkLst>
        </pc:spChg>
        <pc:spChg chg="mod">
          <ac:chgData name="Sauparna Sarkar" userId="a26b9972758fd2b2" providerId="LiveId" clId="{F049A4CF-87D7-51A9-B7E4-ED58385DA0DA}" dt="2026-07-27T21:40:48.843" v="862"/>
          <ac:spMkLst>
            <pc:docMk/>
            <pc:sldMk cId="0" sldId="275"/>
            <ac:spMk id="8" creationId="{00000000-0000-0000-0000-000000000000}"/>
          </ac:spMkLst>
        </pc:spChg>
      </pc:sldChg>
      <pc:sldChg chg="modSp mod">
        <pc:chgData name="Sauparna Sarkar" userId="a26b9972758fd2b2" providerId="LiveId" clId="{F049A4CF-87D7-51A9-B7E4-ED58385DA0DA}" dt="2026-07-27T21:40:48.844" v="866"/>
        <pc:sldMkLst>
          <pc:docMk/>
          <pc:sldMk cId="0" sldId="276"/>
        </pc:sldMkLst>
        <pc:spChg chg="mod">
          <ac:chgData name="Sauparna Sarkar" userId="a26b9972758fd2b2" providerId="LiveId" clId="{F049A4CF-87D7-51A9-B7E4-ED58385DA0DA}" dt="2026-07-27T21:32:35.889" v="303"/>
          <ac:spMkLst>
            <pc:docMk/>
            <pc:sldMk cId="0" sldId="276"/>
            <ac:spMk id="2" creationId="{00000000-0000-0000-0000-000000000000}"/>
          </ac:spMkLst>
        </pc:spChg>
        <pc:spChg chg="mod">
          <ac:chgData name="Sauparna Sarkar" userId="a26b9972758fd2b2" providerId="LiveId" clId="{F049A4CF-87D7-51A9-B7E4-ED58385DA0DA}" dt="2026-07-27T21:03:10.049" v="66"/>
          <ac:spMkLst>
            <pc:docMk/>
            <pc:sldMk cId="0" sldId="276"/>
            <ac:spMk id="5" creationId="{00000000-0000-0000-0000-000000000000}"/>
          </ac:spMkLst>
        </pc:spChg>
        <pc:spChg chg="mod">
          <ac:chgData name="Sauparna Sarkar" userId="a26b9972758fd2b2" providerId="LiveId" clId="{F049A4CF-87D7-51A9-B7E4-ED58385DA0DA}" dt="2026-07-27T21:40:48.844" v="866"/>
          <ac:spMkLst>
            <pc:docMk/>
            <pc:sldMk cId="0" sldId="276"/>
            <ac:spMk id="8" creationId="{00000000-0000-0000-0000-000000000000}"/>
          </ac:spMkLst>
        </pc:spChg>
      </pc:sldChg>
      <pc:sldChg chg="modSp mod">
        <pc:chgData name="Sauparna Sarkar" userId="a26b9972758fd2b2" providerId="LiveId" clId="{F049A4CF-87D7-51A9-B7E4-ED58385DA0DA}" dt="2026-07-27T21:40:48.845" v="870"/>
        <pc:sldMkLst>
          <pc:docMk/>
          <pc:sldMk cId="0" sldId="277"/>
        </pc:sldMkLst>
        <pc:spChg chg="mod">
          <ac:chgData name="Sauparna Sarkar" userId="a26b9972758fd2b2" providerId="LiveId" clId="{F049A4CF-87D7-51A9-B7E4-ED58385DA0DA}" dt="2026-07-27T21:32:35.889" v="304"/>
          <ac:spMkLst>
            <pc:docMk/>
            <pc:sldMk cId="0" sldId="277"/>
            <ac:spMk id="2" creationId="{00000000-0000-0000-0000-000000000000}"/>
          </ac:spMkLst>
        </pc:spChg>
        <pc:spChg chg="mod">
          <ac:chgData name="Sauparna Sarkar" userId="a26b9972758fd2b2" providerId="LiveId" clId="{F049A4CF-87D7-51A9-B7E4-ED58385DA0DA}" dt="2026-07-27T21:40:48.845" v="870"/>
          <ac:spMkLst>
            <pc:docMk/>
            <pc:sldMk cId="0" sldId="277"/>
            <ac:spMk id="8" creationId="{00000000-0000-0000-0000-000000000000}"/>
          </ac:spMkLst>
        </pc:spChg>
      </pc:sldChg>
      <pc:sldChg chg="modSp mod">
        <pc:chgData name="Sauparna Sarkar" userId="a26b9972758fd2b2" providerId="LiveId" clId="{F049A4CF-87D7-51A9-B7E4-ED58385DA0DA}" dt="2026-07-27T21:40:48.847" v="874"/>
        <pc:sldMkLst>
          <pc:docMk/>
          <pc:sldMk cId="0" sldId="278"/>
        </pc:sldMkLst>
        <pc:spChg chg="mod">
          <ac:chgData name="Sauparna Sarkar" userId="a26b9972758fd2b2" providerId="LiveId" clId="{F049A4CF-87D7-51A9-B7E4-ED58385DA0DA}" dt="2026-07-27T21:32:35.890" v="305"/>
          <ac:spMkLst>
            <pc:docMk/>
            <pc:sldMk cId="0" sldId="278"/>
            <ac:spMk id="2" creationId="{00000000-0000-0000-0000-000000000000}"/>
          </ac:spMkLst>
        </pc:spChg>
        <pc:spChg chg="mod">
          <ac:chgData name="Sauparna Sarkar" userId="a26b9972758fd2b2" providerId="LiveId" clId="{F049A4CF-87D7-51A9-B7E4-ED58385DA0DA}" dt="2026-07-27T21:03:44.513" v="78" actId="20577"/>
          <ac:spMkLst>
            <pc:docMk/>
            <pc:sldMk cId="0" sldId="278"/>
            <ac:spMk id="3" creationId="{00000000-0000-0000-0000-000000000000}"/>
          </ac:spMkLst>
        </pc:spChg>
        <pc:spChg chg="mod">
          <ac:chgData name="Sauparna Sarkar" userId="a26b9972758fd2b2" providerId="LiveId" clId="{F049A4CF-87D7-51A9-B7E4-ED58385DA0DA}" dt="2026-07-27T21:38:11.705" v="775" actId="20577"/>
          <ac:spMkLst>
            <pc:docMk/>
            <pc:sldMk cId="0" sldId="278"/>
            <ac:spMk id="5" creationId="{00000000-0000-0000-0000-000000000000}"/>
          </ac:spMkLst>
        </pc:spChg>
        <pc:spChg chg="mod">
          <ac:chgData name="Sauparna Sarkar" userId="a26b9972758fd2b2" providerId="LiveId" clId="{F049A4CF-87D7-51A9-B7E4-ED58385DA0DA}" dt="2026-07-27T21:40:48.847" v="874"/>
          <ac:spMkLst>
            <pc:docMk/>
            <pc:sldMk cId="0" sldId="278"/>
            <ac:spMk id="8" creationId="{00000000-0000-0000-0000-000000000000}"/>
          </ac:spMkLst>
        </pc:spChg>
      </pc:sldChg>
      <pc:sldChg chg="modSp del mod">
        <pc:chgData name="Sauparna Sarkar" userId="a26b9972758fd2b2" providerId="LiveId" clId="{F049A4CF-87D7-51A9-B7E4-ED58385DA0DA}" dt="2026-07-27T21:04:14.540" v="80" actId="2696"/>
        <pc:sldMkLst>
          <pc:docMk/>
          <pc:sldMk cId="0" sldId="279"/>
        </pc:sldMkLst>
        <pc:spChg chg="mod">
          <ac:chgData name="Sauparna Sarkar" userId="a26b9972758fd2b2" providerId="LiveId" clId="{F049A4CF-87D7-51A9-B7E4-ED58385DA0DA}" dt="2026-07-27T21:04:01.843" v="79" actId="20577"/>
          <ac:spMkLst>
            <pc:docMk/>
            <pc:sldMk cId="0" sldId="279"/>
            <ac:spMk id="3" creationId="{00000000-0000-0000-0000-000000000000}"/>
          </ac:spMkLst>
        </pc:spChg>
      </pc:sldChg>
      <pc:sldChg chg="del">
        <pc:chgData name="Sauparna Sarkar" userId="a26b9972758fd2b2" providerId="LiveId" clId="{F049A4CF-87D7-51A9-B7E4-ED58385DA0DA}" dt="2026-07-27T21:04:20.826" v="81" actId="2696"/>
        <pc:sldMkLst>
          <pc:docMk/>
          <pc:sldMk cId="0" sldId="280"/>
        </pc:sldMkLst>
      </pc:sldChg>
      <pc:sldChg chg="del">
        <pc:chgData name="Sauparna Sarkar" userId="a26b9972758fd2b2" providerId="LiveId" clId="{F049A4CF-87D7-51A9-B7E4-ED58385DA0DA}" dt="2026-07-27T21:04:26.486" v="82" actId="2696"/>
        <pc:sldMkLst>
          <pc:docMk/>
          <pc:sldMk cId="0" sldId="281"/>
        </pc:sldMkLst>
      </pc:sldChg>
      <pc:sldChg chg="modSp mod">
        <pc:chgData name="Sauparna Sarkar" userId="a26b9972758fd2b2" providerId="LiveId" clId="{F049A4CF-87D7-51A9-B7E4-ED58385DA0DA}" dt="2026-07-27T21:40:48.848" v="878"/>
        <pc:sldMkLst>
          <pc:docMk/>
          <pc:sldMk cId="0" sldId="282"/>
        </pc:sldMkLst>
        <pc:spChg chg="mod">
          <ac:chgData name="Sauparna Sarkar" userId="a26b9972758fd2b2" providerId="LiveId" clId="{F049A4CF-87D7-51A9-B7E4-ED58385DA0DA}" dt="2026-07-27T21:32:35.891" v="306"/>
          <ac:spMkLst>
            <pc:docMk/>
            <pc:sldMk cId="0" sldId="282"/>
            <ac:spMk id="2" creationId="{00000000-0000-0000-0000-000000000000}"/>
          </ac:spMkLst>
        </pc:spChg>
        <pc:spChg chg="mod">
          <ac:chgData name="Sauparna Sarkar" userId="a26b9972758fd2b2" providerId="LiveId" clId="{F049A4CF-87D7-51A9-B7E4-ED58385DA0DA}" dt="2026-07-27T21:04:40.353" v="83"/>
          <ac:spMkLst>
            <pc:docMk/>
            <pc:sldMk cId="0" sldId="282"/>
            <ac:spMk id="3" creationId="{00000000-0000-0000-0000-000000000000}"/>
          </ac:spMkLst>
        </pc:spChg>
        <pc:spChg chg="mod">
          <ac:chgData name="Sauparna Sarkar" userId="a26b9972758fd2b2" providerId="LiveId" clId="{F049A4CF-87D7-51A9-B7E4-ED58385DA0DA}" dt="2026-07-27T21:38:51.364" v="778" actId="20577"/>
          <ac:spMkLst>
            <pc:docMk/>
            <pc:sldMk cId="0" sldId="282"/>
            <ac:spMk id="4" creationId="{00000000-0000-0000-0000-000000000000}"/>
          </ac:spMkLst>
        </pc:spChg>
        <pc:spChg chg="mod">
          <ac:chgData name="Sauparna Sarkar" userId="a26b9972758fd2b2" providerId="LiveId" clId="{F049A4CF-87D7-51A9-B7E4-ED58385DA0DA}" dt="2026-07-27T21:40:48.848" v="878"/>
          <ac:spMkLst>
            <pc:docMk/>
            <pc:sldMk cId="0" sldId="282"/>
            <ac:spMk id="7" creationId="{00000000-0000-0000-0000-000000000000}"/>
          </ac:spMkLst>
        </pc:spChg>
      </pc:sldChg>
      <pc:sldChg chg="modSp mod">
        <pc:chgData name="Sauparna Sarkar" userId="a26b9972758fd2b2" providerId="LiveId" clId="{F049A4CF-87D7-51A9-B7E4-ED58385DA0DA}" dt="2026-07-27T21:40:48.849" v="882"/>
        <pc:sldMkLst>
          <pc:docMk/>
          <pc:sldMk cId="0" sldId="283"/>
        </pc:sldMkLst>
        <pc:spChg chg="mod">
          <ac:chgData name="Sauparna Sarkar" userId="a26b9972758fd2b2" providerId="LiveId" clId="{F049A4CF-87D7-51A9-B7E4-ED58385DA0DA}" dt="2026-07-27T21:38:57.581" v="780" actId="20577"/>
          <ac:spMkLst>
            <pc:docMk/>
            <pc:sldMk cId="0" sldId="283"/>
            <ac:spMk id="2" creationId="{00000000-0000-0000-0000-000000000000}"/>
          </ac:spMkLst>
        </pc:spChg>
        <pc:spChg chg="mod">
          <ac:chgData name="Sauparna Sarkar" userId="a26b9972758fd2b2" providerId="LiveId" clId="{F049A4CF-87D7-51A9-B7E4-ED58385DA0DA}" dt="2026-07-27T21:40:48.849" v="882"/>
          <ac:spMkLst>
            <pc:docMk/>
            <pc:sldMk cId="0" sldId="283"/>
            <ac:spMk id="8" creationId="{00000000-0000-0000-0000-000000000000}"/>
          </ac:spMkLst>
        </pc:spChg>
      </pc:sldChg>
      <pc:sldChg chg="del">
        <pc:chgData name="Sauparna Sarkar" userId="a26b9972758fd2b2" providerId="LiveId" clId="{F049A4CF-87D7-51A9-B7E4-ED58385DA0DA}" dt="2026-07-27T21:07:00.191" v="84" actId="2696"/>
        <pc:sldMkLst>
          <pc:docMk/>
          <pc:sldMk cId="0" sldId="284"/>
        </pc:sldMkLst>
      </pc:sldChg>
      <pc:sldChg chg="modSp mod">
        <pc:chgData name="Sauparna Sarkar" userId="a26b9972758fd2b2" providerId="LiveId" clId="{F049A4CF-87D7-51A9-B7E4-ED58385DA0DA}" dt="2026-07-27T21:40:48.850" v="886"/>
        <pc:sldMkLst>
          <pc:docMk/>
          <pc:sldMk cId="0" sldId="285"/>
        </pc:sldMkLst>
        <pc:spChg chg="mod">
          <ac:chgData name="Sauparna Sarkar" userId="a26b9972758fd2b2" providerId="LiveId" clId="{F049A4CF-87D7-51A9-B7E4-ED58385DA0DA}" dt="2026-07-27T21:39:02.119" v="782" actId="20577"/>
          <ac:spMkLst>
            <pc:docMk/>
            <pc:sldMk cId="0" sldId="285"/>
            <ac:spMk id="2" creationId="{00000000-0000-0000-0000-000000000000}"/>
          </ac:spMkLst>
        </pc:spChg>
        <pc:spChg chg="mod">
          <ac:chgData name="Sauparna Sarkar" userId="a26b9972758fd2b2" providerId="LiveId" clId="{F049A4CF-87D7-51A9-B7E4-ED58385DA0DA}" dt="2026-07-27T21:07:09.637" v="86"/>
          <ac:spMkLst>
            <pc:docMk/>
            <pc:sldMk cId="0" sldId="285"/>
            <ac:spMk id="5" creationId="{00000000-0000-0000-0000-000000000000}"/>
          </ac:spMkLst>
        </pc:spChg>
        <pc:spChg chg="mod">
          <ac:chgData name="Sauparna Sarkar" userId="a26b9972758fd2b2" providerId="LiveId" clId="{F049A4CF-87D7-51A9-B7E4-ED58385DA0DA}" dt="2026-07-27T21:40:48.850" v="886"/>
          <ac:spMkLst>
            <pc:docMk/>
            <pc:sldMk cId="0" sldId="285"/>
            <ac:spMk id="8" creationId="{00000000-0000-0000-0000-000000000000}"/>
          </ac:spMkLst>
        </pc:spChg>
      </pc:sldChg>
      <pc:sldChg chg="modSp del mod">
        <pc:chgData name="Sauparna Sarkar" userId="a26b9972758fd2b2" providerId="LiveId" clId="{F049A4CF-87D7-51A9-B7E4-ED58385DA0DA}" dt="2026-07-27T21:38:43.891" v="776" actId="2696"/>
        <pc:sldMkLst>
          <pc:docMk/>
          <pc:sldMk cId="0" sldId="286"/>
        </pc:sldMkLst>
        <pc:spChg chg="mod">
          <ac:chgData name="Sauparna Sarkar" userId="a26b9972758fd2b2" providerId="LiveId" clId="{F049A4CF-87D7-51A9-B7E4-ED58385DA0DA}" dt="2026-07-27T21:32:35.894" v="310"/>
          <ac:spMkLst>
            <pc:docMk/>
            <pc:sldMk cId="0" sldId="286"/>
            <ac:spMk id="2" creationId="{00000000-0000-0000-0000-000000000000}"/>
          </ac:spMkLst>
        </pc:spChg>
        <pc:spChg chg="mod">
          <ac:chgData name="Sauparna Sarkar" userId="a26b9972758fd2b2" providerId="LiveId" clId="{F049A4CF-87D7-51A9-B7E4-ED58385DA0DA}" dt="2026-07-27T21:07:36.707" v="95"/>
          <ac:spMkLst>
            <pc:docMk/>
            <pc:sldMk cId="0" sldId="286"/>
            <ac:spMk id="3" creationId="{00000000-0000-0000-0000-000000000000}"/>
          </ac:spMkLst>
        </pc:spChg>
        <pc:spChg chg="mod">
          <ac:chgData name="Sauparna Sarkar" userId="a26b9972758fd2b2" providerId="LiveId" clId="{F049A4CF-87D7-51A9-B7E4-ED58385DA0DA}" dt="2026-07-27T21:07:47.375" v="97"/>
          <ac:spMkLst>
            <pc:docMk/>
            <pc:sldMk cId="0" sldId="286"/>
            <ac:spMk id="5" creationId="{00000000-0000-0000-0000-000000000000}"/>
          </ac:spMkLst>
        </pc:spChg>
        <pc:spChg chg="mod">
          <ac:chgData name="Sauparna Sarkar" userId="a26b9972758fd2b2" providerId="LiveId" clId="{F049A4CF-87D7-51A9-B7E4-ED58385DA0DA}" dt="2026-07-27T21:33:07.472" v="416"/>
          <ac:spMkLst>
            <pc:docMk/>
            <pc:sldMk cId="0" sldId="286"/>
            <ac:spMk id="8" creationId="{00000000-0000-0000-0000-000000000000}"/>
          </ac:spMkLst>
        </pc:spChg>
      </pc:sldChg>
      <pc:sldChg chg="modSp mod">
        <pc:chgData name="Sauparna Sarkar" userId="a26b9972758fd2b2" providerId="LiveId" clId="{F049A4CF-87D7-51A9-B7E4-ED58385DA0DA}" dt="2026-07-27T21:40:48.851" v="890"/>
        <pc:sldMkLst>
          <pc:docMk/>
          <pc:sldMk cId="0" sldId="287"/>
        </pc:sldMkLst>
        <pc:spChg chg="mod">
          <ac:chgData name="Sauparna Sarkar" userId="a26b9972758fd2b2" providerId="LiveId" clId="{F049A4CF-87D7-51A9-B7E4-ED58385DA0DA}" dt="2026-07-27T21:39:11.181" v="786" actId="20577"/>
          <ac:spMkLst>
            <pc:docMk/>
            <pc:sldMk cId="0" sldId="287"/>
            <ac:spMk id="2" creationId="{00000000-0000-0000-0000-000000000000}"/>
          </ac:spMkLst>
        </pc:spChg>
        <pc:spChg chg="mod">
          <ac:chgData name="Sauparna Sarkar" userId="a26b9972758fd2b2" providerId="LiveId" clId="{F049A4CF-87D7-51A9-B7E4-ED58385DA0DA}" dt="2026-07-27T21:08:00.064" v="98"/>
          <ac:spMkLst>
            <pc:docMk/>
            <pc:sldMk cId="0" sldId="287"/>
            <ac:spMk id="3" creationId="{00000000-0000-0000-0000-000000000000}"/>
          </ac:spMkLst>
        </pc:spChg>
        <pc:spChg chg="mod">
          <ac:chgData name="Sauparna Sarkar" userId="a26b9972758fd2b2" providerId="LiveId" clId="{F049A4CF-87D7-51A9-B7E4-ED58385DA0DA}" dt="2026-07-27T21:08:07.140" v="99"/>
          <ac:spMkLst>
            <pc:docMk/>
            <pc:sldMk cId="0" sldId="287"/>
            <ac:spMk id="5" creationId="{00000000-0000-0000-0000-000000000000}"/>
          </ac:spMkLst>
        </pc:spChg>
        <pc:spChg chg="mod">
          <ac:chgData name="Sauparna Sarkar" userId="a26b9972758fd2b2" providerId="LiveId" clId="{F049A4CF-87D7-51A9-B7E4-ED58385DA0DA}" dt="2026-07-27T21:40:48.851" v="890"/>
          <ac:spMkLst>
            <pc:docMk/>
            <pc:sldMk cId="0" sldId="287"/>
            <ac:spMk id="8" creationId="{00000000-0000-0000-0000-000000000000}"/>
          </ac:spMkLst>
        </pc:spChg>
      </pc:sldChg>
      <pc:sldChg chg="modSp mod">
        <pc:chgData name="Sauparna Sarkar" userId="a26b9972758fd2b2" providerId="LiveId" clId="{F049A4CF-87D7-51A9-B7E4-ED58385DA0DA}" dt="2026-07-27T21:49:11.435" v="961" actId="20577"/>
        <pc:sldMkLst>
          <pc:docMk/>
          <pc:sldMk cId="0" sldId="288"/>
        </pc:sldMkLst>
        <pc:spChg chg="mod">
          <ac:chgData name="Sauparna Sarkar" userId="a26b9972758fd2b2" providerId="LiveId" clId="{F049A4CF-87D7-51A9-B7E4-ED58385DA0DA}" dt="2026-07-27T21:39:17.934" v="790" actId="20577"/>
          <ac:spMkLst>
            <pc:docMk/>
            <pc:sldMk cId="0" sldId="288"/>
            <ac:spMk id="2" creationId="{00000000-0000-0000-0000-000000000000}"/>
          </ac:spMkLst>
        </pc:spChg>
        <pc:spChg chg="mod">
          <ac:chgData name="Sauparna Sarkar" userId="a26b9972758fd2b2" providerId="LiveId" clId="{F049A4CF-87D7-51A9-B7E4-ED58385DA0DA}" dt="2026-07-27T21:08:25.979" v="102" actId="20577"/>
          <ac:spMkLst>
            <pc:docMk/>
            <pc:sldMk cId="0" sldId="288"/>
            <ac:spMk id="3" creationId="{00000000-0000-0000-0000-000000000000}"/>
          </ac:spMkLst>
        </pc:spChg>
        <pc:spChg chg="mod">
          <ac:chgData name="Sauparna Sarkar" userId="a26b9972758fd2b2" providerId="LiveId" clId="{F049A4CF-87D7-51A9-B7E4-ED58385DA0DA}" dt="2026-07-27T21:49:11.435" v="961" actId="20577"/>
          <ac:spMkLst>
            <pc:docMk/>
            <pc:sldMk cId="0" sldId="288"/>
            <ac:spMk id="5" creationId="{00000000-0000-0000-0000-000000000000}"/>
          </ac:spMkLst>
        </pc:spChg>
        <pc:spChg chg="mod">
          <ac:chgData name="Sauparna Sarkar" userId="a26b9972758fd2b2" providerId="LiveId" clId="{F049A4CF-87D7-51A9-B7E4-ED58385DA0DA}" dt="2026-07-27T21:40:48.852" v="894"/>
          <ac:spMkLst>
            <pc:docMk/>
            <pc:sldMk cId="0" sldId="288"/>
            <ac:spMk id="8" creationId="{00000000-0000-0000-0000-000000000000}"/>
          </ac:spMkLst>
        </pc:spChg>
      </pc:sldChg>
      <pc:sldChg chg="modSp mod">
        <pc:chgData name="Sauparna Sarkar" userId="a26b9972758fd2b2" providerId="LiveId" clId="{F049A4CF-87D7-51A9-B7E4-ED58385DA0DA}" dt="2026-07-27T21:40:48.854" v="898"/>
        <pc:sldMkLst>
          <pc:docMk/>
          <pc:sldMk cId="0" sldId="289"/>
        </pc:sldMkLst>
        <pc:spChg chg="mod">
          <ac:chgData name="Sauparna Sarkar" userId="a26b9972758fd2b2" providerId="LiveId" clId="{F049A4CF-87D7-51A9-B7E4-ED58385DA0DA}" dt="2026-07-27T21:39:28.310" v="794" actId="20577"/>
          <ac:spMkLst>
            <pc:docMk/>
            <pc:sldMk cId="0" sldId="289"/>
            <ac:spMk id="2" creationId="{00000000-0000-0000-0000-000000000000}"/>
          </ac:spMkLst>
        </pc:spChg>
        <pc:spChg chg="mod">
          <ac:chgData name="Sauparna Sarkar" userId="a26b9972758fd2b2" providerId="LiveId" clId="{F049A4CF-87D7-51A9-B7E4-ED58385DA0DA}" dt="2026-07-27T21:10:25.722" v="176" actId="20577"/>
          <ac:spMkLst>
            <pc:docMk/>
            <pc:sldMk cId="0" sldId="289"/>
            <ac:spMk id="5" creationId="{00000000-0000-0000-0000-000000000000}"/>
          </ac:spMkLst>
        </pc:spChg>
        <pc:spChg chg="mod">
          <ac:chgData name="Sauparna Sarkar" userId="a26b9972758fd2b2" providerId="LiveId" clId="{F049A4CF-87D7-51A9-B7E4-ED58385DA0DA}" dt="2026-07-27T21:40:48.854" v="898"/>
          <ac:spMkLst>
            <pc:docMk/>
            <pc:sldMk cId="0" sldId="289"/>
            <ac:spMk id="8" creationId="{00000000-0000-0000-0000-000000000000}"/>
          </ac:spMkLst>
        </pc:spChg>
      </pc:sldChg>
      <pc:sldChg chg="modSp mod">
        <pc:chgData name="Sauparna Sarkar" userId="a26b9972758fd2b2" providerId="LiveId" clId="{F049A4CF-87D7-51A9-B7E4-ED58385DA0DA}" dt="2026-07-27T21:40:48.855" v="902"/>
        <pc:sldMkLst>
          <pc:docMk/>
          <pc:sldMk cId="0" sldId="290"/>
        </pc:sldMkLst>
        <pc:spChg chg="mod">
          <ac:chgData name="Sauparna Sarkar" userId="a26b9972758fd2b2" providerId="LiveId" clId="{F049A4CF-87D7-51A9-B7E4-ED58385DA0DA}" dt="2026-07-27T21:32:35.896" v="314"/>
          <ac:spMkLst>
            <pc:docMk/>
            <pc:sldMk cId="0" sldId="290"/>
            <ac:spMk id="2" creationId="{00000000-0000-0000-0000-000000000000}"/>
          </ac:spMkLst>
        </pc:spChg>
        <pc:spChg chg="mod">
          <ac:chgData name="Sauparna Sarkar" userId="a26b9972758fd2b2" providerId="LiveId" clId="{F049A4CF-87D7-51A9-B7E4-ED58385DA0DA}" dt="2026-07-27T21:10:35.907" v="177"/>
          <ac:spMkLst>
            <pc:docMk/>
            <pc:sldMk cId="0" sldId="290"/>
            <ac:spMk id="3" creationId="{00000000-0000-0000-0000-000000000000}"/>
          </ac:spMkLst>
        </pc:spChg>
        <pc:spChg chg="mod">
          <ac:chgData name="Sauparna Sarkar" userId="a26b9972758fd2b2" providerId="LiveId" clId="{F049A4CF-87D7-51A9-B7E4-ED58385DA0DA}" dt="2026-07-27T21:32:35.897" v="315"/>
          <ac:spMkLst>
            <pc:docMk/>
            <pc:sldMk cId="0" sldId="290"/>
            <ac:spMk id="4" creationId="{00000000-0000-0000-0000-000000000000}"/>
          </ac:spMkLst>
        </pc:spChg>
        <pc:spChg chg="mod">
          <ac:chgData name="Sauparna Sarkar" userId="a26b9972758fd2b2" providerId="LiveId" clId="{F049A4CF-87D7-51A9-B7E4-ED58385DA0DA}" dt="2026-07-27T21:40:48.855" v="902"/>
          <ac:spMkLst>
            <pc:docMk/>
            <pc:sldMk cId="0" sldId="290"/>
            <ac:spMk id="7" creationId="{00000000-0000-0000-0000-000000000000}"/>
          </ac:spMkLst>
        </pc:spChg>
      </pc:sldChg>
      <pc:sldChg chg="modSp mod">
        <pc:chgData name="Sauparna Sarkar" userId="a26b9972758fd2b2" providerId="LiveId" clId="{F049A4CF-87D7-51A9-B7E4-ED58385DA0DA}" dt="2026-07-27T21:40:48.856" v="906"/>
        <pc:sldMkLst>
          <pc:docMk/>
          <pc:sldMk cId="0" sldId="291"/>
        </pc:sldMkLst>
        <pc:spChg chg="mod">
          <ac:chgData name="Sauparna Sarkar" userId="a26b9972758fd2b2" providerId="LiveId" clId="{F049A4CF-87D7-51A9-B7E4-ED58385DA0DA}" dt="2026-07-27T21:32:35.898" v="316"/>
          <ac:spMkLst>
            <pc:docMk/>
            <pc:sldMk cId="0" sldId="291"/>
            <ac:spMk id="2" creationId="{00000000-0000-0000-0000-000000000000}"/>
          </ac:spMkLst>
        </pc:spChg>
        <pc:spChg chg="mod">
          <ac:chgData name="Sauparna Sarkar" userId="a26b9972758fd2b2" providerId="LiveId" clId="{F049A4CF-87D7-51A9-B7E4-ED58385DA0DA}" dt="2026-07-27T21:40:48.856" v="906"/>
          <ac:spMkLst>
            <pc:docMk/>
            <pc:sldMk cId="0" sldId="291"/>
            <ac:spMk id="8" creationId="{00000000-0000-0000-0000-000000000000}"/>
          </ac:spMkLst>
        </pc:spChg>
      </pc:sldChg>
      <pc:sldChg chg="modSp mod">
        <pc:chgData name="Sauparna Sarkar" userId="a26b9972758fd2b2" providerId="LiveId" clId="{F049A4CF-87D7-51A9-B7E4-ED58385DA0DA}" dt="2026-07-27T21:40:48.857" v="910"/>
        <pc:sldMkLst>
          <pc:docMk/>
          <pc:sldMk cId="0" sldId="292"/>
        </pc:sldMkLst>
        <pc:spChg chg="mod">
          <ac:chgData name="Sauparna Sarkar" userId="a26b9972758fd2b2" providerId="LiveId" clId="{F049A4CF-87D7-51A9-B7E4-ED58385DA0DA}" dt="2026-07-27T21:32:35.898" v="317"/>
          <ac:spMkLst>
            <pc:docMk/>
            <pc:sldMk cId="0" sldId="292"/>
            <ac:spMk id="2" creationId="{00000000-0000-0000-0000-000000000000}"/>
          </ac:spMkLst>
        </pc:spChg>
        <pc:spChg chg="mod">
          <ac:chgData name="Sauparna Sarkar" userId="a26b9972758fd2b2" providerId="LiveId" clId="{F049A4CF-87D7-51A9-B7E4-ED58385DA0DA}" dt="2026-07-27T21:11:02.952" v="178"/>
          <ac:spMkLst>
            <pc:docMk/>
            <pc:sldMk cId="0" sldId="292"/>
            <ac:spMk id="3" creationId="{00000000-0000-0000-0000-000000000000}"/>
          </ac:spMkLst>
        </pc:spChg>
        <pc:spChg chg="mod">
          <ac:chgData name="Sauparna Sarkar" userId="a26b9972758fd2b2" providerId="LiveId" clId="{F049A4CF-87D7-51A9-B7E4-ED58385DA0DA}" dt="2026-07-27T21:12:55.981" v="225" actId="20577"/>
          <ac:spMkLst>
            <pc:docMk/>
            <pc:sldMk cId="0" sldId="292"/>
            <ac:spMk id="5" creationId="{00000000-0000-0000-0000-000000000000}"/>
          </ac:spMkLst>
        </pc:spChg>
        <pc:spChg chg="mod">
          <ac:chgData name="Sauparna Sarkar" userId="a26b9972758fd2b2" providerId="LiveId" clId="{F049A4CF-87D7-51A9-B7E4-ED58385DA0DA}" dt="2026-07-27T21:40:48.857" v="910"/>
          <ac:spMkLst>
            <pc:docMk/>
            <pc:sldMk cId="0" sldId="292"/>
            <ac:spMk id="8" creationId="{00000000-0000-0000-0000-000000000000}"/>
          </ac:spMkLst>
        </pc:spChg>
      </pc:sldChg>
      <pc:sldChg chg="modSp mod">
        <pc:chgData name="Sauparna Sarkar" userId="a26b9972758fd2b2" providerId="LiveId" clId="{F049A4CF-87D7-51A9-B7E4-ED58385DA0DA}" dt="2026-07-27T21:40:48.858" v="914"/>
        <pc:sldMkLst>
          <pc:docMk/>
          <pc:sldMk cId="0" sldId="293"/>
        </pc:sldMkLst>
        <pc:spChg chg="mod">
          <ac:chgData name="Sauparna Sarkar" userId="a26b9972758fd2b2" providerId="LiveId" clId="{F049A4CF-87D7-51A9-B7E4-ED58385DA0DA}" dt="2026-07-27T21:32:35.899" v="318"/>
          <ac:spMkLst>
            <pc:docMk/>
            <pc:sldMk cId="0" sldId="293"/>
            <ac:spMk id="2" creationId="{00000000-0000-0000-0000-000000000000}"/>
          </ac:spMkLst>
        </pc:spChg>
        <pc:spChg chg="mod">
          <ac:chgData name="Sauparna Sarkar" userId="a26b9972758fd2b2" providerId="LiveId" clId="{F049A4CF-87D7-51A9-B7E4-ED58385DA0DA}" dt="2026-07-27T21:13:17.011" v="226"/>
          <ac:spMkLst>
            <pc:docMk/>
            <pc:sldMk cId="0" sldId="293"/>
            <ac:spMk id="5" creationId="{00000000-0000-0000-0000-000000000000}"/>
          </ac:spMkLst>
        </pc:spChg>
        <pc:spChg chg="mod">
          <ac:chgData name="Sauparna Sarkar" userId="a26b9972758fd2b2" providerId="LiveId" clId="{F049A4CF-87D7-51A9-B7E4-ED58385DA0DA}" dt="2026-07-27T21:40:48.858" v="914"/>
          <ac:spMkLst>
            <pc:docMk/>
            <pc:sldMk cId="0" sldId="293"/>
            <ac:spMk id="8" creationId="{00000000-0000-0000-0000-000000000000}"/>
          </ac:spMkLst>
        </pc:spChg>
      </pc:sldChg>
      <pc:sldChg chg="modSp mod">
        <pc:chgData name="Sauparna Sarkar" userId="a26b9972758fd2b2" providerId="LiveId" clId="{F049A4CF-87D7-51A9-B7E4-ED58385DA0DA}" dt="2026-07-27T21:40:48.860" v="918"/>
        <pc:sldMkLst>
          <pc:docMk/>
          <pc:sldMk cId="0" sldId="294"/>
        </pc:sldMkLst>
        <pc:spChg chg="mod">
          <ac:chgData name="Sauparna Sarkar" userId="a26b9972758fd2b2" providerId="LiveId" clId="{F049A4CF-87D7-51A9-B7E4-ED58385DA0DA}" dt="2026-07-27T21:32:35.900" v="319"/>
          <ac:spMkLst>
            <pc:docMk/>
            <pc:sldMk cId="0" sldId="294"/>
            <ac:spMk id="2" creationId="{00000000-0000-0000-0000-000000000000}"/>
          </ac:spMkLst>
        </pc:spChg>
        <pc:spChg chg="mod">
          <ac:chgData name="Sauparna Sarkar" userId="a26b9972758fd2b2" providerId="LiveId" clId="{F049A4CF-87D7-51A9-B7E4-ED58385DA0DA}" dt="2026-07-27T21:13:48.159" v="237" actId="20577"/>
          <ac:spMkLst>
            <pc:docMk/>
            <pc:sldMk cId="0" sldId="294"/>
            <ac:spMk id="3" creationId="{00000000-0000-0000-0000-000000000000}"/>
          </ac:spMkLst>
        </pc:spChg>
        <pc:spChg chg="mod">
          <ac:chgData name="Sauparna Sarkar" userId="a26b9972758fd2b2" providerId="LiveId" clId="{F049A4CF-87D7-51A9-B7E4-ED58385DA0DA}" dt="2026-07-27T21:14:01.490" v="238"/>
          <ac:spMkLst>
            <pc:docMk/>
            <pc:sldMk cId="0" sldId="294"/>
            <ac:spMk id="5" creationId="{00000000-0000-0000-0000-000000000000}"/>
          </ac:spMkLst>
        </pc:spChg>
        <pc:spChg chg="mod">
          <ac:chgData name="Sauparna Sarkar" userId="a26b9972758fd2b2" providerId="LiveId" clId="{F049A4CF-87D7-51A9-B7E4-ED58385DA0DA}" dt="2026-07-27T21:40:48.860" v="918"/>
          <ac:spMkLst>
            <pc:docMk/>
            <pc:sldMk cId="0" sldId="294"/>
            <ac:spMk id="8" creationId="{00000000-0000-0000-0000-000000000000}"/>
          </ac:spMkLst>
        </pc:spChg>
      </pc:sldChg>
      <pc:sldChg chg="modSp mod">
        <pc:chgData name="Sauparna Sarkar" userId="a26b9972758fd2b2" providerId="LiveId" clId="{F049A4CF-87D7-51A9-B7E4-ED58385DA0DA}" dt="2026-07-27T21:40:48.861" v="922"/>
        <pc:sldMkLst>
          <pc:docMk/>
          <pc:sldMk cId="0" sldId="295"/>
        </pc:sldMkLst>
        <pc:spChg chg="mod">
          <ac:chgData name="Sauparna Sarkar" userId="a26b9972758fd2b2" providerId="LiveId" clId="{F049A4CF-87D7-51A9-B7E4-ED58385DA0DA}" dt="2026-07-27T21:32:35.900" v="320"/>
          <ac:spMkLst>
            <pc:docMk/>
            <pc:sldMk cId="0" sldId="295"/>
            <ac:spMk id="2" creationId="{00000000-0000-0000-0000-000000000000}"/>
          </ac:spMkLst>
        </pc:spChg>
        <pc:spChg chg="mod">
          <ac:chgData name="Sauparna Sarkar" userId="a26b9972758fd2b2" providerId="LiveId" clId="{F049A4CF-87D7-51A9-B7E4-ED58385DA0DA}" dt="2026-07-27T21:14:54.848" v="277" actId="20577"/>
          <ac:spMkLst>
            <pc:docMk/>
            <pc:sldMk cId="0" sldId="295"/>
            <ac:spMk id="5" creationId="{00000000-0000-0000-0000-000000000000}"/>
          </ac:spMkLst>
        </pc:spChg>
        <pc:spChg chg="mod">
          <ac:chgData name="Sauparna Sarkar" userId="a26b9972758fd2b2" providerId="LiveId" clId="{F049A4CF-87D7-51A9-B7E4-ED58385DA0DA}" dt="2026-07-27T21:40:48.861" v="922"/>
          <ac:spMkLst>
            <pc:docMk/>
            <pc:sldMk cId="0" sldId="295"/>
            <ac:spMk id="8" creationId="{00000000-0000-0000-0000-000000000000}"/>
          </ac:spMkLst>
        </pc:spChg>
      </pc:sldChg>
      <pc:sldChg chg="del">
        <pc:chgData name="Sauparna Sarkar" userId="a26b9972758fd2b2" providerId="LiveId" clId="{F049A4CF-87D7-51A9-B7E4-ED58385DA0DA}" dt="2026-07-27T21:15:33.940" v="278" actId="2696"/>
        <pc:sldMkLst>
          <pc:docMk/>
          <pc:sldMk cId="0" sldId="296"/>
        </pc:sldMkLst>
      </pc:sldChg>
      <pc:sldChg chg="del">
        <pc:chgData name="Sauparna Sarkar" userId="a26b9972758fd2b2" providerId="LiveId" clId="{F049A4CF-87D7-51A9-B7E4-ED58385DA0DA}" dt="2026-07-27T21:15:52.454" v="279" actId="2696"/>
        <pc:sldMkLst>
          <pc:docMk/>
          <pc:sldMk cId="0" sldId="297"/>
        </pc:sldMkLst>
      </pc:sldChg>
      <pc:sldChg chg="del">
        <pc:chgData name="Sauparna Sarkar" userId="a26b9972758fd2b2" providerId="LiveId" clId="{F049A4CF-87D7-51A9-B7E4-ED58385DA0DA}" dt="2026-07-27T21:15:57.699" v="280" actId="2696"/>
        <pc:sldMkLst>
          <pc:docMk/>
          <pc:sldMk cId="0" sldId="298"/>
        </pc:sldMkLst>
      </pc:sldChg>
      <pc:sldChg chg="del">
        <pc:chgData name="Sauparna Sarkar" userId="a26b9972758fd2b2" providerId="LiveId" clId="{F049A4CF-87D7-51A9-B7E4-ED58385DA0DA}" dt="2026-07-27T21:16:01.234" v="281" actId="2696"/>
        <pc:sldMkLst>
          <pc:docMk/>
          <pc:sldMk cId="0" sldId="299"/>
        </pc:sldMkLst>
      </pc:sldChg>
      <pc:sldChg chg="del">
        <pc:chgData name="Sauparna Sarkar" userId="a26b9972758fd2b2" providerId="LiveId" clId="{F049A4CF-87D7-51A9-B7E4-ED58385DA0DA}" dt="2026-07-27T21:16:05.453" v="282" actId="2696"/>
        <pc:sldMkLst>
          <pc:docMk/>
          <pc:sldMk cId="0" sldId="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4246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998482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052531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What the slide says:</a:t>
            </a:r>
            <a:r>
              <a:rPr lang="en-US" sz="1200" b="0" i="0" kern="1200" dirty="0">
                <a:solidFill>
                  <a:schemeClr val="tx1"/>
                </a:solidFill>
                <a:effectLst/>
                <a:latin typeface="+mn-lt"/>
                <a:ea typeface="+mn-ea"/>
                <a:cs typeface="+mn-cs"/>
              </a:rPr>
              <a:t> ETS (exponential smoothing) doesn't use predictors. It carries a small hidden state – a </a:t>
            </a:r>
            <a:r>
              <a:rPr lang="en-US" sz="1200" b="1" i="0" kern="1200" dirty="0">
                <a:solidFill>
                  <a:schemeClr val="tx1"/>
                </a:solidFill>
                <a:effectLst/>
                <a:latin typeface="+mn-lt"/>
                <a:ea typeface="+mn-ea"/>
                <a:cs typeface="+mn-cs"/>
              </a:rPr>
              <a:t>level</a:t>
            </a:r>
            <a:r>
              <a:rPr lang="en-US" sz="1200" b="0" i="0" kern="1200" dirty="0">
                <a:solidFill>
                  <a:schemeClr val="tx1"/>
                </a:solidFill>
                <a:effectLst/>
                <a:latin typeface="+mn-lt"/>
                <a:ea typeface="+mn-ea"/>
                <a:cs typeface="+mn-cs"/>
              </a:rPr>
              <a:t> and a </a:t>
            </a:r>
            <a:r>
              <a:rPr lang="en-US" sz="1200" b="1" i="0" kern="1200" dirty="0">
                <a:solidFill>
                  <a:schemeClr val="tx1"/>
                </a:solidFill>
                <a:effectLst/>
                <a:latin typeface="+mn-lt"/>
                <a:ea typeface="+mn-ea"/>
                <a:cs typeface="+mn-cs"/>
              </a:rPr>
              <a:t>trend</a:t>
            </a:r>
            <a:r>
              <a:rPr lang="en-US" sz="1200" b="0" i="0" kern="1200" dirty="0">
                <a:solidFill>
                  <a:schemeClr val="tx1"/>
                </a:solidFill>
                <a:effectLst/>
                <a:latin typeface="+mn-lt"/>
                <a:ea typeface="+mn-ea"/>
                <a:cs typeface="+mn-cs"/>
              </a:rPr>
              <a:t> - and each year's actual value nudges that state. Forecasting is just the same loop run forward with nothing to nudge it.</a:t>
            </a:r>
          </a:p>
          <a:p>
            <a:r>
              <a:rPr lang="en-US" sz="1200" b="1" i="0" kern="1200" dirty="0">
                <a:solidFill>
                  <a:schemeClr val="tx1"/>
                </a:solidFill>
                <a:effectLst/>
                <a:latin typeface="+mn-lt"/>
                <a:ea typeface="+mn-ea"/>
                <a:cs typeface="+mn-cs"/>
              </a:rPr>
              <a:t>Worked example</a:t>
            </a:r>
            <a:r>
              <a:rPr lang="en-US" sz="1200" b="0" i="0" kern="1200" dirty="0">
                <a:solidFill>
                  <a:schemeClr val="tx1"/>
                </a:solidFill>
                <a:effectLst/>
                <a:latin typeface="+mn-lt"/>
                <a:ea typeface="+mn-ea"/>
                <a:cs typeface="+mn-cs"/>
              </a:rPr>
              <a:t> - national CO₂, </a:t>
            </a:r>
            <a:r>
              <a:rPr lang="el-GR" sz="1200" b="0" i="0" kern="1200" dirty="0">
                <a:solidFill>
                  <a:schemeClr val="tx1"/>
                </a:solidFill>
                <a:effectLst/>
                <a:latin typeface="+mn-lt"/>
                <a:ea typeface="+mn-ea"/>
                <a:cs typeface="+mn-cs"/>
              </a:rPr>
              <a:t>α = 0.6, β* = 0.2, φ = 0.9.</a:t>
            </a:r>
          </a:p>
          <a:p>
            <a:r>
              <a:rPr lang="en-US" sz="1200" b="0" i="1" kern="1200" dirty="0">
                <a:solidFill>
                  <a:schemeClr val="tx1"/>
                </a:solidFill>
                <a:effectLst/>
                <a:latin typeface="+mn-lt"/>
                <a:ea typeface="+mn-ea"/>
                <a:cs typeface="+mn-cs"/>
              </a:rPr>
              <a:t>Prior state, end of 2016:</a:t>
            </a:r>
            <a:r>
              <a:rPr lang="en-US" sz="1200" b="0" i="0" kern="1200" dirty="0">
                <a:solidFill>
                  <a:schemeClr val="tx1"/>
                </a:solidFill>
                <a:effectLst/>
                <a:latin typeface="+mn-lt"/>
                <a:ea typeface="+mn-ea"/>
                <a:cs typeface="+mn-cs"/>
              </a:rPr>
              <a:t> level = 500 Mt, trend = +10 Mt/yr.</a:t>
            </a:r>
          </a:p>
          <a:p>
            <a:r>
              <a:rPr lang="en-US" sz="1200" b="1" i="0" kern="1200" dirty="0">
                <a:solidFill>
                  <a:schemeClr val="tx1"/>
                </a:solidFill>
                <a:effectLst/>
                <a:latin typeface="+mn-lt"/>
                <a:ea typeface="+mn-ea"/>
                <a:cs typeface="+mn-cs"/>
              </a:rPr>
              <a:t>Expectation for 2017</a:t>
            </a:r>
            <a:r>
              <a:rPr lang="en-US" sz="1200" b="0" i="0" kern="1200" dirty="0">
                <a:solidFill>
                  <a:schemeClr val="tx1"/>
                </a:solidFill>
                <a:effectLst/>
                <a:latin typeface="+mn-lt"/>
                <a:ea typeface="+mn-ea"/>
                <a:cs typeface="+mn-cs"/>
              </a:rPr>
              <a:t> = level + </a:t>
            </a:r>
            <a:r>
              <a:rPr lang="el-GR" sz="1200" b="0" i="0" kern="1200" dirty="0">
                <a:solidFill>
                  <a:schemeClr val="tx1"/>
                </a:solidFill>
                <a:effectLst/>
                <a:latin typeface="+mn-lt"/>
                <a:ea typeface="+mn-ea"/>
                <a:cs typeface="+mn-cs"/>
              </a:rPr>
              <a:t>φ·</a:t>
            </a:r>
            <a:r>
              <a:rPr lang="en-US" sz="1200" b="0" i="0" kern="1200" dirty="0">
                <a:solidFill>
                  <a:schemeClr val="tx1"/>
                </a:solidFill>
                <a:effectLst/>
                <a:latin typeface="+mn-lt"/>
                <a:ea typeface="+mn-ea"/>
                <a:cs typeface="+mn-cs"/>
              </a:rPr>
              <a:t>trend = 500 + 0.9(10) = </a:t>
            </a:r>
            <a:r>
              <a:rPr lang="en-US" sz="1200" b="1" i="0" kern="1200" dirty="0">
                <a:solidFill>
                  <a:schemeClr val="tx1"/>
                </a:solidFill>
                <a:effectLst/>
                <a:latin typeface="+mn-lt"/>
                <a:ea typeface="+mn-ea"/>
                <a:cs typeface="+mn-cs"/>
              </a:rPr>
              <a:t>509 Mt</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New observation:</a:t>
            </a:r>
            <a:r>
              <a:rPr lang="en-US" sz="1200" b="0" i="0" kern="1200" dirty="0">
                <a:solidFill>
                  <a:schemeClr val="tx1"/>
                </a:solidFill>
                <a:effectLst/>
                <a:latin typeface="+mn-lt"/>
                <a:ea typeface="+mn-ea"/>
                <a:cs typeface="+mn-cs"/>
              </a:rPr>
              <a:t> actual 2017 = </a:t>
            </a:r>
            <a:r>
              <a:rPr lang="en-US" sz="1200" b="1" i="0" kern="1200" dirty="0">
                <a:solidFill>
                  <a:schemeClr val="tx1"/>
                </a:solidFill>
                <a:effectLst/>
                <a:latin typeface="+mn-lt"/>
                <a:ea typeface="+mn-ea"/>
                <a:cs typeface="+mn-cs"/>
              </a:rPr>
              <a:t>505 Mt</a:t>
            </a:r>
            <a:r>
              <a:rPr lang="en-US" sz="1200" b="0" i="0" kern="1200" dirty="0">
                <a:solidFill>
                  <a:schemeClr val="tx1"/>
                </a:solidFill>
                <a:effectLst/>
                <a:latin typeface="+mn-lt"/>
                <a:ea typeface="+mn-ea"/>
                <a:cs typeface="+mn-cs"/>
              </a:rPr>
              <a:t> → error of −4</a:t>
            </a:r>
          </a:p>
          <a:p>
            <a:r>
              <a:rPr lang="en-US" sz="1200" b="1" i="0" kern="1200" dirty="0">
                <a:solidFill>
                  <a:schemeClr val="tx1"/>
                </a:solidFill>
                <a:effectLst/>
                <a:latin typeface="+mn-lt"/>
                <a:ea typeface="+mn-ea"/>
                <a:cs typeface="+mn-cs"/>
              </a:rPr>
              <a:t>Update level:</a:t>
            </a:r>
            <a:r>
              <a:rPr lang="en-US" sz="1200" b="0" i="0" kern="1200" dirty="0">
                <a:solidFill>
                  <a:schemeClr val="tx1"/>
                </a:solidFill>
                <a:effectLst/>
                <a:latin typeface="+mn-lt"/>
                <a:ea typeface="+mn-ea"/>
                <a:cs typeface="+mn-cs"/>
              </a:rPr>
              <a:t> 0.6(505) + 0.4(509) = </a:t>
            </a:r>
            <a:r>
              <a:rPr lang="en-US" sz="1200" b="1" i="0" kern="1200">
                <a:solidFill>
                  <a:schemeClr val="tx1"/>
                </a:solidFill>
                <a:effectLst/>
                <a:latin typeface="+mn-lt"/>
                <a:ea typeface="+mn-ea"/>
                <a:cs typeface="+mn-cs"/>
              </a:rPr>
              <a:t>506.6</a:t>
            </a:r>
            <a:r>
              <a:rPr lang="en-US" sz="1200" b="0" i="0" kern="1200">
                <a:solidFill>
                  <a:schemeClr val="tx1"/>
                </a:solidFill>
                <a:effectLst/>
                <a:latin typeface="+mn-lt"/>
                <a:ea typeface="+mn-ea"/>
                <a:cs typeface="+mn-cs"/>
              </a:rPr>
              <a:t> – </a:t>
            </a:r>
            <a:r>
              <a:rPr lang="en-US" sz="1200" b="0" i="0" kern="1200" dirty="0">
                <a:solidFill>
                  <a:schemeClr val="tx1"/>
                </a:solidFill>
                <a:effectLst/>
                <a:latin typeface="+mn-lt"/>
                <a:ea typeface="+mn-ea"/>
                <a:cs typeface="+mn-cs"/>
              </a:rPr>
              <a:t>pulled toward the actual, but only 60% of the way</a:t>
            </a:r>
          </a:p>
          <a:p>
            <a:r>
              <a:rPr lang="en-US" sz="1200" b="1" i="0" kern="1200" dirty="0">
                <a:solidFill>
                  <a:schemeClr val="tx1"/>
                </a:solidFill>
                <a:effectLst/>
                <a:latin typeface="+mn-lt"/>
                <a:ea typeface="+mn-ea"/>
                <a:cs typeface="+mn-cs"/>
              </a:rPr>
              <a:t>Update trend:</a:t>
            </a:r>
            <a:r>
              <a:rPr lang="en-US" sz="1200" b="0" i="0" kern="1200" dirty="0">
                <a:solidFill>
                  <a:schemeClr val="tx1"/>
                </a:solidFill>
                <a:effectLst/>
                <a:latin typeface="+mn-lt"/>
                <a:ea typeface="+mn-ea"/>
                <a:cs typeface="+mn-cs"/>
              </a:rPr>
              <a:t> 0.2(506.6 − 500) + 0.8(0.9 × 10) = 1.32 + 7.20 = </a:t>
            </a:r>
            <a:r>
              <a:rPr lang="en-US" sz="1200" b="1" i="0" kern="1200">
                <a:solidFill>
                  <a:schemeClr val="tx1"/>
                </a:solidFill>
                <a:effectLst/>
                <a:latin typeface="+mn-lt"/>
                <a:ea typeface="+mn-ea"/>
                <a:cs typeface="+mn-cs"/>
              </a:rPr>
              <a:t>8.52</a:t>
            </a:r>
            <a:r>
              <a:rPr lang="en-US" sz="1200" b="0" i="0" kern="1200">
                <a:solidFill>
                  <a:schemeClr val="tx1"/>
                </a:solidFill>
                <a:effectLst/>
                <a:latin typeface="+mn-lt"/>
                <a:ea typeface="+mn-ea"/>
                <a:cs typeface="+mn-cs"/>
              </a:rPr>
              <a:t> – </a:t>
            </a:r>
            <a:r>
              <a:rPr lang="en-US" sz="1200" b="0" i="0" kern="1200" dirty="0">
                <a:solidFill>
                  <a:schemeClr val="tx1"/>
                </a:solidFill>
                <a:effectLst/>
                <a:latin typeface="+mn-lt"/>
                <a:ea typeface="+mn-ea"/>
                <a:cs typeface="+mn-cs"/>
              </a:rPr>
              <a:t>the trend cools from 10 to 8.5 because growth undershot</a:t>
            </a:r>
          </a:p>
          <a:p>
            <a:r>
              <a:rPr lang="en-US" sz="1200" b="0" i="0" kern="1200" dirty="0">
                <a:solidFill>
                  <a:schemeClr val="tx1"/>
                </a:solidFill>
                <a:effectLst/>
                <a:latin typeface="+mn-lt"/>
                <a:ea typeface="+mn-ea"/>
                <a:cs typeface="+mn-cs"/>
              </a:rPr>
              <a:t>That's one turn of the loop, and it repeats for every year 1990 → 2018.</a:t>
            </a:r>
          </a:p>
          <a:p>
            <a:r>
              <a:rPr lang="en-US" sz="1200" b="1" i="0" kern="1200" dirty="0">
                <a:solidFill>
                  <a:schemeClr val="tx1"/>
                </a:solidFill>
                <a:effectLst/>
                <a:latin typeface="+mn-lt"/>
                <a:ea typeface="+mn-ea"/>
                <a:cs typeface="+mn-cs"/>
              </a:rPr>
              <a:t>Then the forecast box:</a:t>
            </a:r>
            <a:r>
              <a:rPr lang="en-US" sz="1200" b="0" i="0" kern="1200" dirty="0">
                <a:solidFill>
                  <a:schemeClr val="tx1"/>
                </a:solidFill>
                <a:effectLst/>
                <a:latin typeface="+mn-lt"/>
                <a:ea typeface="+mn-ea"/>
                <a:cs typeface="+mn-cs"/>
              </a:rPr>
              <a:t> past 2018 there are no more actuals, so steps 1–4 collapse into step 1 alone. The state freezes and only the damped trend propagates:</a:t>
            </a:r>
          </a:p>
          <a:p>
            <a:r>
              <a:rPr lang="en-US" sz="1200" b="0" i="0" kern="1200" dirty="0">
                <a:solidFill>
                  <a:schemeClr val="tx1"/>
                </a:solidFill>
                <a:effectLst/>
                <a:latin typeface="+mn-lt"/>
                <a:ea typeface="+mn-ea"/>
                <a:cs typeface="+mn-cs"/>
              </a:rPr>
              <a:t>2019: 506.6 + 0.9(8.52) = 514.3</a:t>
            </a:r>
          </a:p>
          <a:p>
            <a:r>
              <a:rPr lang="en-US" sz="1200" b="0" i="0" kern="1200" dirty="0">
                <a:solidFill>
                  <a:schemeClr val="tx1"/>
                </a:solidFill>
                <a:effectLst/>
                <a:latin typeface="+mn-lt"/>
                <a:ea typeface="+mn-ea"/>
                <a:cs typeface="+mn-cs"/>
              </a:rPr>
              <a:t>2020: 506.6 + (0.9 + 0.81)(8.52) = 521.2</a:t>
            </a:r>
          </a:p>
          <a:p>
            <a:r>
              <a:rPr lang="en-US" sz="1200" b="0" i="0" kern="1200" dirty="0">
                <a:solidFill>
                  <a:schemeClr val="tx1"/>
                </a:solidFill>
                <a:effectLst/>
                <a:latin typeface="+mn-lt"/>
                <a:ea typeface="+mn-ea"/>
                <a:cs typeface="+mn-cs"/>
              </a:rPr>
              <a:t>2021: 506.6 + (0.9 + 0.81 + 0.729)(8.52) = 527.4</a:t>
            </a:r>
          </a:p>
          <a:p>
            <a:r>
              <a:rPr lang="en-US" sz="1200" b="0" i="0" kern="1200" dirty="0">
                <a:solidFill>
                  <a:schemeClr val="tx1"/>
                </a:solidFill>
                <a:effectLst/>
                <a:latin typeface="+mn-lt"/>
                <a:ea typeface="+mn-ea"/>
                <a:cs typeface="+mn-cs"/>
              </a:rPr>
              <a:t>Increments shrink each year (+7.7, +6.9, +6.2) and the curve flattens toward a ceiling of about 583 Mt. That's what </a:t>
            </a:r>
            <a:r>
              <a:rPr lang="el-GR" sz="1200" b="0" i="0" kern="1200" dirty="0">
                <a:solidFill>
                  <a:schemeClr val="tx1"/>
                </a:solidFill>
                <a:effectLst/>
                <a:latin typeface="+mn-lt"/>
                <a:ea typeface="+mn-ea"/>
                <a:cs typeface="+mn-cs"/>
              </a:rPr>
              <a:t>φ </a:t>
            </a:r>
            <a:r>
              <a:rPr lang="en-US" sz="1200" b="0" i="0" kern="1200" dirty="0">
                <a:solidFill>
                  <a:schemeClr val="tx1"/>
                </a:solidFill>
                <a:effectLst/>
                <a:latin typeface="+mn-lt"/>
                <a:ea typeface="+mn-ea"/>
                <a:cs typeface="+mn-cs"/>
              </a:rPr>
              <a:t>buys </a:t>
            </a:r>
            <a:r>
              <a:rPr lang="en-US" sz="1200" b="0" i="0" kern="1200">
                <a:solidFill>
                  <a:schemeClr val="tx1"/>
                </a:solidFill>
                <a:effectLst/>
                <a:latin typeface="+mn-lt"/>
                <a:ea typeface="+mn-ea"/>
                <a:cs typeface="+mn-cs"/>
              </a:rPr>
              <a:t>you – </a:t>
            </a:r>
            <a:r>
              <a:rPr lang="en-US" sz="1200" b="0" i="0" kern="1200" dirty="0">
                <a:solidFill>
                  <a:schemeClr val="tx1"/>
                </a:solidFill>
                <a:effectLst/>
                <a:latin typeface="+mn-lt"/>
                <a:ea typeface="+mn-ea"/>
                <a:cs typeface="+mn-cs"/>
              </a:rPr>
              <a:t>a straight-line trend extrapolated 30 years out would be absurd; the damping makes the projection level off.</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391871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541"/>
        </a:solidFill>
        <a:effectLst/>
      </p:bgPr>
    </p:bg>
    <p:spTree>
      <p:nvGrpSpPr>
        <p:cNvPr id="1" name=""/>
        <p:cNvGrpSpPr/>
        <p:nvPr/>
      </p:nvGrpSpPr>
      <p:grpSpPr>
        <a:xfrm>
          <a:off x="0" y="0"/>
          <a:ext cx="0" cy="0"/>
          <a:chOff x="0" y="0"/>
          <a:chExt cx="0" cy="0"/>
        </a:xfrm>
      </p:grpSpPr>
      <p:sp>
        <p:nvSpPr>
          <p:cNvPr id="3" name="Text 0"/>
          <p:cNvSpPr/>
          <p:nvPr/>
        </p:nvSpPr>
        <p:spPr>
          <a:xfrm>
            <a:off x="914400" y="2788920"/>
            <a:ext cx="10362895" cy="822960"/>
          </a:xfrm>
          <a:prstGeom prst="rect">
            <a:avLst/>
          </a:prstGeom>
          <a:noFill/>
          <a:ln/>
        </p:spPr>
        <p:txBody>
          <a:bodyPr wrap="square" lIns="0" tIns="0" rIns="0" bIns="0" rtlCol="0" anchor="ctr"/>
          <a:lstStyle/>
          <a:p>
            <a:pPr marL="0" indent="0" algn="ctr">
              <a:buNone/>
            </a:pPr>
            <a:r>
              <a:rPr lang="en-US" sz="3200" b="1" dirty="0">
                <a:solidFill>
                  <a:srgbClr val="FFFFFF"/>
                </a:solidFill>
                <a:latin typeface="Arial" pitchFamily="34" charset="0"/>
                <a:ea typeface="Arial" pitchFamily="34" charset="-122"/>
                <a:cs typeface="Arial" pitchFamily="34" charset="-120"/>
              </a:rPr>
              <a:t>GHG Emissions Analysis Internship Project</a:t>
            </a:r>
            <a:endParaRPr lang="en-US" sz="3200" dirty="0"/>
          </a:p>
        </p:txBody>
      </p:sp>
      <p:sp>
        <p:nvSpPr>
          <p:cNvPr id="4" name="Text 1"/>
          <p:cNvSpPr/>
          <p:nvPr/>
        </p:nvSpPr>
        <p:spPr>
          <a:xfrm>
            <a:off x="914400" y="3429000"/>
            <a:ext cx="10362895" cy="502920"/>
          </a:xfrm>
          <a:prstGeom prst="rect">
            <a:avLst/>
          </a:prstGeom>
          <a:noFill/>
          <a:ln/>
        </p:spPr>
        <p:txBody>
          <a:bodyPr wrap="square" lIns="0" tIns="0" rIns="0" bIns="0" rtlCol="0" anchor="ctr"/>
          <a:lstStyle/>
          <a:p>
            <a:pPr marL="0" indent="0" algn="ctr">
              <a:buNone/>
            </a:pPr>
            <a:r>
              <a:rPr lang="en-US" sz="1800" dirty="0">
                <a:solidFill>
                  <a:srgbClr val="00B8D9"/>
                </a:solidFill>
                <a:latin typeface="Arial" pitchFamily="34" charset="0"/>
                <a:ea typeface="Arial" pitchFamily="34" charset="-122"/>
                <a:cs typeface="Arial" pitchFamily="34" charset="-120"/>
              </a:rPr>
              <a:t>Final Presentation – Review and Q&amp;A</a:t>
            </a:r>
            <a:endParaRPr lang="en-US" sz="1800" dirty="0"/>
          </a:p>
        </p:txBody>
      </p:sp>
      <p:sp>
        <p:nvSpPr>
          <p:cNvPr id="5" name="Text 2"/>
          <p:cNvSpPr/>
          <p:nvPr/>
        </p:nvSpPr>
        <p:spPr>
          <a:xfrm>
            <a:off x="914400" y="3977640"/>
            <a:ext cx="10362895" cy="365760"/>
          </a:xfrm>
          <a:prstGeom prst="rect">
            <a:avLst/>
          </a:prstGeom>
          <a:noFill/>
          <a:ln/>
        </p:spPr>
        <p:txBody>
          <a:bodyPr wrap="square" lIns="0" tIns="0" rIns="0" bIns="0" rtlCol="0" anchor="ctr"/>
          <a:lstStyle/>
          <a:p>
            <a:pPr marL="0" indent="0" algn="ctr">
              <a:buNone/>
            </a:pPr>
            <a:r>
              <a:rPr lang="en-US" sz="1300" dirty="0">
                <a:solidFill>
                  <a:srgbClr val="8A98A3"/>
                </a:solidFill>
                <a:latin typeface="Arial" pitchFamily="34" charset="0"/>
                <a:ea typeface="Arial" pitchFamily="34" charset="-122"/>
                <a:cs typeface="Arial" pitchFamily="34" charset="-120"/>
              </a:rPr>
              <a:t>10-Country Baseline Analysis  ·  Weeks 1–5  ·  Jupyter Notebook Focus</a:t>
            </a:r>
            <a:endParaRPr lang="en-US" sz="1300" dirty="0"/>
          </a:p>
        </p:txBody>
      </p:sp>
      <p:sp>
        <p:nvSpPr>
          <p:cNvPr id="6" name="Text 3"/>
          <p:cNvSpPr/>
          <p:nvPr/>
        </p:nvSpPr>
        <p:spPr>
          <a:xfrm>
            <a:off x="914400" y="5806440"/>
            <a:ext cx="10362895" cy="365760"/>
          </a:xfrm>
          <a:prstGeom prst="rect">
            <a:avLst/>
          </a:prstGeom>
          <a:noFill/>
          <a:ln/>
        </p:spPr>
        <p:txBody>
          <a:bodyPr wrap="square" lIns="0" tIns="0" rIns="0" bIns="0" rtlCol="0" anchor="ctr"/>
          <a:lstStyle/>
          <a:p>
            <a:pPr marL="0" indent="0" algn="ctr">
              <a:buNone/>
            </a:pPr>
            <a:r>
              <a:rPr lang="en-US" sz="1100" dirty="0">
                <a:solidFill>
                  <a:srgbClr val="8A98A3"/>
                </a:solidFill>
                <a:latin typeface="Arial" pitchFamily="34" charset="0"/>
                <a:ea typeface="Arial" pitchFamily="34" charset="-122"/>
                <a:cs typeface="Arial" pitchFamily="34" charset="-120"/>
              </a:rPr>
              <a:t>IDEAS TIH Summer Internship 2026  ·  Mentor Review Deck</a:t>
            </a:r>
            <a:endParaRPr lang="en-US" sz="1100" dirty="0"/>
          </a:p>
        </p:txBody>
      </p:sp>
      <p:pic>
        <p:nvPicPr>
          <p:cNvPr id="7" name="Image 1" descr="logo_small.png"/>
          <p:cNvPicPr>
            <a:picLocks noChangeAspect="1"/>
          </p:cNvPicPr>
          <p:nvPr/>
        </p:nvPicPr>
        <p:blipFill>
          <a:blip r:embed="rId3"/>
          <a:stretch>
            <a:fillRect/>
          </a:stretch>
        </p:blipFill>
        <p:spPr>
          <a:xfrm>
            <a:off x="457200" y="6291072"/>
            <a:ext cx="292608" cy="292608"/>
          </a:xfrm>
          <a:prstGeom prst="rect">
            <a:avLst/>
          </a:prstGeom>
        </p:spPr>
      </p:pic>
      <p:sp>
        <p:nvSpPr>
          <p:cNvPr id="8"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FFFFFF"/>
                </a:solidFill>
                <a:latin typeface="Arial" pitchFamily="34" charset="0"/>
                <a:ea typeface="Arial" pitchFamily="34" charset="-122"/>
                <a:cs typeface="Arial" pitchFamily="34" charset="-120"/>
              </a:rPr>
              <a:t>SYENA</a:t>
            </a:r>
            <a:endParaRPr lang="en-US" sz="900" dirty="0"/>
          </a:p>
        </p:txBody>
      </p:sp>
      <p:sp>
        <p:nvSpPr>
          <p:cNvPr id="9"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 of 19</a:t>
            </a:r>
            <a:endParaRPr lang="en-US" sz="900" dirty="0">
              <a:solidFill>
                <a:srgbClr val="8A98A3"/>
              </a:solidFill>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PROJECT OVERVIEW</a:t>
            </a:r>
            <a:endParaRPr lang="en-US" sz="1200" dirty="0"/>
          </a:p>
        </p:txBody>
      </p:sp>
      <p:sp>
        <p:nvSpPr>
          <p:cNvPr id="3" name="Text 1"/>
          <p:cNvSpPr/>
          <p:nvPr/>
        </p:nvSpPr>
        <p:spPr>
          <a:xfrm>
            <a:off x="640080" y="777240"/>
            <a:ext cx="10911535" cy="548640"/>
          </a:xfrm>
          <a:prstGeom prst="rect">
            <a:avLst/>
          </a:prstGeom>
          <a:noFill/>
          <a:ln/>
        </p:spPr>
        <p:txBody>
          <a:bodyPr wrap="square" lIns="0" tIns="0" rIns="0" bIns="0" rtlCol="0" anchor="t"/>
          <a:lstStyle/>
          <a:p>
            <a:pPr marL="0" indent="0" algn="l">
              <a:buNone/>
            </a:pPr>
            <a:r>
              <a:rPr lang="en-US" sz="2400" b="1" dirty="0">
                <a:solidFill>
                  <a:srgbClr val="213541"/>
                </a:solidFill>
                <a:latin typeface="Arial" pitchFamily="34" charset="0"/>
                <a:ea typeface="Arial" pitchFamily="34" charset="-122"/>
                <a:cs typeface="Arial" pitchFamily="34" charset="-120"/>
              </a:rPr>
              <a:t>Objectives &amp; Scope</a:t>
            </a:r>
            <a:endParaRPr lang="en-US" sz="2400" dirty="0"/>
          </a:p>
        </p:txBody>
      </p:sp>
      <p:sp>
        <p:nvSpPr>
          <p:cNvPr id="4" name="Label"/>
          <p:cNvSpPr/>
          <p:nvPr/>
        </p:nvSpPr>
        <p:spPr>
          <a:xfrm>
            <a:off x="640080" y="1500000"/>
            <a:ext cx="10911535" cy="228600"/>
          </a:xfrm>
          <a:prstGeom prst="rect">
            <a:avLst/>
          </a:prstGeom>
          <a:noFill/>
          <a:ln/>
        </p:spPr>
        <p:txBody>
          <a:bodyPr wrap="square" lIns="0" tIns="0" rIns="0" bIns="0" rtlCol="0" anchor="ctr"/>
          <a:lstStyle/>
          <a:p>
            <a:pPr marL="0" indent="0">
              <a:buNone/>
            </a:pPr>
            <a:r>
              <a:rPr lang="en-US" sz="1000" b="1" kern="0" spc="150" dirty="0">
                <a:solidFill>
                  <a:srgbClr val="00B8D9"/>
                </a:solidFill>
                <a:latin typeface="Arial" pitchFamily="34" charset="0"/>
              </a:rPr>
              <a:t>PRIMARY OBJECTIVE</a:t>
            </a:r>
            <a:endParaRPr lang="en-US" sz="1000" dirty="0"/>
          </a:p>
        </p:txBody>
      </p:sp>
      <p:sp>
        <p:nvSpPr>
          <p:cNvPr id="5" name="Para"/>
          <p:cNvSpPr/>
          <p:nvPr/>
        </p:nvSpPr>
        <p:spPr>
          <a:xfrm>
            <a:off x="640080" y="1788600"/>
            <a:ext cx="10911535" cy="850000"/>
          </a:xfrm>
          <a:prstGeom prst="rect">
            <a:avLst/>
          </a:prstGeom>
          <a:noFill/>
          <a:ln/>
        </p:spPr>
        <p:txBody>
          <a:bodyPr wrap="square" lIns="0" tIns="0" rIns="0" bIns="0" rtlCol="0" anchor="t"/>
          <a:lstStyle/>
          <a:p>
            <a:pPr marL="0" indent="0" algn="l">
              <a:lnSpc>
                <a:spcPct val="122000"/>
              </a:lnSpc>
              <a:buNone/>
            </a:pPr>
            <a:r>
              <a:rPr lang="en-US" sz="1500" dirty="0">
                <a:solidFill>
                  <a:srgbClr val="213541"/>
                </a:solidFill>
                <a:latin typeface="Arial" pitchFamily="34" charset="0"/>
                <a:ea typeface="Arial" pitchFamily="34" charset="-122"/>
                <a:cs typeface="Arial" pitchFamily="34" charset="-120"/>
              </a:rPr>
              <a:t>Build an end-to-end analytical project that ingests open Greenhouse Gas (GHG) emissions datasets, performs exploratory data analysis, trains forecasting models to project future emissions, and assembles findings into a well-documented Jupyter Notebook and an optional interactive Streamlit dashboard.</a:t>
            </a:r>
            <a:endParaRPr lang="en-US" sz="1500" dirty="0"/>
          </a:p>
        </p:txBody>
      </p:sp>
      <p:sp>
        <p:nvSpPr>
          <p:cNvPr id="6" name="Label"/>
          <p:cNvSpPr/>
          <p:nvPr/>
        </p:nvSpPr>
        <p:spPr>
          <a:xfrm>
            <a:off x="640080" y="2868600"/>
            <a:ext cx="10911535" cy="228600"/>
          </a:xfrm>
          <a:prstGeom prst="rect">
            <a:avLst/>
          </a:prstGeom>
          <a:noFill/>
          <a:ln/>
        </p:spPr>
        <p:txBody>
          <a:bodyPr wrap="square" lIns="0" tIns="0" rIns="0" bIns="0" rtlCol="0" anchor="ctr"/>
          <a:lstStyle/>
          <a:p>
            <a:pPr marL="0" indent="0">
              <a:buNone/>
            </a:pPr>
            <a:r>
              <a:rPr lang="en-US" sz="1000" b="1" kern="0" spc="150" dirty="0">
                <a:solidFill>
                  <a:srgbClr val="00B8D9"/>
                </a:solidFill>
                <a:latin typeface="Arial" pitchFamily="34" charset="0"/>
              </a:rPr>
              <a:t>SCOPE NOTE</a:t>
            </a:r>
            <a:endParaRPr lang="en-US" sz="1000" dirty="0"/>
          </a:p>
        </p:txBody>
      </p:sp>
      <p:sp>
        <p:nvSpPr>
          <p:cNvPr id="7" name="Para"/>
          <p:cNvSpPr/>
          <p:nvPr/>
        </p:nvSpPr>
        <p:spPr>
          <a:xfrm>
            <a:off x="640080" y="3157200"/>
            <a:ext cx="10911535" cy="1130000"/>
          </a:xfrm>
          <a:prstGeom prst="rect">
            <a:avLst/>
          </a:prstGeom>
          <a:noFill/>
          <a:ln/>
        </p:spPr>
        <p:txBody>
          <a:bodyPr wrap="square" lIns="0" tIns="0" rIns="0" bIns="0" rtlCol="0" anchor="t"/>
          <a:lstStyle/>
          <a:p>
            <a:pPr marL="0" indent="0" algn="l">
              <a:lnSpc>
                <a:spcPct val="122000"/>
              </a:lnSpc>
              <a:buNone/>
            </a:pPr>
            <a:r>
              <a:rPr lang="en-US" sz="1500" dirty="0">
                <a:solidFill>
                  <a:srgbClr val="213541"/>
                </a:solidFill>
                <a:latin typeface="Arial" pitchFamily="34" charset="0"/>
                <a:ea typeface="Arial" pitchFamily="34" charset="-122"/>
                <a:cs typeface="Arial" pitchFamily="34" charset="-120"/>
              </a:rPr>
              <a:t>This project deliberately focused on classical machine learning and time-series methods – specifically regression models and Holt's Damped Trend (ETS) forecasting. These approaches are well-suited to structured tabular data and annual time-series with a limited number of data points and provide a solid foundation before exploring more complex techniques such as deep learning or LLMs.</a:t>
            </a:r>
            <a:endParaRPr lang="en-US" sz="1500" dirty="0"/>
          </a:p>
        </p:txBody>
      </p:sp>
      <p:sp>
        <p:nvSpPr>
          <p:cNvPr id="8" name="Callout"/>
          <p:cNvSpPr/>
          <p:nvPr/>
        </p:nvSpPr>
        <p:spPr>
          <a:xfrm>
            <a:off x="640080" y="4547200"/>
            <a:ext cx="10911535" cy="1005840"/>
          </a:xfrm>
          <a:prstGeom prst="roundRect">
            <a:avLst>
              <a:gd name="adj" fmla="val 6000"/>
            </a:avLst>
          </a:prstGeom>
          <a:solidFill>
            <a:srgbClr val="EAF9FB"/>
          </a:solidFill>
          <a:ln w="12700">
            <a:solidFill>
              <a:srgbClr val="00B8D9"/>
            </a:solidFill>
          </a:ln>
        </p:spPr>
        <p:txBody>
          <a:bodyPr wrap="square" lIns="320040" tIns="137160" rIns="320040" bIns="137160" rtlCol="0" anchor="ctr"/>
          <a:lstStyle/>
          <a:p>
            <a:pPr marL="0" indent="0" algn="l">
              <a:lnSpc>
                <a:spcPct val="126000"/>
              </a:lnSpc>
              <a:buNone/>
            </a:pPr>
            <a:r>
              <a:rPr lang="en-US" sz="1500" b="1" dirty="0">
                <a:solidFill>
                  <a:srgbClr val="213541"/>
                </a:solidFill>
                <a:latin typeface="Arial" pitchFamily="34" charset="0"/>
              </a:rPr>
              <a:t>The goal was not an accurate GHG prediction or the "best" model. </a:t>
            </a:r>
            <a:r>
              <a:rPr lang="en-US" sz="1500" dirty="0">
                <a:solidFill>
                  <a:srgbClr val="213541"/>
                </a:solidFill>
                <a:latin typeface="Arial" pitchFamily="34" charset="0"/>
              </a:rPr>
              <a:t>It was to understand the methodology and practices – how to frame the problem, engineer features, evaluate honestly, and reason about a model's limitations.</a:t>
            </a:r>
            <a:endParaRPr lang="en-US" sz="1500" dirty="0"/>
          </a:p>
        </p:txBody>
      </p:sp>
      <p:pic>
        <p:nvPicPr>
          <p:cNvPr id="18"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19" name="Text 16"/>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20" name="Text 17"/>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2 of 19</a:t>
            </a:r>
            <a:endParaRPr lang="en-US" sz="900" dirty="0">
              <a:solidFill>
                <a:srgbClr val="8A98A3"/>
              </a:solidFill>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213541"/>
        </a:solidFill>
        <a:effectLst/>
      </p:bgPr>
    </p:bg>
    <p:spTree>
      <p:nvGrpSpPr>
        <p:cNvPr id="1" name=""/>
        <p:cNvGrpSpPr/>
        <p:nvPr/>
      </p:nvGrpSpPr>
      <p:grpSpPr>
        <a:xfrm>
          <a:off x="0" y="0"/>
          <a:ext cx="0" cy="0"/>
          <a:chOff x="0" y="0"/>
          <a:chExt cx="0" cy="0"/>
        </a:xfrm>
      </p:grpSpPr>
      <p:sp>
        <p:nvSpPr>
          <p:cNvPr id="2" name="Text 0"/>
          <p:cNvSpPr/>
          <p:nvPr/>
        </p:nvSpPr>
        <p:spPr>
          <a:xfrm>
            <a:off x="914400" y="2514600"/>
            <a:ext cx="10362895" cy="365760"/>
          </a:xfrm>
          <a:prstGeom prst="rect">
            <a:avLst/>
          </a:prstGeom>
          <a:noFill/>
          <a:ln/>
        </p:spPr>
        <p:txBody>
          <a:bodyPr wrap="square" lIns="0" tIns="0" rIns="0" bIns="0" rtlCol="0" anchor="ctr"/>
          <a:lstStyle/>
          <a:p>
            <a:pPr marL="0" indent="0" algn="ctr">
              <a:buNone/>
            </a:pPr>
            <a:r>
              <a:rPr lang="en-US" sz="1300" b="1" kern="0" spc="200">
                <a:solidFill>
                  <a:srgbClr val="00B8D9"/>
                </a:solidFill>
                <a:latin typeface="Arial" pitchFamily="34" charset="0"/>
                <a:ea typeface="Arial" pitchFamily="34" charset="-122"/>
                <a:cs typeface="Arial" pitchFamily="34" charset="-120"/>
              </a:rPr>
              <a:t>SECTION 1 OF 5</a:t>
            </a:r>
            <a:endParaRPr lang="en-US" sz="1300" dirty="0"/>
          </a:p>
        </p:txBody>
      </p:sp>
      <p:sp>
        <p:nvSpPr>
          <p:cNvPr id="3" name="Text 1"/>
          <p:cNvSpPr/>
          <p:nvPr/>
        </p:nvSpPr>
        <p:spPr>
          <a:xfrm>
            <a:off x="914400" y="2880360"/>
            <a:ext cx="10362895" cy="118872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Week 1 – Data Loading, Profiling &amp; EDA</a:t>
            </a:r>
            <a:endParaRPr lang="en-US" sz="3400" dirty="0"/>
          </a:p>
        </p:txBody>
      </p:sp>
      <p:sp>
        <p:nvSpPr>
          <p:cNvPr id="4" name="Text 2"/>
          <p:cNvSpPr/>
          <p:nvPr/>
        </p:nvSpPr>
        <p:spPr>
          <a:xfrm>
            <a:off x="914400" y="4069080"/>
            <a:ext cx="10362895" cy="365760"/>
          </a:xfrm>
          <a:prstGeom prst="rect">
            <a:avLst/>
          </a:prstGeom>
          <a:noFill/>
          <a:ln/>
        </p:spPr>
        <p:txBody>
          <a:bodyPr wrap="square" lIns="0" tIns="0" rIns="0" bIns="0" rtlCol="0" anchor="ctr"/>
          <a:lstStyle/>
          <a:p>
            <a:pPr marL="0" indent="0" algn="ctr">
              <a:buNone/>
            </a:pPr>
            <a:r>
              <a:rPr lang="en-US" sz="1400" dirty="0">
                <a:solidFill>
                  <a:srgbClr val="8A98A3"/>
                </a:solidFill>
                <a:latin typeface="Arial" pitchFamily="34" charset="0"/>
                <a:ea typeface="Arial" pitchFamily="34" charset="-122"/>
                <a:cs typeface="Arial" pitchFamily="34" charset="-120"/>
              </a:rPr>
              <a:t>Review &amp; Questions</a:t>
            </a:r>
            <a:endParaRPr lang="en-US" sz="1400" dirty="0"/>
          </a:p>
        </p:txBody>
      </p:sp>
      <p:pic>
        <p:nvPicPr>
          <p:cNvPr id="5"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6" name="Text 3"/>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FFFFFF"/>
                </a:solidFill>
                <a:latin typeface="Arial" pitchFamily="34" charset="0"/>
                <a:ea typeface="Arial" pitchFamily="34" charset="-122"/>
                <a:cs typeface="Arial" pitchFamily="34" charset="-120"/>
              </a:rPr>
              <a:t>SYENA</a:t>
            </a:r>
            <a:endParaRPr lang="en-US" sz="900" dirty="0"/>
          </a:p>
        </p:txBody>
      </p:sp>
      <p:sp>
        <p:nvSpPr>
          <p:cNvPr id="7" name="Text 4"/>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3 of 19</a:t>
            </a:r>
            <a:endParaRPr lang="en-US" sz="900" dirty="0">
              <a:solidFill>
                <a:srgbClr val="8A98A3"/>
              </a:solidFill>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1  ·  REVIEW</a:t>
            </a:r>
            <a:endParaRPr lang="en-US" sz="1200" dirty="0"/>
          </a:p>
        </p:txBody>
      </p:sp>
      <p:sp>
        <p:nvSpPr>
          <p:cNvPr id="3" name="Text 1"/>
          <p:cNvSpPr/>
          <p:nvPr/>
        </p:nvSpPr>
        <p:spPr>
          <a:xfrm>
            <a:off x="640080" y="868680"/>
            <a:ext cx="10911535" cy="1280160"/>
          </a:xfrm>
          <a:prstGeom prst="rect">
            <a:avLst/>
          </a:prstGeom>
          <a:noFill/>
          <a:ln/>
        </p:spPr>
        <p:txBody>
          <a:bodyPr wrap="square" lIns="0" tIns="0" rIns="0" bIns="0" rtlCol="0" anchor="t"/>
          <a:lstStyle/>
          <a:p>
            <a:pPr marL="0" indent="0" algn="l">
              <a:lnSpc>
                <a:spcPct val="112000"/>
              </a:lnSpc>
              <a:buNone/>
            </a:pPr>
            <a:r>
              <a:rPr lang="en-US" sz="2700" b="1" dirty="0">
                <a:solidFill>
                  <a:srgbClr val="213541"/>
                </a:solidFill>
                <a:latin typeface="Arial" pitchFamily="34" charset="0"/>
                <a:ea typeface="Arial" pitchFamily="34" charset="-122"/>
                <a:cs typeface="Arial" pitchFamily="34" charset="-120"/>
              </a:rPr>
              <a:t>Key Lessons – EDA &amp; Data Engineering</a:t>
            </a:r>
            <a:endParaRPr lang="en-US" sz="2700" dirty="0"/>
          </a:p>
        </p:txBody>
      </p:sp>
      <p:sp>
        <p:nvSpPr>
          <p:cNvPr id="4" name="Text 2"/>
          <p:cNvSpPr/>
          <p:nvPr/>
        </p:nvSpPr>
        <p:spPr>
          <a:xfrm>
            <a:off x="640080" y="219456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Source: EDA &amp; Data Engineering curriculum doc</a:t>
            </a:r>
            <a:endParaRPr lang="en-US" sz="1100" dirty="0"/>
          </a:p>
        </p:txBody>
      </p:sp>
      <p:sp>
        <p:nvSpPr>
          <p:cNvPr id="5" name="AnswerBox"/>
          <p:cNvSpPr/>
          <p:nvPr/>
        </p:nvSpPr>
        <p:spPr>
          <a:xfrm>
            <a:off x="640080" y="2606040"/>
            <a:ext cx="10911535" cy="3474720"/>
          </a:xfrm>
          <a:prstGeom prst="roundRect">
            <a:avLst>
              <a:gd name="adj" fmla="val 2105"/>
            </a:avLst>
          </a:prstGeom>
          <a:solidFill>
            <a:srgbClr val="EAF9FB"/>
          </a:solidFill>
          <a:ln/>
        </p:spPr>
        <p:txBody>
          <a:bodyPr wrap="square" lIns="320040" tIns="320040" rIns="320040" bIns="320040" rtlCol="0" anchor="t"/>
          <a:lstStyle/>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Data engineering is most of the work.</a:t>
            </a:r>
            <a:r>
              <a:rPr lang="en-US" sz="1300" dirty="0">
                <a:solidFill>
                  <a:srgbClr val="213541"/>
                </a:solidFill>
                <a:latin typeface="Arial" pitchFamily="34" charset="0"/>
                <a:ea typeface="Arial" pitchFamily="34" charset="-122"/>
                <a:cs typeface="Arial" pitchFamily="34" charset="-120"/>
              </a:rPr>
              <a:t> Profiling, cleaning, and persisting a raw dataset routinely takes more effort than the modeling that follows – treat it as the main event, not a preamble.</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Profile before touching anything.</a:t>
            </a:r>
            <a:r>
              <a:rPr lang="en-US" sz="1300" dirty="0">
                <a:solidFill>
                  <a:srgbClr val="213541"/>
                </a:solidFill>
                <a:latin typeface="Arial" pitchFamily="34" charset="0"/>
                <a:ea typeface="Arial" pitchFamily="34" charset="-122"/>
                <a:cs typeface="Arial" pitchFamily="34" charset="-120"/>
              </a:rPr>
              <a:t> Check shape and dtypes, then missingness – concentration matters more than the overall rate, since it tells you which entities or periods are actually usable.</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Filter with a documented reason.</a:t>
            </a:r>
            <a:r>
              <a:rPr lang="en-US" sz="1300" dirty="0">
                <a:solidFill>
                  <a:srgbClr val="213541"/>
                </a:solidFill>
                <a:latin typeface="Arial" pitchFamily="34" charset="0"/>
                <a:ea typeface="Arial" pitchFamily="34" charset="-122"/>
                <a:cs typeface="Arial" pitchFamily="34" charset="-120"/>
              </a:rPr>
              <a:t> Exclude aggregate/rollup rows to avoid double-counting, and always .copy() a filtered DataFrame to avoid silently mutating the original.</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Persist the cleaned result.</a:t>
            </a:r>
            <a:r>
              <a:rPr lang="en-US" sz="1300" dirty="0">
                <a:solidFill>
                  <a:srgbClr val="213541"/>
                </a:solidFill>
                <a:latin typeface="Arial" pitchFamily="34" charset="0"/>
                <a:ea typeface="Arial" pitchFamily="34" charset="-122"/>
                <a:cs typeface="Arial" pitchFamily="34" charset="-120"/>
              </a:rPr>
              <a:t> Save it (bronze → silver → gold) so later notebook weeks reload a known-good starting point instead of re-deriving the same logic.</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Match the chart to the question.</a:t>
            </a:r>
            <a:r>
              <a:rPr lang="en-US" sz="1300" dirty="0">
                <a:solidFill>
                  <a:srgbClr val="213541"/>
                </a:solidFill>
                <a:latin typeface="Arial" pitchFamily="34" charset="0"/>
                <a:ea typeface="Arial" pitchFamily="34" charset="-122"/>
                <a:cs typeface="Arial" pitchFamily="34" charset="-120"/>
              </a:rPr>
              <a:t> Static matplotlib/pandas .plot() for a quick single-series check; Plotly Express once hovering or toggling a legend actually helps – e.g., comparing several countries at once.</a:t>
            </a:r>
            <a:endParaRPr lang="en-US" sz="1300" dirty="0"/>
          </a:p>
        </p:txBody>
      </p:sp>
      <p:pic>
        <p:nvPicPr>
          <p:cNvPr id="6"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4 of 19</a:t>
            </a:r>
            <a:endParaRPr lang="en-US" sz="900" dirty="0">
              <a:solidFill>
                <a:srgbClr val="8A98A3"/>
              </a:solidFill>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1  ·  Q&amp;A SUMMARY  ·  4 QUESTIONS</a:t>
            </a:r>
            <a:endParaRPr lang="en-US" sz="1200" dirty="0"/>
          </a:p>
        </p:txBody>
      </p:sp>
      <p:sp>
        <p:nvSpPr>
          <p:cNvPr id="3" name="Text 1"/>
          <p:cNvSpPr/>
          <p:nvPr/>
        </p:nvSpPr>
        <p:spPr>
          <a:xfrm>
            <a:off x="640080" y="822960"/>
            <a:ext cx="10911535" cy="460080"/>
          </a:xfrm>
          <a:prstGeom prst="rect">
            <a:avLst/>
          </a:prstGeom>
          <a:noFill/>
          <a:ln/>
        </p:spPr>
        <p:txBody>
          <a:bodyPr wrap="square" lIns="0" tIns="0" rIns="0" bIns="0" rtlCol="0" anchor="t"/>
          <a:lstStyle/>
          <a:p>
            <a:pPr marL="0" indent="0" algn="l">
              <a:buNone/>
            </a:pPr>
            <a:r>
              <a:rPr lang="en-US" sz="2200" b="1" dirty="0">
                <a:solidFill>
                  <a:srgbClr val="213541"/>
                </a:solidFill>
                <a:latin typeface="Arial" pitchFamily="34" charset="0"/>
                <a:ea typeface="Arial" pitchFamily="34" charset="-122"/>
                <a:cs typeface="Arial" pitchFamily="34" charset="-120"/>
              </a:rPr>
              <a:t>Q&amp;A Summary – Data Loading, Profiling &amp; EDA</a:t>
            </a:r>
            <a:endParaRPr lang="en-US" sz="2200" dirty="0"/>
          </a:p>
        </p:txBody>
      </p:sp>
      <p:sp>
        <p:nvSpPr>
          <p:cNvPr id="4" name="Text 2"/>
          <p:cNvSpPr/>
          <p:nvPr/>
        </p:nvSpPr>
        <p:spPr>
          <a:xfrm>
            <a:off x="640080" y="134112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All questions are shown now – press → or click to reveal each answer in turn.</a:t>
            </a:r>
            <a:endParaRPr lang="en-US" sz="1100" dirty="0"/>
          </a:p>
        </p:txBody>
      </p:sp>
      <p:sp>
        <p:nvSpPr>
          <p:cNvPr id="9" name="HeaderQ"/>
          <p:cNvSpPr/>
          <p:nvPr/>
        </p:nvSpPr>
        <p:spPr>
          <a:xfrm>
            <a:off x="640080" y="1706880"/>
            <a:ext cx="3962400"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QUESTION</a:t>
            </a:r>
            <a:endParaRPr lang="en-US" sz="1000" dirty="0"/>
          </a:p>
        </p:txBody>
      </p:sp>
      <p:sp>
        <p:nvSpPr>
          <p:cNvPr id="10" name="HeaderA"/>
          <p:cNvSpPr/>
          <p:nvPr/>
        </p:nvSpPr>
        <p:spPr>
          <a:xfrm>
            <a:off x="4739640" y="1706880"/>
            <a:ext cx="6811975"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ANSWER  (click to reveal)</a:t>
            </a:r>
            <a:endParaRPr lang="en-US" sz="1000" dirty="0"/>
          </a:p>
        </p:txBody>
      </p:sp>
      <p:cxnSp>
        <p:nvCxnSpPr>
          <p:cNvPr id="11" name="Divider0"/>
          <p:cNvCxnSpPr/>
          <p:nvPr/>
        </p:nvCxnSpPr>
        <p:spPr>
          <a:xfrm>
            <a:off x="640080" y="1995420"/>
            <a:ext cx="10911535" cy="0"/>
          </a:xfrm>
          <a:prstGeom prst="line">
            <a:avLst/>
          </a:prstGeom>
          <a:ln w="9525">
            <a:solidFill>
              <a:srgbClr val="E1E7EA"/>
            </a:solidFill>
          </a:ln>
        </p:spPr>
      </p:cxnSp>
      <p:sp>
        <p:nvSpPr>
          <p:cNvPr id="12" name="Row1Question"/>
          <p:cNvSpPr/>
          <p:nvPr/>
        </p:nvSpPr>
        <p:spPr>
          <a:xfrm>
            <a:off x="640080" y="2018280"/>
            <a:ext cx="3962400" cy="1033908"/>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cut the data off at 1990?</a:t>
            </a:r>
            <a:endParaRPr lang="en-US" sz="1100" dirty="0"/>
          </a:p>
        </p:txBody>
      </p:sp>
      <p:sp>
        <p:nvSpPr>
          <p:cNvPr id="13" name="Row1Answer"/>
          <p:cNvSpPr/>
          <p:nvPr/>
        </p:nvSpPr>
        <p:spPr>
          <a:xfrm>
            <a:off x="4739640" y="2048760"/>
            <a:ext cx="6811975" cy="972948"/>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Pre-1990 data coverage is sparser and predates major geopolitical boundary changes (German reunification, Soviet collapse); 1990 is also the standard policy baseline year in most international climate policy targets, which makes later trend and scenario comparisons more interpretable.</a:t>
            </a:r>
            <a:endParaRPr lang="en-US" sz="1100" dirty="0"/>
          </a:p>
        </p:txBody>
      </p:sp>
      <p:cxnSp>
        <p:nvCxnSpPr>
          <p:cNvPr id="14" name="Divider1"/>
          <p:cNvCxnSpPr/>
          <p:nvPr/>
        </p:nvCxnSpPr>
        <p:spPr>
          <a:xfrm>
            <a:off x="640080" y="3052188"/>
            <a:ext cx="10911535" cy="0"/>
          </a:xfrm>
          <a:prstGeom prst="line">
            <a:avLst/>
          </a:prstGeom>
          <a:ln w="9525">
            <a:solidFill>
              <a:srgbClr val="E1E7EA"/>
            </a:solidFill>
          </a:ln>
        </p:spPr>
      </p:cxnSp>
      <p:sp>
        <p:nvSpPr>
          <p:cNvPr id="15" name="Row2Question"/>
          <p:cNvSpPr/>
          <p:nvPr/>
        </p:nvSpPr>
        <p:spPr>
          <a:xfrm>
            <a:off x="640080" y="3052188"/>
            <a:ext cx="3962400" cy="1033908"/>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exclude aggregate rows (World, Asia…)?</a:t>
            </a:r>
            <a:endParaRPr lang="en-US" sz="1100" dirty="0"/>
          </a:p>
        </p:txBody>
      </p:sp>
      <p:sp>
        <p:nvSpPr>
          <p:cNvPr id="16" name="Row2Answer"/>
          <p:cNvSpPr/>
          <p:nvPr/>
        </p:nvSpPr>
        <p:spPr>
          <a:xfrm>
            <a:off x="4739640" y="3082668"/>
            <a:ext cx="6811975" cy="972948"/>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The dataset mixes real countries with regional/income-group aggregates in the same `country` column. If aggregates aren't excluded, any group by or sum operation would double-count emissions – filter to sovereign nations first.</a:t>
            </a:r>
            <a:endParaRPr lang="en-US" sz="1100" dirty="0"/>
          </a:p>
        </p:txBody>
      </p:sp>
      <p:cxnSp>
        <p:nvCxnSpPr>
          <p:cNvPr id="17" name="Divider2"/>
          <p:cNvCxnSpPr/>
          <p:nvPr/>
        </p:nvCxnSpPr>
        <p:spPr>
          <a:xfrm>
            <a:off x="640080" y="4086096"/>
            <a:ext cx="10911535" cy="0"/>
          </a:xfrm>
          <a:prstGeom prst="line">
            <a:avLst/>
          </a:prstGeom>
          <a:ln w="9525">
            <a:solidFill>
              <a:srgbClr val="E1E7EA"/>
            </a:solidFill>
          </a:ln>
        </p:spPr>
      </p:cxnSp>
      <p:sp>
        <p:nvSpPr>
          <p:cNvPr id="18" name="Row3Question"/>
          <p:cNvSpPr/>
          <p:nvPr/>
        </p:nvSpPr>
        <p:spPr>
          <a:xfrm>
            <a:off x="640080" y="4086096"/>
            <a:ext cx="3962400" cy="1033908"/>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coverage threshold should we use?</a:t>
            </a:r>
            <a:endParaRPr lang="en-US" sz="1100" dirty="0"/>
          </a:p>
        </p:txBody>
      </p:sp>
      <p:sp>
        <p:nvSpPr>
          <p:cNvPr id="19" name="Row3Answer"/>
          <p:cNvSpPr/>
          <p:nvPr/>
        </p:nvSpPr>
        <p:spPr>
          <a:xfrm>
            <a:off x="4739640" y="4116576"/>
            <a:ext cx="6811975" cy="972948"/>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The coverage should check each key column (`co2`, `total_ghg`, `population`, etc.) to individually clear a high non-null threshold – a single blended average across columns would let one well-populated column mask a badly-missing one (e.g., GDP is much spottier than CO₂). All countries should comfortably clear whatever reasonable threshold is chosen, since they're all large, well-documented economies.</a:t>
            </a:r>
            <a:endParaRPr lang="en-US" sz="1100" dirty="0"/>
          </a:p>
        </p:txBody>
      </p:sp>
      <p:cxnSp>
        <p:nvCxnSpPr>
          <p:cNvPr id="20" name="Divider3"/>
          <p:cNvCxnSpPr/>
          <p:nvPr/>
        </p:nvCxnSpPr>
        <p:spPr>
          <a:xfrm>
            <a:off x="640080" y="5120004"/>
            <a:ext cx="10911535" cy="0"/>
          </a:xfrm>
          <a:prstGeom prst="line">
            <a:avLst/>
          </a:prstGeom>
          <a:ln w="9525">
            <a:solidFill>
              <a:srgbClr val="E1E7EA"/>
            </a:solidFill>
          </a:ln>
        </p:spPr>
      </p:cxnSp>
      <p:sp>
        <p:nvSpPr>
          <p:cNvPr id="21" name="Row4Question"/>
          <p:cNvSpPr/>
          <p:nvPr/>
        </p:nvSpPr>
        <p:spPr>
          <a:xfrm>
            <a:off x="640080" y="5120004"/>
            <a:ext cx="3962400" cy="1033908"/>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How does data pass from one week's notebook to the next?</a:t>
            </a:r>
            <a:endParaRPr lang="en-US" sz="1100" dirty="0"/>
          </a:p>
        </p:txBody>
      </p:sp>
      <p:sp>
        <p:nvSpPr>
          <p:cNvPr id="22" name="Row4Answer"/>
          <p:cNvSpPr/>
          <p:nvPr/>
        </p:nvSpPr>
        <p:spPr>
          <a:xfrm>
            <a:off x="4739640" y="5150484"/>
            <a:ext cx="6811975" cy="972948"/>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If there are separate notebooks per week, each runs in its own kernel – one week can’t see the prior week’s in-memory variables. Persisting the cleaned, filtered dataset as an intermediate artifact is what lets later weeks reload the same starting point without recomputing (and potentially re-deriving slightly differently) the previous week’s logic.</a:t>
            </a:r>
            <a:endParaRPr lang="en-US" sz="1100" dirty="0"/>
          </a:p>
        </p:txBody>
      </p:sp>
      <p:pic>
        <p:nvPicPr>
          <p:cNvPr id="6"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5 of 19</a:t>
            </a:r>
            <a:endParaRPr lang="en-US" sz="900" dirty="0">
              <a:solidFill>
                <a:srgbClr val="8A98A3"/>
              </a:solidFill>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213541"/>
        </a:solidFill>
        <a:effectLst/>
      </p:bgPr>
    </p:bg>
    <p:spTree>
      <p:nvGrpSpPr>
        <p:cNvPr id="1" name=""/>
        <p:cNvGrpSpPr/>
        <p:nvPr/>
      </p:nvGrpSpPr>
      <p:grpSpPr>
        <a:xfrm>
          <a:off x="0" y="0"/>
          <a:ext cx="0" cy="0"/>
          <a:chOff x="0" y="0"/>
          <a:chExt cx="0" cy="0"/>
        </a:xfrm>
      </p:grpSpPr>
      <p:sp>
        <p:nvSpPr>
          <p:cNvPr id="2" name="Text 0"/>
          <p:cNvSpPr/>
          <p:nvPr/>
        </p:nvSpPr>
        <p:spPr>
          <a:xfrm>
            <a:off x="914400" y="2514600"/>
            <a:ext cx="10362895" cy="365760"/>
          </a:xfrm>
          <a:prstGeom prst="rect">
            <a:avLst/>
          </a:prstGeom>
          <a:noFill/>
          <a:ln/>
        </p:spPr>
        <p:txBody>
          <a:bodyPr wrap="square" lIns="0" tIns="0" rIns="0" bIns="0" rtlCol="0" anchor="ctr"/>
          <a:lstStyle/>
          <a:p>
            <a:pPr marL="0" indent="0" algn="ctr">
              <a:buNone/>
            </a:pPr>
            <a:r>
              <a:rPr lang="en-US" sz="1300" b="1" kern="0" spc="200">
                <a:solidFill>
                  <a:srgbClr val="00B8D9"/>
                </a:solidFill>
                <a:latin typeface="Arial" pitchFamily="34" charset="0"/>
                <a:ea typeface="Arial" pitchFamily="34" charset="-122"/>
                <a:cs typeface="Arial" pitchFamily="34" charset="-120"/>
              </a:rPr>
              <a:t>SECTION 2 OF 5</a:t>
            </a:r>
            <a:endParaRPr lang="en-US" sz="1300" dirty="0"/>
          </a:p>
        </p:txBody>
      </p:sp>
      <p:sp>
        <p:nvSpPr>
          <p:cNvPr id="3" name="Text 1"/>
          <p:cNvSpPr/>
          <p:nvPr/>
        </p:nvSpPr>
        <p:spPr>
          <a:xfrm>
            <a:off x="914400" y="2880360"/>
            <a:ext cx="10362895" cy="118872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Week 2 – Feature Engineering</a:t>
            </a:r>
            <a:endParaRPr lang="en-US" sz="3400" dirty="0"/>
          </a:p>
        </p:txBody>
      </p:sp>
      <p:sp>
        <p:nvSpPr>
          <p:cNvPr id="4" name="Text 2"/>
          <p:cNvSpPr/>
          <p:nvPr/>
        </p:nvSpPr>
        <p:spPr>
          <a:xfrm>
            <a:off x="914400" y="4069080"/>
            <a:ext cx="10362895" cy="365760"/>
          </a:xfrm>
          <a:prstGeom prst="rect">
            <a:avLst/>
          </a:prstGeom>
          <a:noFill/>
          <a:ln/>
        </p:spPr>
        <p:txBody>
          <a:bodyPr wrap="square" lIns="0" tIns="0" rIns="0" bIns="0" rtlCol="0" anchor="ctr"/>
          <a:lstStyle/>
          <a:p>
            <a:pPr algn="ctr"/>
            <a:r>
              <a:rPr lang="en-US" sz="1400" dirty="0">
                <a:solidFill>
                  <a:srgbClr val="8A98A3"/>
                </a:solidFill>
                <a:latin typeface="Arial" pitchFamily="34" charset="0"/>
                <a:ea typeface="Arial" pitchFamily="34" charset="-122"/>
                <a:cs typeface="Arial" pitchFamily="34" charset="-120"/>
              </a:rPr>
              <a:t>Review &amp; Questions</a:t>
            </a:r>
            <a:endParaRPr lang="en-US" sz="1400" dirty="0"/>
          </a:p>
        </p:txBody>
      </p:sp>
      <p:pic>
        <p:nvPicPr>
          <p:cNvPr id="5"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6" name="Text 3"/>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FFFFFF"/>
                </a:solidFill>
                <a:latin typeface="Arial" pitchFamily="34" charset="0"/>
                <a:ea typeface="Arial" pitchFamily="34" charset="-122"/>
                <a:cs typeface="Arial" pitchFamily="34" charset="-120"/>
              </a:rPr>
              <a:t>SYENA</a:t>
            </a:r>
            <a:endParaRPr lang="en-US" sz="900" dirty="0"/>
          </a:p>
        </p:txBody>
      </p:sp>
      <p:sp>
        <p:nvSpPr>
          <p:cNvPr id="7" name="Text 4"/>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6 of 19</a:t>
            </a:r>
            <a:endParaRPr lang="en-US" sz="900" dirty="0">
              <a:solidFill>
                <a:srgbClr val="8A98A3"/>
              </a:solidFill>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2  ·  REVIEW</a:t>
            </a:r>
            <a:endParaRPr lang="en-US" sz="1200" dirty="0"/>
          </a:p>
        </p:txBody>
      </p:sp>
      <p:sp>
        <p:nvSpPr>
          <p:cNvPr id="3" name="Text 1"/>
          <p:cNvSpPr/>
          <p:nvPr/>
        </p:nvSpPr>
        <p:spPr>
          <a:xfrm>
            <a:off x="640080" y="868680"/>
            <a:ext cx="10911535" cy="1280160"/>
          </a:xfrm>
          <a:prstGeom prst="rect">
            <a:avLst/>
          </a:prstGeom>
          <a:noFill/>
          <a:ln/>
        </p:spPr>
        <p:txBody>
          <a:bodyPr wrap="square" lIns="0" tIns="0" rIns="0" bIns="0" rtlCol="0" anchor="t"/>
          <a:lstStyle/>
          <a:p>
            <a:pPr marL="0" indent="0" algn="l">
              <a:lnSpc>
                <a:spcPct val="112000"/>
              </a:lnSpc>
              <a:buNone/>
            </a:pPr>
            <a:r>
              <a:rPr lang="en-US" sz="2700" b="1" dirty="0">
                <a:solidFill>
                  <a:srgbClr val="213541"/>
                </a:solidFill>
                <a:latin typeface="Arial" pitchFamily="34" charset="0"/>
                <a:ea typeface="Arial" pitchFamily="34" charset="-122"/>
                <a:cs typeface="Arial" pitchFamily="34" charset="-120"/>
              </a:rPr>
              <a:t>Key Lessons – Feature Engineering</a:t>
            </a:r>
            <a:endParaRPr lang="en-US" sz="2700" dirty="0"/>
          </a:p>
        </p:txBody>
      </p:sp>
      <p:sp>
        <p:nvSpPr>
          <p:cNvPr id="4" name="Text 2"/>
          <p:cNvSpPr/>
          <p:nvPr/>
        </p:nvSpPr>
        <p:spPr>
          <a:xfrm>
            <a:off x="640080" y="219456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Source: Feature Engineering curriculum doc</a:t>
            </a:r>
            <a:endParaRPr lang="en-US" sz="1100" dirty="0"/>
          </a:p>
        </p:txBody>
      </p:sp>
      <p:sp>
        <p:nvSpPr>
          <p:cNvPr id="5" name="AnswerBox"/>
          <p:cNvSpPr/>
          <p:nvPr/>
        </p:nvSpPr>
        <p:spPr>
          <a:xfrm>
            <a:off x="640080" y="2606040"/>
            <a:ext cx="10911535" cy="3474720"/>
          </a:xfrm>
          <a:prstGeom prst="roundRect">
            <a:avLst>
              <a:gd name="adj" fmla="val 2105"/>
            </a:avLst>
          </a:prstGeom>
          <a:solidFill>
            <a:srgbClr val="EAF9FB"/>
          </a:solidFill>
          <a:ln/>
        </p:spPr>
        <p:txBody>
          <a:bodyPr wrap="square" lIns="320040" tIns="320040" rIns="320040" bIns="320040" rtlCol="0" anchor="t"/>
          <a:lstStyle/>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Features, not model choice, usually decide the outcome.</a:t>
            </a:r>
            <a:r>
              <a:rPr lang="en-US" sz="1300" dirty="0">
                <a:solidFill>
                  <a:srgbClr val="213541"/>
                </a:solidFill>
                <a:latin typeface="Arial" pitchFamily="34" charset="0"/>
                <a:ea typeface="Arial" pitchFamily="34" charset="-122"/>
                <a:cs typeface="Arial" pitchFamily="34" charset="-120"/>
              </a:rPr>
              <a:t> A model can only learn from the columns it's given – feature engineering is often what separates a mediocre model from a good one.</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Five feature types cover most panel/time-series work:</a:t>
            </a:r>
            <a:r>
              <a:rPr lang="en-US" sz="1300" dirty="0">
                <a:solidFill>
                  <a:srgbClr val="213541"/>
                </a:solidFill>
                <a:latin typeface="Arial" pitchFamily="34" charset="0"/>
                <a:ea typeface="Arial" pitchFamily="34" charset="-122"/>
                <a:cs typeface="Arial" pitchFamily="34" charset="-120"/>
              </a:rPr>
              <a:t> time index, rolling window stats, lag features, growth/rate-of-change, and ratio/intensity.</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Lag features exploit autocorrelation.</a:t>
            </a:r>
            <a:r>
              <a:rPr lang="en-US" sz="1300" dirty="0">
                <a:solidFill>
                  <a:srgbClr val="213541"/>
                </a:solidFill>
                <a:latin typeface="Arial" pitchFamily="34" charset="0"/>
                <a:ea typeface="Arial" pitchFamily="34" charset="-122"/>
                <a:cs typeface="Arial" pitchFamily="34" charset="-120"/>
              </a:rPr>
              <a:t> This period's value predicts the next because most real processes have inertia – an assumption that breaks during structural shocks the model has never seen.</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Structural NaNs are correct, not a bug.</a:t>
            </a:r>
            <a:r>
              <a:rPr lang="en-US" sz="1300" dirty="0">
                <a:solidFill>
                  <a:srgbClr val="213541"/>
                </a:solidFill>
                <a:latin typeface="Arial" pitchFamily="34" charset="0"/>
                <a:ea typeface="Arial" pitchFamily="34" charset="-122"/>
                <a:cs typeface="Arial" pitchFamily="34" charset="-120"/>
              </a:rPr>
              <a:t> The first rows of each country's lag/rolling features are NaN by construction – never fill or impute them.</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Fit encoders and scalers once, on training data only.</a:t>
            </a:r>
            <a:r>
              <a:rPr lang="en-US" sz="1300" dirty="0">
                <a:solidFill>
                  <a:srgbClr val="213541"/>
                </a:solidFill>
                <a:latin typeface="Arial" pitchFamily="34" charset="0"/>
                <a:ea typeface="Arial" pitchFamily="34" charset="-122"/>
                <a:cs typeface="Arial" pitchFamily="34" charset="-120"/>
              </a:rPr>
              <a:t> A LabelEncoder refit on a subset can silently reassign a category's code and corrupt what the model learned.</a:t>
            </a:r>
            <a:endParaRPr lang="en-US" sz="1300" dirty="0"/>
          </a:p>
        </p:txBody>
      </p:sp>
      <p:pic>
        <p:nvPicPr>
          <p:cNvPr id="6"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7 of 19</a:t>
            </a:r>
            <a:endParaRPr lang="en-US" sz="900" dirty="0">
              <a:solidFill>
                <a:srgbClr val="8A98A3"/>
              </a:solidFill>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2  ·  Q&amp;A SUMMARY  ·  5 QUESTIONS</a:t>
            </a:r>
            <a:endParaRPr lang="en-US" sz="1200" dirty="0"/>
          </a:p>
        </p:txBody>
      </p:sp>
      <p:sp>
        <p:nvSpPr>
          <p:cNvPr id="3" name="Text 1"/>
          <p:cNvSpPr/>
          <p:nvPr/>
        </p:nvSpPr>
        <p:spPr>
          <a:xfrm>
            <a:off x="640080" y="822960"/>
            <a:ext cx="10911535" cy="460080"/>
          </a:xfrm>
          <a:prstGeom prst="rect">
            <a:avLst/>
          </a:prstGeom>
          <a:noFill/>
          <a:ln/>
        </p:spPr>
        <p:txBody>
          <a:bodyPr wrap="square" lIns="0" tIns="0" rIns="0" bIns="0" rtlCol="0" anchor="t"/>
          <a:lstStyle/>
          <a:p>
            <a:pPr marL="0" indent="0" algn="l">
              <a:buNone/>
            </a:pPr>
            <a:r>
              <a:rPr lang="en-US" sz="2200" b="1" dirty="0">
                <a:solidFill>
                  <a:srgbClr val="213541"/>
                </a:solidFill>
                <a:latin typeface="Arial" pitchFamily="34" charset="0"/>
                <a:ea typeface="Arial" pitchFamily="34" charset="-122"/>
                <a:cs typeface="Arial" pitchFamily="34" charset="-120"/>
              </a:rPr>
              <a:t>Q&amp;A Summary – Feature Engineering</a:t>
            </a:r>
            <a:endParaRPr lang="en-US" sz="2200" dirty="0"/>
          </a:p>
        </p:txBody>
      </p:sp>
      <p:sp>
        <p:nvSpPr>
          <p:cNvPr id="4" name="Text 2"/>
          <p:cNvSpPr/>
          <p:nvPr/>
        </p:nvSpPr>
        <p:spPr>
          <a:xfrm>
            <a:off x="640080" y="134112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All questions are shown now – press → or click to reveal each answer in turn.</a:t>
            </a:r>
            <a:endParaRPr lang="en-US" sz="1100" dirty="0"/>
          </a:p>
        </p:txBody>
      </p:sp>
      <p:sp>
        <p:nvSpPr>
          <p:cNvPr id="9" name="HeaderQ"/>
          <p:cNvSpPr/>
          <p:nvPr/>
        </p:nvSpPr>
        <p:spPr>
          <a:xfrm>
            <a:off x="640080" y="1706880"/>
            <a:ext cx="3962400"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QUESTION</a:t>
            </a:r>
            <a:endParaRPr lang="en-US" sz="1000" dirty="0"/>
          </a:p>
        </p:txBody>
      </p:sp>
      <p:sp>
        <p:nvSpPr>
          <p:cNvPr id="10" name="HeaderA"/>
          <p:cNvSpPr/>
          <p:nvPr/>
        </p:nvSpPr>
        <p:spPr>
          <a:xfrm>
            <a:off x="4739640" y="1706880"/>
            <a:ext cx="6811975"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ANSWER  (click to reveal)</a:t>
            </a:r>
            <a:endParaRPr lang="en-US" sz="1000" dirty="0"/>
          </a:p>
        </p:txBody>
      </p:sp>
      <p:cxnSp>
        <p:nvCxnSpPr>
          <p:cNvPr id="11" name="Divider0"/>
          <p:cNvCxnSpPr/>
          <p:nvPr/>
        </p:nvCxnSpPr>
        <p:spPr>
          <a:xfrm>
            <a:off x="640080" y="1995420"/>
            <a:ext cx="10911535" cy="0"/>
          </a:xfrm>
          <a:prstGeom prst="line">
            <a:avLst/>
          </a:prstGeom>
          <a:ln w="9525">
            <a:solidFill>
              <a:srgbClr val="E1E7EA"/>
            </a:solidFill>
          </a:ln>
        </p:spPr>
      </p:cxnSp>
      <p:sp>
        <p:nvSpPr>
          <p:cNvPr id="12" name="Row1Question"/>
          <p:cNvSpPr/>
          <p:nvPr/>
        </p:nvSpPr>
        <p:spPr>
          <a:xfrm>
            <a:off x="640080" y="2018280"/>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is a lag feature, and why use it?</a:t>
            </a:r>
            <a:endParaRPr lang="en-US" sz="1100" dirty="0"/>
          </a:p>
        </p:txBody>
      </p:sp>
      <p:sp>
        <p:nvSpPr>
          <p:cNvPr id="13" name="Row1Answer"/>
          <p:cNvSpPr/>
          <p:nvPr/>
        </p:nvSpPr>
        <p:spPr>
          <a:xfrm>
            <a:off x="4739640" y="2048760"/>
            <a:ext cx="6811975" cy="766166"/>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A past value (e.g. last year's CO₂) used as a model input to predict a future value. Emissions are highly autocorrelated year-to-year, so lag features let a regression implicitly capture that persistence without needing an explicit time-series model.</a:t>
            </a:r>
            <a:endParaRPr lang="en-US" sz="1100" dirty="0"/>
          </a:p>
        </p:txBody>
      </p:sp>
      <p:cxnSp>
        <p:nvCxnSpPr>
          <p:cNvPr id="14" name="Divider1"/>
          <p:cNvCxnSpPr/>
          <p:nvPr/>
        </p:nvCxnSpPr>
        <p:spPr>
          <a:xfrm>
            <a:off x="640080" y="2845406"/>
            <a:ext cx="10911535" cy="0"/>
          </a:xfrm>
          <a:prstGeom prst="line">
            <a:avLst/>
          </a:prstGeom>
          <a:ln w="9525">
            <a:solidFill>
              <a:srgbClr val="E1E7EA"/>
            </a:solidFill>
          </a:ln>
        </p:spPr>
      </p:cxnSp>
      <p:sp>
        <p:nvSpPr>
          <p:cNvPr id="15" name="Row2Question"/>
          <p:cNvSpPr/>
          <p:nvPr/>
        </p:nvSpPr>
        <p:spPr>
          <a:xfrm>
            <a:off x="640080" y="2845406"/>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does ghg_intensity measure, and why * 1e9?</a:t>
            </a:r>
            <a:endParaRPr lang="en-US" sz="1100" dirty="0"/>
          </a:p>
        </p:txBody>
      </p:sp>
      <p:sp>
        <p:nvSpPr>
          <p:cNvPr id="16" name="Row2Answer"/>
          <p:cNvSpPr/>
          <p:nvPr/>
        </p:nvSpPr>
        <p:spPr>
          <a:xfrm>
            <a:off x="4739640" y="2875886"/>
            <a:ext cx="6811975" cy="766166"/>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a:t>
            </a:r>
            <a:r>
              <a:rPr lang="en-US" sz="1100" dirty="0" err="1">
                <a:solidFill>
                  <a:srgbClr val="213541"/>
                </a:solidFill>
                <a:latin typeface="Arial" pitchFamily="34" charset="0"/>
                <a:ea typeface="Arial" pitchFamily="34" charset="-122"/>
                <a:cs typeface="Arial" pitchFamily="34" charset="-120"/>
              </a:rPr>
              <a:t>ghg_intensity</a:t>
            </a:r>
            <a:r>
              <a:rPr lang="en-US" sz="1100" dirty="0">
                <a:solidFill>
                  <a:srgbClr val="213541"/>
                </a:solidFill>
                <a:latin typeface="Arial" pitchFamily="34" charset="0"/>
                <a:ea typeface="Arial" pitchFamily="34" charset="-122"/>
                <a:cs typeface="Arial" pitchFamily="34" charset="-120"/>
              </a:rPr>
              <a:t> = total_ghg / </a:t>
            </a:r>
            <a:r>
              <a:rPr lang="en-US" sz="1100" dirty="0" err="1">
                <a:solidFill>
                  <a:srgbClr val="213541"/>
                </a:solidFill>
                <a:latin typeface="Arial" pitchFamily="34" charset="0"/>
                <a:ea typeface="Arial" pitchFamily="34" charset="-122"/>
                <a:cs typeface="Arial" pitchFamily="34" charset="-120"/>
              </a:rPr>
              <a:t>gdp</a:t>
            </a:r>
            <a:r>
              <a:rPr lang="en-US" sz="1100" dirty="0">
                <a:solidFill>
                  <a:srgbClr val="213541"/>
                </a:solidFill>
                <a:latin typeface="Arial" pitchFamily="34" charset="0"/>
                <a:ea typeface="Arial" pitchFamily="34" charset="-122"/>
                <a:cs typeface="Arial" pitchFamily="34" charset="-120"/>
              </a:rPr>
              <a:t> * 1e9`. `total_ghg` is expressed in </a:t>
            </a:r>
            <a:r>
              <a:rPr lang="en-US" sz="1100" dirty="0" err="1">
                <a:solidFill>
                  <a:srgbClr val="213541"/>
                </a:solidFill>
                <a:latin typeface="Arial" pitchFamily="34" charset="0"/>
                <a:ea typeface="Arial" pitchFamily="34" charset="-122"/>
                <a:cs typeface="Arial" pitchFamily="34" charset="-120"/>
              </a:rPr>
              <a:t>MtCO₂e</a:t>
            </a:r>
            <a:r>
              <a:rPr lang="en-US" sz="1100" dirty="0">
                <a:solidFill>
                  <a:srgbClr val="213541"/>
                </a:solidFill>
                <a:latin typeface="Arial" pitchFamily="34" charset="0"/>
                <a:ea typeface="Arial" pitchFamily="34" charset="-122"/>
                <a:cs typeface="Arial" pitchFamily="34" charset="-120"/>
              </a:rPr>
              <a:t> (1 Mt = 1e9 kg), while `</a:t>
            </a:r>
            <a:r>
              <a:rPr lang="en-US" sz="1100" dirty="0" err="1">
                <a:solidFill>
                  <a:srgbClr val="213541"/>
                </a:solidFill>
                <a:latin typeface="Arial" pitchFamily="34" charset="0"/>
                <a:ea typeface="Arial" pitchFamily="34" charset="-122"/>
                <a:cs typeface="Arial" pitchFamily="34" charset="-120"/>
              </a:rPr>
              <a:t>gdp</a:t>
            </a:r>
            <a:r>
              <a:rPr lang="en-US" sz="1100" dirty="0">
                <a:solidFill>
                  <a:srgbClr val="213541"/>
                </a:solidFill>
                <a:latin typeface="Arial" pitchFamily="34" charset="0"/>
                <a:ea typeface="Arial" pitchFamily="34" charset="-122"/>
                <a:cs typeface="Arial" pitchFamily="34" charset="-120"/>
              </a:rPr>
              <a:t>` is in raw dollars, so the unscaled ratio is on the order of 1e-9 and would round to 0.00 at any reasonable display precision. Multiplying by 1e9 converts the result into kg </a:t>
            </a:r>
            <a:r>
              <a:rPr lang="en-US" sz="1100" dirty="0" err="1">
                <a:solidFill>
                  <a:srgbClr val="213541"/>
                </a:solidFill>
                <a:latin typeface="Arial" pitchFamily="34" charset="0"/>
                <a:ea typeface="Arial" pitchFamily="34" charset="-122"/>
                <a:cs typeface="Arial" pitchFamily="34" charset="-120"/>
              </a:rPr>
              <a:t>CO₂e</a:t>
            </a:r>
            <a:r>
              <a:rPr lang="en-US" sz="1100" dirty="0">
                <a:solidFill>
                  <a:srgbClr val="213541"/>
                </a:solidFill>
                <a:latin typeface="Arial" pitchFamily="34" charset="0"/>
                <a:ea typeface="Arial" pitchFamily="34" charset="-122"/>
                <a:cs typeface="Arial" pitchFamily="34" charset="-120"/>
              </a:rPr>
              <a:t> per dollar of GDP – a readable unit.</a:t>
            </a:r>
          </a:p>
          <a:p>
            <a:pPr>
              <a:lnSpc>
                <a:spcPct val="112000"/>
              </a:lnSpc>
            </a:pPr>
            <a:endParaRPr lang="en-US" sz="1100" dirty="0">
              <a:solidFill>
                <a:srgbClr val="213541"/>
              </a:solidFill>
              <a:latin typeface="Arial" pitchFamily="34" charset="0"/>
              <a:ea typeface="Arial" pitchFamily="34" charset="-122"/>
              <a:cs typeface="Arial" pitchFamily="34" charset="-120"/>
            </a:endParaRPr>
          </a:p>
        </p:txBody>
      </p:sp>
      <p:cxnSp>
        <p:nvCxnSpPr>
          <p:cNvPr id="17" name="Divider2"/>
          <p:cNvCxnSpPr/>
          <p:nvPr/>
        </p:nvCxnSpPr>
        <p:spPr>
          <a:xfrm>
            <a:off x="640080" y="3672532"/>
            <a:ext cx="10911535" cy="0"/>
          </a:xfrm>
          <a:prstGeom prst="line">
            <a:avLst/>
          </a:prstGeom>
          <a:ln w="9525">
            <a:solidFill>
              <a:srgbClr val="E1E7EA"/>
            </a:solidFill>
          </a:ln>
        </p:spPr>
      </p:cxnSp>
      <p:sp>
        <p:nvSpPr>
          <p:cNvPr id="18" name="Row3Question"/>
          <p:cNvSpPr/>
          <p:nvPr/>
        </p:nvSpPr>
        <p:spPr>
          <a:xfrm>
            <a:off x="640080" y="3672532"/>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is ghg_intensity left out of the Week 3 features?</a:t>
            </a:r>
            <a:endParaRPr lang="en-US" sz="1100" dirty="0"/>
          </a:p>
        </p:txBody>
      </p:sp>
      <p:sp>
        <p:nvSpPr>
          <p:cNvPr id="19" name="Row3Answer"/>
          <p:cNvSpPr/>
          <p:nvPr/>
        </p:nvSpPr>
        <p:spPr>
          <a:xfrm>
            <a:off x="4739640" y="3703012"/>
            <a:ext cx="6811975" cy="766166"/>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GDP coverage is much sparser than the other columns (roughly 70% missing across the years and countries in scope), so including it in the regression feature set would force `</a:t>
            </a:r>
            <a:r>
              <a:rPr lang="en-US" sz="1100" dirty="0" err="1">
                <a:solidFill>
                  <a:srgbClr val="213541"/>
                </a:solidFill>
                <a:latin typeface="Arial" pitchFamily="34" charset="0"/>
                <a:ea typeface="Arial" pitchFamily="34" charset="-122"/>
                <a:cs typeface="Arial" pitchFamily="34" charset="-120"/>
              </a:rPr>
              <a:t>dropna</a:t>
            </a:r>
            <a:r>
              <a:rPr lang="en-US" sz="1100" dirty="0">
                <a:solidFill>
                  <a:srgbClr val="213541"/>
                </a:solidFill>
                <a:latin typeface="Arial" pitchFamily="34" charset="0"/>
                <a:ea typeface="Arial" pitchFamily="34" charset="-122"/>
                <a:cs typeface="Arial" pitchFamily="34" charset="-120"/>
              </a:rPr>
              <a:t>` to discard a large share of training rows – a costly trade-off across just 10 countries with only ~25 training years each.</a:t>
            </a:r>
          </a:p>
          <a:p>
            <a:pPr>
              <a:lnSpc>
                <a:spcPct val="112000"/>
              </a:lnSpc>
            </a:pPr>
            <a:endParaRPr lang="en-US" sz="1100" dirty="0">
              <a:solidFill>
                <a:srgbClr val="213541"/>
              </a:solidFill>
              <a:latin typeface="Arial" pitchFamily="34" charset="0"/>
              <a:ea typeface="Arial" pitchFamily="34" charset="-122"/>
              <a:cs typeface="Arial" pitchFamily="34" charset="-120"/>
            </a:endParaRPr>
          </a:p>
        </p:txBody>
      </p:sp>
      <p:cxnSp>
        <p:nvCxnSpPr>
          <p:cNvPr id="20" name="Divider3"/>
          <p:cNvCxnSpPr/>
          <p:nvPr/>
        </p:nvCxnSpPr>
        <p:spPr>
          <a:xfrm>
            <a:off x="640080" y="4499658"/>
            <a:ext cx="10911535" cy="0"/>
          </a:xfrm>
          <a:prstGeom prst="line">
            <a:avLst/>
          </a:prstGeom>
          <a:ln w="9525">
            <a:solidFill>
              <a:srgbClr val="E1E7EA"/>
            </a:solidFill>
          </a:ln>
        </p:spPr>
      </p:cxnSp>
      <p:sp>
        <p:nvSpPr>
          <p:cNvPr id="21" name="Row4Question"/>
          <p:cNvSpPr/>
          <p:nvPr/>
        </p:nvSpPr>
        <p:spPr>
          <a:xfrm>
            <a:off x="640080" y="4499658"/>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co2_yoy_change vs co2_yoy_pct_change – when to use which?</a:t>
            </a:r>
            <a:endParaRPr lang="en-US" sz="1100" dirty="0"/>
          </a:p>
        </p:txBody>
      </p:sp>
      <p:sp>
        <p:nvSpPr>
          <p:cNvPr id="22" name="Row4Answer"/>
          <p:cNvSpPr/>
          <p:nvPr/>
        </p:nvSpPr>
        <p:spPr>
          <a:xfrm>
            <a:off x="4739640" y="4530138"/>
            <a:ext cx="6811975" cy="766166"/>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The absolute difference in CO₂ vs percentage growth from prior year's value. Absolute change is more relevant for total climate impact, while percentage change lets you fairly rank countries' growth *rates* against each other despite their very different emissions scales.</a:t>
            </a:r>
          </a:p>
          <a:p>
            <a:pPr>
              <a:lnSpc>
                <a:spcPct val="112000"/>
              </a:lnSpc>
            </a:pPr>
            <a:endParaRPr lang="en-US" sz="1100" dirty="0">
              <a:solidFill>
                <a:srgbClr val="213541"/>
              </a:solidFill>
              <a:latin typeface="Arial" pitchFamily="34" charset="0"/>
              <a:ea typeface="Arial" pitchFamily="34" charset="-122"/>
              <a:cs typeface="Arial" pitchFamily="34" charset="-120"/>
            </a:endParaRPr>
          </a:p>
        </p:txBody>
      </p:sp>
      <p:cxnSp>
        <p:nvCxnSpPr>
          <p:cNvPr id="23" name="Divider4"/>
          <p:cNvCxnSpPr/>
          <p:nvPr/>
        </p:nvCxnSpPr>
        <p:spPr>
          <a:xfrm>
            <a:off x="640080" y="5326784"/>
            <a:ext cx="10911535" cy="0"/>
          </a:xfrm>
          <a:prstGeom prst="line">
            <a:avLst/>
          </a:prstGeom>
          <a:ln w="9525">
            <a:solidFill>
              <a:srgbClr val="E1E7EA"/>
            </a:solidFill>
          </a:ln>
        </p:spPr>
      </p:cxnSp>
      <p:sp>
        <p:nvSpPr>
          <p:cNvPr id="24" name="Row5Question"/>
          <p:cNvSpPr/>
          <p:nvPr/>
        </p:nvSpPr>
        <p:spPr>
          <a:xfrm>
            <a:off x="640080" y="5326784"/>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add a 5-year rolling mean on top of lag1–3?</a:t>
            </a:r>
            <a:endParaRPr lang="en-US" sz="1100" dirty="0"/>
          </a:p>
        </p:txBody>
      </p:sp>
      <p:sp>
        <p:nvSpPr>
          <p:cNvPr id="25" name="Row5Answer"/>
          <p:cNvSpPr/>
          <p:nvPr/>
        </p:nvSpPr>
        <p:spPr>
          <a:xfrm>
            <a:off x="4739640" y="5357264"/>
            <a:ext cx="6811975" cy="766166"/>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The rolling mean smooths out year-to-year noise (a single anomalous year from a recession or a one-off event) and gives the model a feature representing the *trend level* rather than any single year's value - lag features and a rolling mean capture complementary information.</a:t>
            </a:r>
          </a:p>
          <a:p>
            <a:pPr>
              <a:lnSpc>
                <a:spcPct val="112000"/>
              </a:lnSpc>
            </a:pPr>
            <a:endParaRPr lang="en-US" sz="1100" dirty="0">
              <a:solidFill>
                <a:srgbClr val="213541"/>
              </a:solidFill>
              <a:latin typeface="Arial" pitchFamily="34" charset="0"/>
              <a:ea typeface="Arial" pitchFamily="34" charset="-122"/>
              <a:cs typeface="Arial" pitchFamily="34" charset="-120"/>
            </a:endParaRPr>
          </a:p>
        </p:txBody>
      </p:sp>
      <p:pic>
        <p:nvPicPr>
          <p:cNvPr id="6"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8 of 19</a:t>
            </a:r>
            <a:endParaRPr lang="en-US" sz="900" dirty="0">
              <a:solidFill>
                <a:srgbClr val="8A98A3"/>
              </a:solidFill>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2"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6">
    <p:bg>
      <p:bgPr>
        <a:solidFill>
          <a:srgbClr val="213541"/>
        </a:solidFill>
        <a:effectLst/>
      </p:bgPr>
    </p:bg>
    <p:spTree>
      <p:nvGrpSpPr>
        <p:cNvPr id="1" name=""/>
        <p:cNvGrpSpPr/>
        <p:nvPr/>
      </p:nvGrpSpPr>
      <p:grpSpPr>
        <a:xfrm>
          <a:off x="0" y="0"/>
          <a:ext cx="0" cy="0"/>
          <a:chOff x="0" y="0"/>
          <a:chExt cx="0" cy="0"/>
        </a:xfrm>
      </p:grpSpPr>
      <p:sp>
        <p:nvSpPr>
          <p:cNvPr id="2" name="Text 0"/>
          <p:cNvSpPr/>
          <p:nvPr/>
        </p:nvSpPr>
        <p:spPr>
          <a:xfrm>
            <a:off x="914400" y="2514600"/>
            <a:ext cx="10362895" cy="365760"/>
          </a:xfrm>
          <a:prstGeom prst="rect">
            <a:avLst/>
          </a:prstGeom>
          <a:noFill/>
          <a:ln/>
        </p:spPr>
        <p:txBody>
          <a:bodyPr wrap="square" lIns="0" tIns="0" rIns="0" bIns="0" rtlCol="0" anchor="ctr"/>
          <a:lstStyle/>
          <a:p>
            <a:pPr marL="0" indent="0" algn="ctr">
              <a:buNone/>
            </a:pPr>
            <a:r>
              <a:rPr lang="en-US" sz="1300" b="1" kern="0" spc="200">
                <a:solidFill>
                  <a:srgbClr val="00B8D9"/>
                </a:solidFill>
                <a:latin typeface="Arial" pitchFamily="34" charset="0"/>
                <a:ea typeface="Arial" pitchFamily="34" charset="-122"/>
                <a:cs typeface="Arial" pitchFamily="34" charset="-120"/>
              </a:rPr>
              <a:t>SECTION 3 OF 5</a:t>
            </a:r>
            <a:endParaRPr lang="en-US" sz="1300" dirty="0"/>
          </a:p>
        </p:txBody>
      </p:sp>
      <p:sp>
        <p:nvSpPr>
          <p:cNvPr id="3" name="Text 1"/>
          <p:cNvSpPr/>
          <p:nvPr/>
        </p:nvSpPr>
        <p:spPr>
          <a:xfrm>
            <a:off x="914400" y="2880360"/>
            <a:ext cx="10362895" cy="118872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Week 3 – Baseline ML Models: Regression</a:t>
            </a:r>
            <a:endParaRPr lang="en-US" sz="3400" dirty="0"/>
          </a:p>
        </p:txBody>
      </p:sp>
      <p:sp>
        <p:nvSpPr>
          <p:cNvPr id="4" name="Text 2"/>
          <p:cNvSpPr/>
          <p:nvPr/>
        </p:nvSpPr>
        <p:spPr>
          <a:xfrm>
            <a:off x="914400" y="4069080"/>
            <a:ext cx="10362895" cy="365760"/>
          </a:xfrm>
          <a:prstGeom prst="rect">
            <a:avLst/>
          </a:prstGeom>
          <a:noFill/>
          <a:ln/>
        </p:spPr>
        <p:txBody>
          <a:bodyPr wrap="square" lIns="0" tIns="0" rIns="0" bIns="0" rtlCol="0" anchor="ctr"/>
          <a:lstStyle/>
          <a:p>
            <a:pPr algn="ctr"/>
            <a:r>
              <a:rPr lang="en-US" sz="1400" dirty="0">
                <a:solidFill>
                  <a:srgbClr val="8A98A3"/>
                </a:solidFill>
                <a:latin typeface="Arial" pitchFamily="34" charset="0"/>
                <a:ea typeface="Arial" pitchFamily="34" charset="-122"/>
                <a:cs typeface="Arial" pitchFamily="34" charset="-120"/>
              </a:rPr>
              <a:t>Review &amp; Questions</a:t>
            </a:r>
            <a:endParaRPr lang="en-US" sz="1400" dirty="0"/>
          </a:p>
        </p:txBody>
      </p:sp>
      <p:pic>
        <p:nvPicPr>
          <p:cNvPr id="5"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6" name="Text 3"/>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FFFFFF"/>
                </a:solidFill>
                <a:latin typeface="Arial" pitchFamily="34" charset="0"/>
                <a:ea typeface="Arial" pitchFamily="34" charset="-122"/>
                <a:cs typeface="Arial" pitchFamily="34" charset="-120"/>
              </a:rPr>
              <a:t>SYENA</a:t>
            </a:r>
            <a:endParaRPr lang="en-US" sz="900" dirty="0"/>
          </a:p>
        </p:txBody>
      </p:sp>
      <p:sp>
        <p:nvSpPr>
          <p:cNvPr id="7" name="Text 4"/>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9 of 19</a:t>
            </a:r>
            <a:endParaRPr lang="en-US" sz="900" dirty="0">
              <a:solidFill>
                <a:srgbClr val="8A98A3"/>
              </a:solidFill>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3  ·  REVIEW</a:t>
            </a:r>
            <a:endParaRPr lang="en-US" sz="1200" dirty="0"/>
          </a:p>
        </p:txBody>
      </p:sp>
      <p:sp>
        <p:nvSpPr>
          <p:cNvPr id="3" name="Text 1"/>
          <p:cNvSpPr/>
          <p:nvPr/>
        </p:nvSpPr>
        <p:spPr>
          <a:xfrm>
            <a:off x="640080" y="868680"/>
            <a:ext cx="10911535" cy="1280160"/>
          </a:xfrm>
          <a:prstGeom prst="rect">
            <a:avLst/>
          </a:prstGeom>
          <a:noFill/>
          <a:ln/>
        </p:spPr>
        <p:txBody>
          <a:bodyPr wrap="square" lIns="0" tIns="0" rIns="0" bIns="0" rtlCol="0" anchor="t"/>
          <a:lstStyle/>
          <a:p>
            <a:pPr marL="0" indent="0" algn="l">
              <a:lnSpc>
                <a:spcPct val="112000"/>
              </a:lnSpc>
              <a:buNone/>
            </a:pPr>
            <a:r>
              <a:rPr lang="en-US" sz="2700" b="1" dirty="0">
                <a:solidFill>
                  <a:srgbClr val="213541"/>
                </a:solidFill>
                <a:latin typeface="Arial" pitchFamily="34" charset="0"/>
                <a:ea typeface="Arial" pitchFamily="34" charset="-122"/>
                <a:cs typeface="Arial" pitchFamily="34" charset="-120"/>
              </a:rPr>
              <a:t>Key Lessons – Regression Models</a:t>
            </a:r>
            <a:endParaRPr lang="en-US" sz="2700" dirty="0"/>
          </a:p>
        </p:txBody>
      </p:sp>
      <p:sp>
        <p:nvSpPr>
          <p:cNvPr id="4" name="Text 2"/>
          <p:cNvSpPr/>
          <p:nvPr/>
        </p:nvSpPr>
        <p:spPr>
          <a:xfrm>
            <a:off x="640080" y="219456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Source: Regression Models curriculum doc</a:t>
            </a:r>
            <a:endParaRPr lang="en-US" sz="1100" dirty="0"/>
          </a:p>
        </p:txBody>
      </p:sp>
      <p:sp>
        <p:nvSpPr>
          <p:cNvPr id="5" name="AnswerBox"/>
          <p:cNvSpPr/>
          <p:nvPr/>
        </p:nvSpPr>
        <p:spPr>
          <a:xfrm>
            <a:off x="640080" y="2606040"/>
            <a:ext cx="10911535" cy="3474720"/>
          </a:xfrm>
          <a:prstGeom prst="roundRect">
            <a:avLst>
              <a:gd name="adj" fmla="val 2105"/>
            </a:avLst>
          </a:prstGeom>
          <a:solidFill>
            <a:srgbClr val="EAF9FB"/>
          </a:solidFill>
          <a:ln/>
        </p:spPr>
        <p:txBody>
          <a:bodyPr wrap="square" lIns="320040" tIns="320040" rIns="320040" bIns="320040" rtlCol="0" anchor="t"/>
          <a:lstStyle/>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The naive baseline is a floor, not a competitor.</a:t>
            </a:r>
            <a:r>
              <a:rPr lang="en-US" sz="1300" dirty="0">
                <a:solidFill>
                  <a:srgbClr val="213541"/>
                </a:solidFill>
                <a:latin typeface="Arial" pitchFamily="34" charset="0"/>
                <a:ea typeface="Arial" pitchFamily="34" charset="-122"/>
                <a:cs typeface="Arial" pitchFamily="34" charset="-120"/>
              </a:rPr>
              <a:t> Any real model that can't beat “repeat last year's value” isn't adding value – always report it alongside every other model.</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Model complexity must match data availability.</a:t>
            </a:r>
            <a:r>
              <a:rPr lang="en-US" sz="1300" dirty="0">
                <a:solidFill>
                  <a:srgbClr val="213541"/>
                </a:solidFill>
                <a:latin typeface="Arial" pitchFamily="34" charset="0"/>
                <a:ea typeface="Arial" pitchFamily="34" charset="-122"/>
                <a:cs typeface="Arial" pitchFamily="34" charset="-120"/>
              </a:rPr>
              <a:t> This is the bias-variance trade-off in practice – a 100-tree Random Forest on 25 rows/country memorizes noise and can lose to the baseline.</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Pooling is the fix when segments are individually too small.</a:t>
            </a:r>
            <a:r>
              <a:rPr lang="en-US" sz="1300" dirty="0">
                <a:solidFill>
                  <a:srgbClr val="213541"/>
                </a:solidFill>
                <a:latin typeface="Arial" pitchFamily="34" charset="0"/>
                <a:ea typeface="Arial" pitchFamily="34" charset="-122"/>
                <a:cs typeface="Arial" pitchFamily="34" charset="-120"/>
              </a:rPr>
              <a:t> Combine countries into one training set and add a categorical country feature so the model can still tell them apart.</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Time-series data needs a chronological split, never a random shuffle.</a:t>
            </a:r>
            <a:r>
              <a:rPr lang="en-US" sz="1300" dirty="0">
                <a:solidFill>
                  <a:srgbClr val="213541"/>
                </a:solidFill>
                <a:latin typeface="Arial" pitchFamily="34" charset="0"/>
                <a:ea typeface="Arial" pitchFamily="34" charset="-122"/>
                <a:cs typeface="Arial" pitchFamily="34" charset="-120"/>
              </a:rPr>
              <a:t> Use TimeSeriesSplit for cross-validation – a shuffled split leaks future information into training.</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Linear Regression extrapolates without limit.</a:t>
            </a:r>
            <a:r>
              <a:rPr lang="en-US" sz="1300" dirty="0">
                <a:solidFill>
                  <a:srgbClr val="213541"/>
                </a:solidFill>
                <a:latin typeface="Arial" pitchFamily="34" charset="0"/>
                <a:ea typeface="Arial" pitchFamily="34" charset="-122"/>
                <a:cs typeface="Arial" pitchFamily="34" charset="-120"/>
              </a:rPr>
              <a:t> It can predict past zero for a quantity that can't go negative – a real risk once predictions feed back into a recursive multi-step forecast.</a:t>
            </a:r>
            <a:endParaRPr lang="en-US" sz="1300" dirty="0"/>
          </a:p>
        </p:txBody>
      </p:sp>
      <p:pic>
        <p:nvPicPr>
          <p:cNvPr id="6"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10 of 19</a:t>
            </a:r>
            <a:endParaRPr lang="en-US" sz="900" dirty="0">
              <a:solidFill>
                <a:srgbClr val="8A98A3"/>
              </a:solidFill>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40000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3  ·  DIAGRAM</a:t>
            </a:r>
            <a:endParaRPr lang="en-US" sz="1200" dirty="0"/>
          </a:p>
        </p:txBody>
      </p:sp>
      <p:sp>
        <p:nvSpPr>
          <p:cNvPr id="3" name="Text 1"/>
          <p:cNvSpPr/>
          <p:nvPr/>
        </p:nvSpPr>
        <p:spPr>
          <a:xfrm>
            <a:off x="640080" y="777240"/>
            <a:ext cx="10911535" cy="460080"/>
          </a:xfrm>
          <a:prstGeom prst="rect">
            <a:avLst/>
          </a:prstGeom>
          <a:noFill/>
          <a:ln/>
        </p:spPr>
        <p:txBody>
          <a:bodyPr wrap="square" lIns="0" tIns="0" rIns="0" bIns="0" rtlCol="0" anchor="t"/>
          <a:lstStyle/>
          <a:p>
            <a:pPr marL="0" indent="0" algn="l">
              <a:buNone/>
            </a:pPr>
            <a:r>
              <a:rPr lang="en-US" sz="2200" b="1" dirty="0">
                <a:solidFill>
                  <a:srgbClr val="213541"/>
                </a:solidFill>
                <a:latin typeface="Arial" pitchFamily="34" charset="0"/>
                <a:ea typeface="Arial" pitchFamily="34" charset="-122"/>
                <a:cs typeface="Arial" pitchFamily="34" charset="-120"/>
              </a:rPr>
              <a:t>How Linear Regression and Random Forest Structurally Differ</a:t>
            </a:r>
            <a:endParaRPr lang="en-US" sz="2200" dirty="0"/>
          </a:p>
        </p:txBody>
      </p:sp>
      <p:sp>
        <p:nvSpPr>
          <p:cNvPr id="4" name="FlowLabel"/>
          <p:cNvSpPr/>
          <p:nvPr/>
        </p:nvSpPr>
        <p:spPr>
          <a:xfrm>
            <a:off x="640080" y="1500000"/>
            <a:ext cx="10911535" cy="228600"/>
          </a:xfrm>
          <a:prstGeom prst="rect">
            <a:avLst/>
          </a:prstGeom>
          <a:noFill/>
          <a:ln/>
        </p:spPr>
        <p:txBody>
          <a:bodyPr wrap="square" lIns="0" tIns="0" rIns="0" bIns="0" rtlCol="0" anchor="ctr"/>
          <a:lstStyle/>
          <a:p>
            <a:pPr marL="0" indent="0">
              <a:buNone/>
            </a:pPr>
            <a:r>
              <a:rPr lang="en-US" sz="1250" b="1" dirty="0">
                <a:solidFill>
                  <a:srgbClr val="00B8D9"/>
                </a:solidFill>
                <a:latin typeface="Arial" pitchFamily="34" charset="0"/>
              </a:rPr>
              <a:t>LINEAR REGRESSION</a:t>
            </a:r>
            <a:r>
              <a:rPr lang="en-US" sz="1250" b="1" dirty="0">
                <a:solidFill>
                  <a:srgbClr val="213541"/>
                </a:solidFill>
                <a:latin typeface="Arial" pitchFamily="34" charset="0"/>
              </a:rPr>
              <a:t>  – fit independently for each of the 10 countries</a:t>
            </a:r>
            <a:endParaRPr lang="en-US" sz="1250" dirty="0"/>
          </a:p>
        </p:txBody>
      </p:sp>
      <p:sp>
        <p:nvSpPr>
          <p:cNvPr id="5" name="Box"/>
          <p:cNvSpPr/>
          <p:nvPr/>
        </p:nvSpPr>
        <p:spPr>
          <a:xfrm>
            <a:off x="640080" y="1808600"/>
            <a:ext cx="3203845" cy="950000"/>
          </a:xfrm>
          <a:prstGeom prst="roundRect">
            <a:avLst>
              <a:gd name="adj" fmla="val 6667"/>
            </a:avLst>
          </a:prstGeom>
          <a:solidFill>
            <a:srgbClr val="EAF9FB"/>
          </a:solidFill>
          <a:ln w="12700">
            <a:solidFill>
              <a:srgbClr val="00B8D9"/>
            </a:solidFill>
          </a:ln>
        </p:spPr>
        <p:txBody>
          <a:bodyPr wrap="square" lIns="45720" tIns="45720" rIns="45720" bIns="45720" rtlCol="0" anchor="ctr"/>
          <a:lstStyle/>
          <a:p>
            <a:pPr marL="0" indent="0" algn="ctr">
              <a:buNone/>
            </a:pPr>
            <a:r>
              <a:rPr lang="en-US" sz="1300" b="1" dirty="0">
                <a:solidFill>
                  <a:srgbClr val="213541"/>
                </a:solidFill>
                <a:latin typeface="Arial" pitchFamily="34" charset="0"/>
                <a:ea typeface="Arial" pitchFamily="34" charset="-122"/>
                <a:cs typeface="Arial" pitchFamily="34" charset="-120"/>
              </a:rPr>
              <a:t>Engineered Features</a:t>
            </a:r>
            <a:endParaRPr lang="en-US" sz="1300" dirty="0"/>
          </a:p>
          <a:p>
            <a:pPr marL="0" indent="0" algn="ctr">
              <a:buNone/>
            </a:pPr>
            <a:r>
              <a:rPr lang="en-US" sz="1050" b="0" i="1" dirty="0">
                <a:solidFill>
                  <a:srgbClr val="5B6B77"/>
                </a:solidFill>
                <a:latin typeface="Arial" pitchFamily="34" charset="0"/>
                <a:ea typeface="Arial" pitchFamily="34" charset="-122"/>
                <a:cs typeface="Arial" pitchFamily="34" charset="-120"/>
              </a:rPr>
              <a:t>6 columns · ~25 rows per country</a:t>
            </a:r>
            <a:endParaRPr lang="en-US" sz="1050" dirty="0"/>
          </a:p>
        </p:txBody>
      </p:sp>
      <p:sp>
        <p:nvSpPr>
          <p:cNvPr id="6" name="Arrow"/>
          <p:cNvSpPr/>
          <p:nvPr/>
        </p:nvSpPr>
        <p:spPr>
          <a:xfrm>
            <a:off x="3843925" y="2283600"/>
            <a:ext cx="650000" cy="0"/>
          </a:xfrm>
          <a:prstGeom prst="line">
            <a:avLst/>
          </a:prstGeom>
          <a:noFill/>
          <a:ln w="22225">
            <a:solidFill>
              <a:srgbClr val="213541"/>
            </a:solidFill>
            <a:prstDash val="solid"/>
            <a:tailEnd type="triangle"/>
          </a:ln>
        </p:spPr>
        <p:txBody>
          <a:bodyPr/>
          <a:lstStyle/>
          <a:p>
            <a:endParaRPr lang="en-US"/>
          </a:p>
        </p:txBody>
      </p:sp>
      <p:sp>
        <p:nvSpPr>
          <p:cNvPr id="7" name="Box"/>
          <p:cNvSpPr/>
          <p:nvPr/>
        </p:nvSpPr>
        <p:spPr>
          <a:xfrm>
            <a:off x="4493925" y="1808600"/>
            <a:ext cx="3203845" cy="950000"/>
          </a:xfrm>
          <a:prstGeom prst="roundRect">
            <a:avLst>
              <a:gd name="adj" fmla="val 6667"/>
            </a:avLst>
          </a:prstGeom>
          <a:solidFill>
            <a:srgbClr val="213541"/>
          </a:solidFill>
          <a:ln/>
        </p:spPr>
        <p:txBody>
          <a:bodyPr wrap="square" lIns="45720" tIns="45720" rIns="45720" bIns="4572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Ordinary Least Squares</a:t>
            </a:r>
            <a:endParaRPr lang="en-US" sz="1300" dirty="0"/>
          </a:p>
          <a:p>
            <a:pPr marL="0" indent="0" algn="ctr">
              <a:buNone/>
            </a:pPr>
            <a:r>
              <a:rPr lang="en-US" sz="1100" b="0" dirty="0">
                <a:solidFill>
                  <a:srgbClr val="FFFFFF"/>
                </a:solidFill>
                <a:latin typeface="Arial" pitchFamily="34" charset="0"/>
                <a:ea typeface="Arial" pitchFamily="34" charset="-122"/>
                <a:cs typeface="Arial" pitchFamily="34" charset="-120"/>
              </a:rPr>
              <a:t>β₀ + β₁x₁ + … + β₆x₆</a:t>
            </a:r>
            <a:endParaRPr lang="en-US" sz="1100" dirty="0"/>
          </a:p>
        </p:txBody>
      </p:sp>
      <p:sp>
        <p:nvSpPr>
          <p:cNvPr id="8" name="Arrow"/>
          <p:cNvSpPr/>
          <p:nvPr/>
        </p:nvSpPr>
        <p:spPr>
          <a:xfrm>
            <a:off x="7697770" y="2283600"/>
            <a:ext cx="650000" cy="0"/>
          </a:xfrm>
          <a:prstGeom prst="line">
            <a:avLst/>
          </a:prstGeom>
          <a:noFill/>
          <a:ln w="22225">
            <a:solidFill>
              <a:srgbClr val="213541"/>
            </a:solidFill>
            <a:prstDash val="solid"/>
            <a:tailEnd type="triangle"/>
          </a:ln>
        </p:spPr>
        <p:txBody>
          <a:bodyPr/>
          <a:lstStyle/>
          <a:p>
            <a:endParaRPr lang="en-US"/>
          </a:p>
        </p:txBody>
      </p:sp>
      <p:sp>
        <p:nvSpPr>
          <p:cNvPr id="9" name="Box"/>
          <p:cNvSpPr/>
          <p:nvPr/>
        </p:nvSpPr>
        <p:spPr>
          <a:xfrm>
            <a:off x="8347770" y="1808600"/>
            <a:ext cx="3203845" cy="950000"/>
          </a:xfrm>
          <a:prstGeom prst="roundRect">
            <a:avLst>
              <a:gd name="adj" fmla="val 6667"/>
            </a:avLst>
          </a:prstGeom>
          <a:solidFill>
            <a:srgbClr val="EAF9FB"/>
          </a:solidFill>
          <a:ln w="12700">
            <a:solidFill>
              <a:srgbClr val="00B8D9"/>
            </a:solidFill>
          </a:ln>
        </p:spPr>
        <p:txBody>
          <a:bodyPr wrap="square" lIns="45720" tIns="45720" rIns="45720" bIns="45720" rtlCol="0" anchor="ctr"/>
          <a:lstStyle/>
          <a:p>
            <a:pPr marL="0" indent="0" algn="ctr">
              <a:buNone/>
            </a:pPr>
            <a:r>
              <a:rPr lang="en-US" sz="1300" b="1" dirty="0">
                <a:solidFill>
                  <a:srgbClr val="213541"/>
                </a:solidFill>
                <a:latin typeface="Arial" pitchFamily="34" charset="0"/>
                <a:ea typeface="Arial" pitchFamily="34" charset="-122"/>
                <a:cs typeface="Arial" pitchFamily="34" charset="-120"/>
              </a:rPr>
              <a:t>Prediction</a:t>
            </a:r>
            <a:endParaRPr lang="en-US" sz="1300" dirty="0"/>
          </a:p>
          <a:p>
            <a:pPr marL="0" indent="0" algn="ctr">
              <a:buNone/>
            </a:pPr>
            <a:r>
              <a:rPr lang="en-US" sz="1050" b="0" i="1" dirty="0">
                <a:solidFill>
                  <a:srgbClr val="5B6B77"/>
                </a:solidFill>
                <a:latin typeface="Arial" pitchFamily="34" charset="0"/>
                <a:ea typeface="Arial" pitchFamily="34" charset="-122"/>
                <a:cs typeface="Arial" pitchFamily="34" charset="-120"/>
              </a:rPr>
              <a:t>next year's CO₂, per country</a:t>
            </a:r>
            <a:endParaRPr lang="en-US" sz="1050" dirty="0"/>
          </a:p>
        </p:txBody>
      </p:sp>
      <p:sp>
        <p:nvSpPr>
          <p:cNvPr id="10" name="Note"/>
          <p:cNvSpPr/>
          <p:nvPr/>
        </p:nvSpPr>
        <p:spPr>
          <a:xfrm>
            <a:off x="640080" y="2838600"/>
            <a:ext cx="10911535" cy="400000"/>
          </a:xfrm>
          <a:prstGeom prst="rect">
            <a:avLst/>
          </a:prstGeom>
          <a:noFill/>
          <a:ln/>
        </p:spPr>
        <p:txBody>
          <a:bodyPr wrap="square" lIns="0" tIns="0" rIns="0" bIns="0" rtlCol="0" anchor="t"/>
          <a:lstStyle/>
          <a:p>
            <a:pPr marL="0" indent="0" algn="l">
              <a:lnSpc>
                <a:spcPct val="118000"/>
              </a:lnSpc>
              <a:buNone/>
            </a:pPr>
            <a:r>
              <a:rPr lang="en-US" sz="1150" i="1" dirty="0">
                <a:solidFill>
                  <a:srgbClr val="5B6B77"/>
                </a:solidFill>
                <a:latin typeface="Arial" pitchFamily="34" charset="0"/>
                <a:ea typeface="Arial" pitchFamily="34" charset="-122"/>
                <a:cs typeface="Arial" pitchFamily="34" charset="-120"/>
              </a:rPr>
              <a:t>Coefficients are directly interpretable – but the fit can extrapolate without bound past the training range.</a:t>
            </a:r>
            <a:endParaRPr lang="en-US" sz="1150" dirty="0"/>
          </a:p>
        </p:txBody>
      </p:sp>
      <p:sp>
        <p:nvSpPr>
          <p:cNvPr id="11" name="FlowLabel"/>
          <p:cNvSpPr/>
          <p:nvPr/>
        </p:nvSpPr>
        <p:spPr>
          <a:xfrm>
            <a:off x="640080" y="3418640"/>
            <a:ext cx="10911535" cy="228600"/>
          </a:xfrm>
          <a:prstGeom prst="rect">
            <a:avLst/>
          </a:prstGeom>
          <a:noFill/>
          <a:ln/>
        </p:spPr>
        <p:txBody>
          <a:bodyPr wrap="square" lIns="0" tIns="0" rIns="0" bIns="0" rtlCol="0" anchor="ctr"/>
          <a:lstStyle/>
          <a:p>
            <a:pPr marL="0" indent="0">
              <a:buNone/>
            </a:pPr>
            <a:r>
              <a:rPr lang="en-US" sz="1250" b="1" dirty="0">
                <a:solidFill>
                  <a:srgbClr val="00B8D9"/>
                </a:solidFill>
                <a:latin typeface="Arial" pitchFamily="34" charset="0"/>
              </a:rPr>
              <a:t>RANDOM FOREST</a:t>
            </a:r>
            <a:r>
              <a:rPr lang="en-US" sz="1250" b="1" dirty="0">
                <a:solidFill>
                  <a:srgbClr val="213541"/>
                </a:solidFill>
                <a:latin typeface="Arial" pitchFamily="34" charset="0"/>
              </a:rPr>
              <a:t>  – pooled across all 10 countries into one shared forest</a:t>
            </a:r>
            <a:endParaRPr lang="en-US" sz="1250" dirty="0"/>
          </a:p>
        </p:txBody>
      </p:sp>
      <p:sp>
        <p:nvSpPr>
          <p:cNvPr id="12" name="Box"/>
          <p:cNvSpPr/>
          <p:nvPr/>
        </p:nvSpPr>
        <p:spPr>
          <a:xfrm>
            <a:off x="640080" y="3727240"/>
            <a:ext cx="3203845" cy="950000"/>
          </a:xfrm>
          <a:prstGeom prst="roundRect">
            <a:avLst>
              <a:gd name="adj" fmla="val 6667"/>
            </a:avLst>
          </a:prstGeom>
          <a:solidFill>
            <a:srgbClr val="EAF9FB"/>
          </a:solidFill>
          <a:ln w="12700">
            <a:solidFill>
              <a:srgbClr val="00B8D9"/>
            </a:solidFill>
          </a:ln>
        </p:spPr>
        <p:txBody>
          <a:bodyPr wrap="square" lIns="45720" tIns="45720" rIns="45720" bIns="45720" rtlCol="0" anchor="ctr"/>
          <a:lstStyle/>
          <a:p>
            <a:pPr marL="0" indent="0" algn="ctr">
              <a:buNone/>
            </a:pPr>
            <a:r>
              <a:rPr lang="en-US" sz="1300" b="1" dirty="0">
                <a:solidFill>
                  <a:srgbClr val="213541"/>
                </a:solidFill>
                <a:latin typeface="Arial" pitchFamily="34" charset="0"/>
                <a:ea typeface="Arial" pitchFamily="34" charset="-122"/>
                <a:cs typeface="Arial" pitchFamily="34" charset="-120"/>
              </a:rPr>
              <a:t>Pooled Features</a:t>
            </a:r>
            <a:endParaRPr lang="en-US" sz="1300" dirty="0"/>
          </a:p>
          <a:p>
            <a:pPr marL="0" indent="0" algn="ctr">
              <a:buNone/>
            </a:pPr>
            <a:r>
              <a:rPr lang="en-US" sz="1050" b="0" i="1" dirty="0">
                <a:solidFill>
                  <a:srgbClr val="5B6B77"/>
                </a:solidFill>
                <a:latin typeface="Arial" pitchFamily="34" charset="0"/>
                <a:ea typeface="Arial" pitchFamily="34" charset="-122"/>
                <a:cs typeface="Arial" pitchFamily="34" charset="-120"/>
              </a:rPr>
              <a:t>+ country_encoded · ~250 rows total</a:t>
            </a:r>
            <a:endParaRPr lang="en-US" sz="1050" dirty="0"/>
          </a:p>
        </p:txBody>
      </p:sp>
      <p:sp>
        <p:nvSpPr>
          <p:cNvPr id="13" name="Arrow"/>
          <p:cNvSpPr/>
          <p:nvPr/>
        </p:nvSpPr>
        <p:spPr>
          <a:xfrm>
            <a:off x="3843925" y="4202240"/>
            <a:ext cx="650000" cy="0"/>
          </a:xfrm>
          <a:prstGeom prst="line">
            <a:avLst/>
          </a:prstGeom>
          <a:noFill/>
          <a:ln w="22225">
            <a:solidFill>
              <a:srgbClr val="213541"/>
            </a:solidFill>
            <a:prstDash val="solid"/>
            <a:tailEnd type="triangle"/>
          </a:ln>
        </p:spPr>
        <p:txBody>
          <a:bodyPr/>
          <a:lstStyle/>
          <a:p>
            <a:endParaRPr lang="en-US"/>
          </a:p>
        </p:txBody>
      </p:sp>
      <p:sp>
        <p:nvSpPr>
          <p:cNvPr id="14" name="Box"/>
          <p:cNvSpPr/>
          <p:nvPr/>
        </p:nvSpPr>
        <p:spPr>
          <a:xfrm>
            <a:off x="4493925" y="3727240"/>
            <a:ext cx="3203845" cy="950000"/>
          </a:xfrm>
          <a:prstGeom prst="roundRect">
            <a:avLst>
              <a:gd name="adj" fmla="val 6667"/>
            </a:avLst>
          </a:prstGeom>
          <a:solidFill>
            <a:srgbClr val="213541"/>
          </a:solidFill>
          <a:ln/>
        </p:spPr>
        <p:txBody>
          <a:bodyPr wrap="square" lIns="45720" tIns="45720" rIns="45720" bIns="4572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100 Trees</a:t>
            </a:r>
            <a:endParaRPr lang="en-US" sz="1300" dirty="0"/>
          </a:p>
          <a:p>
            <a:pPr marL="0" indent="0" algn="ctr">
              <a:buNone/>
            </a:pPr>
            <a:r>
              <a:rPr lang="en-US" sz="1100" b="0" dirty="0">
                <a:solidFill>
                  <a:srgbClr val="FFFFFF"/>
                </a:solidFill>
                <a:latin typeface="Arial" pitchFamily="34" charset="0"/>
                <a:ea typeface="Arial" pitchFamily="34" charset="-122"/>
                <a:cs typeface="Arial" pitchFamily="34" charset="-120"/>
              </a:rPr>
              <a:t>bagging + random feature subsets</a:t>
            </a:r>
            <a:endParaRPr lang="en-US" sz="1100" dirty="0"/>
          </a:p>
        </p:txBody>
      </p:sp>
      <p:sp>
        <p:nvSpPr>
          <p:cNvPr id="15" name="Arrow"/>
          <p:cNvSpPr/>
          <p:nvPr/>
        </p:nvSpPr>
        <p:spPr>
          <a:xfrm>
            <a:off x="7697770" y="4202240"/>
            <a:ext cx="650000" cy="0"/>
          </a:xfrm>
          <a:prstGeom prst="line">
            <a:avLst/>
          </a:prstGeom>
          <a:noFill/>
          <a:ln w="22225">
            <a:solidFill>
              <a:srgbClr val="213541"/>
            </a:solidFill>
            <a:prstDash val="solid"/>
            <a:tailEnd type="triangle"/>
          </a:ln>
        </p:spPr>
        <p:txBody>
          <a:bodyPr/>
          <a:lstStyle/>
          <a:p>
            <a:endParaRPr lang="en-US"/>
          </a:p>
        </p:txBody>
      </p:sp>
      <p:sp>
        <p:nvSpPr>
          <p:cNvPr id="16" name="Box"/>
          <p:cNvSpPr/>
          <p:nvPr/>
        </p:nvSpPr>
        <p:spPr>
          <a:xfrm>
            <a:off x="8347770" y="3727240"/>
            <a:ext cx="3203845" cy="950000"/>
          </a:xfrm>
          <a:prstGeom prst="roundRect">
            <a:avLst>
              <a:gd name="adj" fmla="val 6667"/>
            </a:avLst>
          </a:prstGeom>
          <a:solidFill>
            <a:srgbClr val="EAF9FB"/>
          </a:solidFill>
          <a:ln w="12700">
            <a:solidFill>
              <a:srgbClr val="00B8D9"/>
            </a:solidFill>
          </a:ln>
        </p:spPr>
        <p:txBody>
          <a:bodyPr wrap="square" lIns="45720" tIns="45720" rIns="45720" bIns="45720" rtlCol="0" anchor="ctr"/>
          <a:lstStyle/>
          <a:p>
            <a:pPr marL="0" indent="0" algn="ctr">
              <a:buNone/>
            </a:pPr>
            <a:r>
              <a:rPr lang="en-US" sz="1300" b="1" dirty="0">
                <a:solidFill>
                  <a:srgbClr val="213541"/>
                </a:solidFill>
                <a:latin typeface="Arial" pitchFamily="34" charset="0"/>
                <a:ea typeface="Arial" pitchFamily="34" charset="-122"/>
                <a:cs typeface="Arial" pitchFamily="34" charset="-120"/>
              </a:rPr>
              <a:t>Prediction</a:t>
            </a:r>
            <a:endParaRPr lang="en-US" sz="1300" dirty="0"/>
          </a:p>
          <a:p>
            <a:pPr marL="0" indent="0" algn="ctr">
              <a:buNone/>
            </a:pPr>
            <a:r>
              <a:rPr lang="en-US" sz="1050" b="0" i="1" dirty="0">
                <a:solidFill>
                  <a:srgbClr val="5B6B77"/>
                </a:solidFill>
                <a:latin typeface="Arial" pitchFamily="34" charset="0"/>
                <a:ea typeface="Arial" pitchFamily="34" charset="-122"/>
                <a:cs typeface="Arial" pitchFamily="34" charset="-120"/>
              </a:rPr>
              <a:t>averaged across all trees</a:t>
            </a:r>
            <a:endParaRPr lang="en-US" sz="1050" dirty="0"/>
          </a:p>
        </p:txBody>
      </p:sp>
      <p:sp>
        <p:nvSpPr>
          <p:cNvPr id="17" name="Note"/>
          <p:cNvSpPr/>
          <p:nvPr/>
        </p:nvSpPr>
        <p:spPr>
          <a:xfrm>
            <a:off x="640080" y="4757240"/>
            <a:ext cx="10911535" cy="400000"/>
          </a:xfrm>
          <a:prstGeom prst="rect">
            <a:avLst/>
          </a:prstGeom>
          <a:noFill/>
          <a:ln/>
        </p:spPr>
        <p:txBody>
          <a:bodyPr wrap="square" lIns="0" tIns="0" rIns="0" bIns="0" rtlCol="0" anchor="t"/>
          <a:lstStyle/>
          <a:p>
            <a:pPr marL="0" indent="0" algn="l">
              <a:lnSpc>
                <a:spcPct val="118000"/>
              </a:lnSpc>
              <a:buNone/>
            </a:pPr>
            <a:r>
              <a:rPr lang="en-US" sz="1150" i="1" dirty="0">
                <a:solidFill>
                  <a:srgbClr val="5B6B77"/>
                </a:solidFill>
                <a:latin typeface="Arial" pitchFamily="34" charset="0"/>
                <a:ea typeface="Arial" pitchFamily="34" charset="-122"/>
                <a:cs typeface="Arial" pitchFamily="34" charset="-120"/>
              </a:rPr>
              <a:t>Predictions are bounded by the training range – this is why pooled Random Forest, not Linear Regression, drives the Week 3 recursive forecast.</a:t>
            </a:r>
            <a:endParaRPr lang="en-US" sz="1150" dirty="0"/>
          </a:p>
        </p:txBody>
      </p:sp>
      <p:pic>
        <p:nvPicPr>
          <p:cNvPr id="18"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19" name="Text 16"/>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20" name="Text 17"/>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11 of 19</a:t>
            </a:r>
            <a:endParaRPr lang="en-US" sz="900" dirty="0">
              <a:solidFill>
                <a:srgbClr val="8A98A3"/>
              </a:solidFill>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3  ·  Q&amp;A SUMMARY  ·  7 QUESTIONS</a:t>
            </a:r>
            <a:endParaRPr lang="en-US" sz="1200" dirty="0"/>
          </a:p>
        </p:txBody>
      </p:sp>
      <p:sp>
        <p:nvSpPr>
          <p:cNvPr id="3" name="Text 1"/>
          <p:cNvSpPr/>
          <p:nvPr/>
        </p:nvSpPr>
        <p:spPr>
          <a:xfrm>
            <a:off x="640080" y="822960"/>
            <a:ext cx="10911535" cy="460080"/>
          </a:xfrm>
          <a:prstGeom prst="rect">
            <a:avLst/>
          </a:prstGeom>
          <a:noFill/>
          <a:ln/>
        </p:spPr>
        <p:txBody>
          <a:bodyPr wrap="square" lIns="0" tIns="0" rIns="0" bIns="0" rtlCol="0" anchor="t"/>
          <a:lstStyle/>
          <a:p>
            <a:pPr marL="0" indent="0" algn="l">
              <a:buNone/>
            </a:pPr>
            <a:r>
              <a:rPr lang="en-US" sz="2200" b="1" dirty="0">
                <a:solidFill>
                  <a:srgbClr val="213541"/>
                </a:solidFill>
                <a:latin typeface="Arial" pitchFamily="34" charset="0"/>
                <a:ea typeface="Arial" pitchFamily="34" charset="-122"/>
                <a:cs typeface="Arial" pitchFamily="34" charset="-120"/>
              </a:rPr>
              <a:t>Q&amp;A Summary – Regression Models</a:t>
            </a:r>
            <a:endParaRPr lang="en-US" sz="2200" dirty="0"/>
          </a:p>
        </p:txBody>
      </p:sp>
      <p:sp>
        <p:nvSpPr>
          <p:cNvPr id="4" name="Text 2"/>
          <p:cNvSpPr/>
          <p:nvPr/>
        </p:nvSpPr>
        <p:spPr>
          <a:xfrm>
            <a:off x="640080" y="134112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All questions are shown now – press → or click to reveal each answer in turn.</a:t>
            </a:r>
            <a:endParaRPr lang="en-US" sz="1100" dirty="0"/>
          </a:p>
        </p:txBody>
      </p:sp>
      <p:sp>
        <p:nvSpPr>
          <p:cNvPr id="9" name="HeaderQ"/>
          <p:cNvSpPr/>
          <p:nvPr/>
        </p:nvSpPr>
        <p:spPr>
          <a:xfrm>
            <a:off x="640080" y="1706880"/>
            <a:ext cx="3962400"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QUESTION</a:t>
            </a:r>
            <a:endParaRPr lang="en-US" sz="1000" dirty="0"/>
          </a:p>
        </p:txBody>
      </p:sp>
      <p:sp>
        <p:nvSpPr>
          <p:cNvPr id="10" name="HeaderA"/>
          <p:cNvSpPr/>
          <p:nvPr/>
        </p:nvSpPr>
        <p:spPr>
          <a:xfrm>
            <a:off x="4739640" y="1706880"/>
            <a:ext cx="6811975"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ANSWER  (click to reveal)</a:t>
            </a:r>
            <a:endParaRPr lang="en-US" sz="1000" dirty="0"/>
          </a:p>
        </p:txBody>
      </p:sp>
      <p:cxnSp>
        <p:nvCxnSpPr>
          <p:cNvPr id="11" name="Divider0"/>
          <p:cNvCxnSpPr/>
          <p:nvPr/>
        </p:nvCxnSpPr>
        <p:spPr>
          <a:xfrm>
            <a:off x="640080" y="1995420"/>
            <a:ext cx="10911535" cy="0"/>
          </a:xfrm>
          <a:prstGeom prst="line">
            <a:avLst/>
          </a:prstGeom>
          <a:ln w="9525">
            <a:solidFill>
              <a:srgbClr val="E1E7EA"/>
            </a:solidFill>
          </a:ln>
        </p:spPr>
      </p:cxnSp>
      <p:sp>
        <p:nvSpPr>
          <p:cNvPr id="12" name="Row1Question"/>
          <p:cNvSpPr/>
          <p:nvPr/>
        </p:nvSpPr>
        <p:spPr>
          <a:xfrm>
            <a:off x="640080" y="2018280"/>
            <a:ext cx="3962400" cy="590804"/>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split train/test by time, not randomly?</a:t>
            </a:r>
            <a:endParaRPr lang="en-US" sz="1100" dirty="0"/>
          </a:p>
        </p:txBody>
      </p:sp>
      <p:sp>
        <p:nvSpPr>
          <p:cNvPr id="13" name="Row1Answer"/>
          <p:cNvSpPr/>
          <p:nvPr/>
        </p:nvSpPr>
        <p:spPr>
          <a:xfrm>
            <a:off x="4739640" y="2048760"/>
            <a:ext cx="6811975" cy="529844"/>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A random split would leak future years into training (e.g., train on 2022, test on 2020), which produces an unrealistically optimistic evaluation. Real forecasting should only ever have access to the past.</a:t>
            </a:r>
            <a:endParaRPr lang="en-US" sz="1100" dirty="0"/>
          </a:p>
        </p:txBody>
      </p:sp>
      <p:cxnSp>
        <p:nvCxnSpPr>
          <p:cNvPr id="14" name="Divider1"/>
          <p:cNvCxnSpPr/>
          <p:nvPr/>
        </p:nvCxnSpPr>
        <p:spPr>
          <a:xfrm>
            <a:off x="640080" y="2609084"/>
            <a:ext cx="10911535" cy="0"/>
          </a:xfrm>
          <a:prstGeom prst="line">
            <a:avLst/>
          </a:prstGeom>
          <a:ln w="9525">
            <a:solidFill>
              <a:srgbClr val="E1E7EA"/>
            </a:solidFill>
          </a:ln>
        </p:spPr>
      </p:cxnSp>
      <p:sp>
        <p:nvSpPr>
          <p:cNvPr id="15" name="Row2Question"/>
          <p:cNvSpPr/>
          <p:nvPr/>
        </p:nvSpPr>
        <p:spPr>
          <a:xfrm>
            <a:off x="640080" y="2609084"/>
            <a:ext cx="3962400" cy="590804"/>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test on 2019–2023 specifically?</a:t>
            </a:r>
            <a:endParaRPr lang="en-US" sz="1100" dirty="0"/>
          </a:p>
        </p:txBody>
      </p:sp>
      <p:sp>
        <p:nvSpPr>
          <p:cNvPr id="16" name="Row2Answer"/>
          <p:cNvSpPr/>
          <p:nvPr/>
        </p:nvSpPr>
        <p:spPr>
          <a:xfrm>
            <a:off x="4739640" y="2639564"/>
            <a:ext cx="6811975" cy="529844"/>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It includes the 2020 COVID dip and recovery – a genuine stress test, not just a window of “normal” years.</a:t>
            </a:r>
            <a:endParaRPr lang="en-US" sz="1100" dirty="0"/>
          </a:p>
        </p:txBody>
      </p:sp>
      <p:cxnSp>
        <p:nvCxnSpPr>
          <p:cNvPr id="17" name="Divider2"/>
          <p:cNvCxnSpPr/>
          <p:nvPr/>
        </p:nvCxnSpPr>
        <p:spPr>
          <a:xfrm>
            <a:off x="640080" y="3199888"/>
            <a:ext cx="10911535" cy="0"/>
          </a:xfrm>
          <a:prstGeom prst="line">
            <a:avLst/>
          </a:prstGeom>
          <a:ln w="9525">
            <a:solidFill>
              <a:srgbClr val="E1E7EA"/>
            </a:solidFill>
          </a:ln>
        </p:spPr>
      </p:cxnSp>
      <p:sp>
        <p:nvSpPr>
          <p:cNvPr id="18" name="Row3Question"/>
          <p:cNvSpPr/>
          <p:nvPr/>
        </p:nvSpPr>
        <p:spPr>
          <a:xfrm>
            <a:off x="640080" y="3199888"/>
            <a:ext cx="3962400" cy="590804"/>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bother with a naive baseline model?</a:t>
            </a:r>
            <a:endParaRPr lang="en-US" sz="1100" dirty="0"/>
          </a:p>
        </p:txBody>
      </p:sp>
      <p:sp>
        <p:nvSpPr>
          <p:cNvPr id="19" name="Row3Answer"/>
          <p:cNvSpPr/>
          <p:nvPr/>
        </p:nvSpPr>
        <p:spPr>
          <a:xfrm>
            <a:off x="4739640" y="3230368"/>
            <a:ext cx="6811975" cy="529844"/>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It's a floor – any real model that can't beat “repeat last year's value” isn't adding value.</a:t>
            </a:r>
            <a:endParaRPr lang="en-US" sz="1100" dirty="0"/>
          </a:p>
        </p:txBody>
      </p:sp>
      <p:cxnSp>
        <p:nvCxnSpPr>
          <p:cNvPr id="20" name="Divider3"/>
          <p:cNvCxnSpPr/>
          <p:nvPr/>
        </p:nvCxnSpPr>
        <p:spPr>
          <a:xfrm>
            <a:off x="640080" y="3790692"/>
            <a:ext cx="10911535" cy="0"/>
          </a:xfrm>
          <a:prstGeom prst="line">
            <a:avLst/>
          </a:prstGeom>
          <a:ln w="9525">
            <a:solidFill>
              <a:srgbClr val="E1E7EA"/>
            </a:solidFill>
          </a:ln>
        </p:spPr>
      </p:cxnSp>
      <p:sp>
        <p:nvSpPr>
          <p:cNvPr id="21" name="Row4Question"/>
          <p:cNvSpPr/>
          <p:nvPr/>
        </p:nvSpPr>
        <p:spPr>
          <a:xfrm>
            <a:off x="640080" y="3790692"/>
            <a:ext cx="3962400" cy="590804"/>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Which model won the 10-country comparison?</a:t>
            </a:r>
            <a:endParaRPr lang="en-US" sz="1100" dirty="0"/>
          </a:p>
        </p:txBody>
      </p:sp>
      <p:sp>
        <p:nvSpPr>
          <p:cNvPr id="22" name="Row4Answer"/>
          <p:cNvSpPr/>
          <p:nvPr/>
        </p:nvSpPr>
        <p:spPr>
          <a:xfrm>
            <a:off x="4739640" y="3821172"/>
            <a:ext cx="6811975" cy="529844"/>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No single model wins across all 10 – each country's trend differs; the exercise is about methodology, not a leaderboard.</a:t>
            </a:r>
            <a:endParaRPr lang="en-US" sz="1100" dirty="0"/>
          </a:p>
        </p:txBody>
      </p:sp>
      <p:cxnSp>
        <p:nvCxnSpPr>
          <p:cNvPr id="23" name="Divider4"/>
          <p:cNvCxnSpPr/>
          <p:nvPr/>
        </p:nvCxnSpPr>
        <p:spPr>
          <a:xfrm>
            <a:off x="640080" y="4381496"/>
            <a:ext cx="10911535" cy="0"/>
          </a:xfrm>
          <a:prstGeom prst="line">
            <a:avLst/>
          </a:prstGeom>
          <a:ln w="9525">
            <a:solidFill>
              <a:srgbClr val="E1E7EA"/>
            </a:solidFill>
          </a:ln>
        </p:spPr>
      </p:cxnSp>
      <p:sp>
        <p:nvSpPr>
          <p:cNvPr id="24" name="Row5Question"/>
          <p:cNvSpPr/>
          <p:nvPr/>
        </p:nvSpPr>
        <p:spPr>
          <a:xfrm>
            <a:off x="640080" y="4381496"/>
            <a:ext cx="3962400" cy="590804"/>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is Linear Regression per-country but Random Forest pooled?</a:t>
            </a:r>
            <a:endParaRPr lang="en-US" sz="1100" dirty="0"/>
          </a:p>
        </p:txBody>
      </p:sp>
      <p:sp>
        <p:nvSpPr>
          <p:cNvPr id="25" name="Row5Answer"/>
          <p:cNvSpPr/>
          <p:nvPr/>
        </p:nvSpPr>
        <p:spPr>
          <a:xfrm>
            <a:off x="4739640" y="4411976"/>
            <a:ext cx="6811975" cy="529844"/>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~25 rows/country is enough for a 6-feature linear fit but nowhere near enough for a 100-tree ensemble.</a:t>
            </a:r>
            <a:endParaRPr lang="en-US" sz="1100" dirty="0"/>
          </a:p>
        </p:txBody>
      </p:sp>
      <p:cxnSp>
        <p:nvCxnSpPr>
          <p:cNvPr id="26" name="Divider5"/>
          <p:cNvCxnSpPr/>
          <p:nvPr/>
        </p:nvCxnSpPr>
        <p:spPr>
          <a:xfrm>
            <a:off x="640080" y="4972300"/>
            <a:ext cx="10911535" cy="0"/>
          </a:xfrm>
          <a:prstGeom prst="line">
            <a:avLst/>
          </a:prstGeom>
          <a:ln w="9525">
            <a:solidFill>
              <a:srgbClr val="E1E7EA"/>
            </a:solidFill>
          </a:ln>
        </p:spPr>
      </p:cxnSp>
      <p:sp>
        <p:nvSpPr>
          <p:cNvPr id="27" name="Row6Question"/>
          <p:cNvSpPr/>
          <p:nvPr/>
        </p:nvSpPr>
        <p:spPr>
          <a:xfrm>
            <a:off x="640080" y="4972300"/>
            <a:ext cx="3962400" cy="590804"/>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happens training RF per country on ~25 rows?</a:t>
            </a:r>
            <a:endParaRPr lang="en-US" sz="1100" dirty="0"/>
          </a:p>
        </p:txBody>
      </p:sp>
      <p:sp>
        <p:nvSpPr>
          <p:cNvPr id="28" name="Row6Answer"/>
          <p:cNvSpPr/>
          <p:nvPr/>
        </p:nvSpPr>
        <p:spPr>
          <a:xfrm>
            <a:off x="4739640" y="5002780"/>
            <a:ext cx="6811975" cy="529844"/>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It underperforms the naive baseline for most countries - a 100-tree ensemble trained on 25 samples memorizes training noise completely and fails to generalize even one year out.</a:t>
            </a:r>
            <a:endParaRPr lang="en-US" sz="1100" dirty="0"/>
          </a:p>
        </p:txBody>
      </p:sp>
      <p:cxnSp>
        <p:nvCxnSpPr>
          <p:cNvPr id="29" name="Divider6"/>
          <p:cNvCxnSpPr/>
          <p:nvPr/>
        </p:nvCxnSpPr>
        <p:spPr>
          <a:xfrm>
            <a:off x="640080" y="5563104"/>
            <a:ext cx="10911535" cy="0"/>
          </a:xfrm>
          <a:prstGeom prst="line">
            <a:avLst/>
          </a:prstGeom>
          <a:ln w="9525">
            <a:solidFill>
              <a:srgbClr val="E1E7EA"/>
            </a:solidFill>
          </a:ln>
        </p:spPr>
      </p:cxnSp>
      <p:sp>
        <p:nvSpPr>
          <p:cNvPr id="30" name="Row7Question"/>
          <p:cNvSpPr/>
          <p:nvPr/>
        </p:nvSpPr>
        <p:spPr>
          <a:xfrm>
            <a:off x="640080" y="5563104"/>
            <a:ext cx="3962400" cy="590804"/>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Does pooling RF across all 10 countries fix that?</a:t>
            </a:r>
            <a:endParaRPr lang="en-US" sz="1100" dirty="0"/>
          </a:p>
        </p:txBody>
      </p:sp>
      <p:sp>
        <p:nvSpPr>
          <p:cNvPr id="31" name="Row7Answer"/>
          <p:cNvSpPr/>
          <p:nvPr/>
        </p:nvSpPr>
        <p:spPr>
          <a:xfrm>
            <a:off x="4739640" y="5593584"/>
            <a:ext cx="6811975" cy="529844"/>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Only partly – it still trails on several countries, since pooling countries with very different trajectories (rapid growth vs sustained decline) costs the model some country-specific structure.</a:t>
            </a:r>
            <a:endParaRPr lang="en-US" sz="1100" dirty="0"/>
          </a:p>
        </p:txBody>
      </p:sp>
      <p:pic>
        <p:nvPicPr>
          <p:cNvPr id="6"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12 of 19</a:t>
            </a:r>
            <a:endParaRPr lang="en-US" sz="900" dirty="0">
              <a:solidFill>
                <a:srgbClr val="8A98A3"/>
              </a:solidFill>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2" grpId="0" animBg="1"/>
      <p:bldP spid="25" grpId="0" animBg="1"/>
      <p:bldP spid="28"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27">
    <p:bg>
      <p:bgPr>
        <a:solidFill>
          <a:srgbClr val="213541"/>
        </a:solidFill>
        <a:effectLst/>
      </p:bgPr>
    </p:bg>
    <p:spTree>
      <p:nvGrpSpPr>
        <p:cNvPr id="1" name=""/>
        <p:cNvGrpSpPr/>
        <p:nvPr/>
      </p:nvGrpSpPr>
      <p:grpSpPr>
        <a:xfrm>
          <a:off x="0" y="0"/>
          <a:ext cx="0" cy="0"/>
          <a:chOff x="0" y="0"/>
          <a:chExt cx="0" cy="0"/>
        </a:xfrm>
      </p:grpSpPr>
      <p:sp>
        <p:nvSpPr>
          <p:cNvPr id="2" name="Text 0"/>
          <p:cNvSpPr/>
          <p:nvPr/>
        </p:nvSpPr>
        <p:spPr>
          <a:xfrm>
            <a:off x="914400" y="2514600"/>
            <a:ext cx="10362895" cy="365760"/>
          </a:xfrm>
          <a:prstGeom prst="rect">
            <a:avLst/>
          </a:prstGeom>
          <a:noFill/>
          <a:ln/>
        </p:spPr>
        <p:txBody>
          <a:bodyPr wrap="square" lIns="0" tIns="0" rIns="0" bIns="0" rtlCol="0" anchor="ctr"/>
          <a:lstStyle/>
          <a:p>
            <a:pPr marL="0" indent="0" algn="ctr">
              <a:buNone/>
            </a:pPr>
            <a:r>
              <a:rPr lang="en-US" sz="1300" b="1" kern="0" spc="200">
                <a:solidFill>
                  <a:srgbClr val="00B8D9"/>
                </a:solidFill>
                <a:latin typeface="Arial" pitchFamily="34" charset="0"/>
                <a:ea typeface="Arial" pitchFamily="34" charset="-122"/>
                <a:cs typeface="Arial" pitchFamily="34" charset="-120"/>
              </a:rPr>
              <a:t>SECTION 4 OF 5</a:t>
            </a:r>
            <a:endParaRPr lang="en-US" sz="1300" dirty="0"/>
          </a:p>
        </p:txBody>
      </p:sp>
      <p:sp>
        <p:nvSpPr>
          <p:cNvPr id="3" name="Text 1"/>
          <p:cNvSpPr/>
          <p:nvPr/>
        </p:nvSpPr>
        <p:spPr>
          <a:xfrm>
            <a:off x="914400" y="2880360"/>
            <a:ext cx="10362895" cy="118872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Week 4 – ETS(A,Ad,N) Time-Series Forecasting</a:t>
            </a:r>
            <a:endParaRPr lang="en-US" sz="3400" dirty="0"/>
          </a:p>
        </p:txBody>
      </p:sp>
      <p:sp>
        <p:nvSpPr>
          <p:cNvPr id="4" name="Text 2"/>
          <p:cNvSpPr/>
          <p:nvPr/>
        </p:nvSpPr>
        <p:spPr>
          <a:xfrm>
            <a:off x="914400" y="4069080"/>
            <a:ext cx="10362895" cy="365760"/>
          </a:xfrm>
          <a:prstGeom prst="rect">
            <a:avLst/>
          </a:prstGeom>
          <a:noFill/>
          <a:ln/>
        </p:spPr>
        <p:txBody>
          <a:bodyPr wrap="square" lIns="0" tIns="0" rIns="0" bIns="0" rtlCol="0" anchor="ctr"/>
          <a:lstStyle/>
          <a:p>
            <a:pPr algn="ctr"/>
            <a:r>
              <a:rPr lang="en-US" sz="1400" dirty="0">
                <a:solidFill>
                  <a:srgbClr val="8A98A3"/>
                </a:solidFill>
                <a:latin typeface="Arial" pitchFamily="34" charset="0"/>
                <a:ea typeface="Arial" pitchFamily="34" charset="-122"/>
                <a:cs typeface="Arial" pitchFamily="34" charset="-120"/>
              </a:rPr>
              <a:t>Review &amp; Questions</a:t>
            </a:r>
            <a:endParaRPr lang="en-US" sz="1400" dirty="0"/>
          </a:p>
        </p:txBody>
      </p:sp>
      <p:pic>
        <p:nvPicPr>
          <p:cNvPr id="5"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6" name="Text 3"/>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FFFFFF"/>
                </a:solidFill>
                <a:latin typeface="Arial" pitchFamily="34" charset="0"/>
                <a:ea typeface="Arial" pitchFamily="34" charset="-122"/>
                <a:cs typeface="Arial" pitchFamily="34" charset="-120"/>
              </a:rPr>
              <a:t>SYENA</a:t>
            </a:r>
            <a:endParaRPr lang="en-US" sz="900" dirty="0"/>
          </a:p>
        </p:txBody>
      </p:sp>
      <p:sp>
        <p:nvSpPr>
          <p:cNvPr id="7" name="Text 4"/>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13 of 19</a:t>
            </a:r>
            <a:endParaRPr lang="en-US" sz="900" dirty="0">
              <a:solidFill>
                <a:srgbClr val="8A98A3"/>
              </a:solidFill>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4  ·  REVIEW</a:t>
            </a:r>
            <a:endParaRPr lang="en-US" sz="1200" dirty="0"/>
          </a:p>
        </p:txBody>
      </p:sp>
      <p:sp>
        <p:nvSpPr>
          <p:cNvPr id="3" name="Text 1"/>
          <p:cNvSpPr/>
          <p:nvPr/>
        </p:nvSpPr>
        <p:spPr>
          <a:xfrm>
            <a:off x="640080" y="868680"/>
            <a:ext cx="10911535" cy="1280160"/>
          </a:xfrm>
          <a:prstGeom prst="rect">
            <a:avLst/>
          </a:prstGeom>
          <a:noFill/>
          <a:ln/>
        </p:spPr>
        <p:txBody>
          <a:bodyPr wrap="square" lIns="0" tIns="0" rIns="0" bIns="0" rtlCol="0" anchor="t"/>
          <a:lstStyle/>
          <a:p>
            <a:pPr marL="0" indent="0" algn="l">
              <a:lnSpc>
                <a:spcPct val="112000"/>
              </a:lnSpc>
              <a:buNone/>
            </a:pPr>
            <a:r>
              <a:rPr lang="en-US" sz="2700" b="1" dirty="0">
                <a:solidFill>
                  <a:srgbClr val="213541"/>
                </a:solidFill>
                <a:latin typeface="Arial" pitchFamily="34" charset="0"/>
                <a:ea typeface="Arial" pitchFamily="34" charset="-122"/>
                <a:cs typeface="Arial" pitchFamily="34" charset="-120"/>
              </a:rPr>
              <a:t>Key Lessons – ETS Time-Series Forecasting</a:t>
            </a:r>
            <a:endParaRPr lang="en-US" sz="2700" dirty="0"/>
          </a:p>
        </p:txBody>
      </p:sp>
      <p:sp>
        <p:nvSpPr>
          <p:cNvPr id="4" name="Text 2"/>
          <p:cNvSpPr/>
          <p:nvPr/>
        </p:nvSpPr>
        <p:spPr>
          <a:xfrm>
            <a:off x="640080" y="219456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Source: Time-Series Forecasting curriculum doc</a:t>
            </a:r>
            <a:endParaRPr lang="en-US" sz="1100" dirty="0"/>
          </a:p>
        </p:txBody>
      </p:sp>
      <p:sp>
        <p:nvSpPr>
          <p:cNvPr id="5" name="AnswerBox"/>
          <p:cNvSpPr/>
          <p:nvPr/>
        </p:nvSpPr>
        <p:spPr>
          <a:xfrm>
            <a:off x="640080" y="2606040"/>
            <a:ext cx="10911535" cy="3474720"/>
          </a:xfrm>
          <a:prstGeom prst="roundRect">
            <a:avLst>
              <a:gd name="adj" fmla="val 2105"/>
            </a:avLst>
          </a:prstGeom>
          <a:solidFill>
            <a:srgbClr val="EAF9FB"/>
          </a:solidFill>
          <a:ln/>
        </p:spPr>
        <p:txBody>
          <a:bodyPr wrap="square" lIns="320040" tIns="320040" rIns="320040" bIns="320040" rtlCol="0" anchor="t"/>
          <a:lstStyle/>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ETS is a state-space model, not a regression.</a:t>
            </a:r>
            <a:r>
              <a:rPr lang="en-US" sz="1300" dirty="0">
                <a:solidFill>
                  <a:srgbClr val="213541"/>
                </a:solidFill>
                <a:latin typeface="Arial" pitchFamily="34" charset="0"/>
                <a:ea typeface="Arial" pitchFamily="34" charset="-122"/>
                <a:cs typeface="Arial" pitchFamily="34" charset="-120"/>
              </a:rPr>
              <a:t> It forecasts a series from its own history alone – no feature matrix, no engineered columns (diagram next).</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The damped trend (Ad) is what makes it safe at a 20-year horizon.</a:t>
            </a:r>
            <a:r>
              <a:rPr lang="en-US" sz="1300" dirty="0">
                <a:solidFill>
                  <a:srgbClr val="213541"/>
                </a:solidFill>
                <a:latin typeface="Arial" pitchFamily="34" charset="0"/>
                <a:ea typeface="Arial" pitchFamily="34" charset="-122"/>
                <a:cs typeface="Arial" pitchFamily="34" charset="-120"/>
              </a:rPr>
              <a:t> φ geometrically decays trend growth toward flat, instead of extrapolating the last observed rate forever.</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α, β*, and φ are each worth reading at a glance.</a:t>
            </a:r>
            <a:r>
              <a:rPr lang="en-US" sz="1300" dirty="0">
                <a:solidFill>
                  <a:srgbClr val="213541"/>
                </a:solidFill>
                <a:latin typeface="Arial" pitchFamily="34" charset="0"/>
                <a:ea typeface="Arial" pitchFamily="34" charset="-122"/>
                <a:cs typeface="Arial" pitchFamily="34" charset="-120"/>
              </a:rPr>
              <a:t> Smoothing level, smoothing trend, and damping – sanity-check them against domain intuition before trusting a forecast.</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Confidence intervals here come from simulation, and they widen with horizon.</a:t>
            </a:r>
            <a:r>
              <a:rPr lang="en-US" sz="1300" dirty="0">
                <a:solidFill>
                  <a:srgbClr val="213541"/>
                </a:solidFill>
                <a:latin typeface="Arial" pitchFamily="34" charset="0"/>
                <a:ea typeface="Arial" pitchFamily="34" charset="-122"/>
                <a:cs typeface="Arial" pitchFamily="34" charset="-120"/>
              </a:rPr>
              <a:t> Treat a 2030 forecast with far more confidence than a 2040 one.</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Random Forest, not Linear Regression, is the safer choice for recursive forecasting.</a:t>
            </a:r>
            <a:r>
              <a:rPr lang="en-US" sz="1300" dirty="0">
                <a:solidFill>
                  <a:srgbClr val="213541"/>
                </a:solidFill>
                <a:latin typeface="Arial" pitchFamily="34" charset="0"/>
                <a:ea typeface="Arial" pitchFamily="34" charset="-122"/>
                <a:cs typeface="Arial" pitchFamily="34" charset="-120"/>
              </a:rPr>
              <a:t> Its predictions are bounded by the training range; a linear model's are not.</a:t>
            </a:r>
            <a:endParaRPr lang="en-US" sz="1300" dirty="0"/>
          </a:p>
        </p:txBody>
      </p:sp>
      <p:pic>
        <p:nvPicPr>
          <p:cNvPr id="6"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14 of 19</a:t>
            </a:r>
            <a:endParaRPr lang="en-US" sz="900" dirty="0">
              <a:solidFill>
                <a:srgbClr val="8A98A3"/>
              </a:solidFill>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4  ·  DIAGRAM</a:t>
            </a:r>
            <a:endParaRPr lang="en-US" sz="1200" dirty="0"/>
          </a:p>
        </p:txBody>
      </p:sp>
      <p:sp>
        <p:nvSpPr>
          <p:cNvPr id="3" name="Text 1"/>
          <p:cNvSpPr/>
          <p:nvPr/>
        </p:nvSpPr>
        <p:spPr>
          <a:xfrm>
            <a:off x="640080" y="777240"/>
            <a:ext cx="10911535" cy="548640"/>
          </a:xfrm>
          <a:prstGeom prst="rect">
            <a:avLst/>
          </a:prstGeom>
          <a:noFill/>
          <a:ln/>
        </p:spPr>
        <p:txBody>
          <a:bodyPr wrap="square" lIns="0" tIns="0" rIns="0" bIns="0" rtlCol="0" anchor="t"/>
          <a:lstStyle/>
          <a:p>
            <a:pPr marL="0" indent="0" algn="l">
              <a:buNone/>
            </a:pPr>
            <a:r>
              <a:rPr lang="en-US" sz="2400" b="1" dirty="0">
                <a:solidFill>
                  <a:srgbClr val="213541"/>
                </a:solidFill>
                <a:latin typeface="Arial" pitchFamily="34" charset="0"/>
                <a:ea typeface="Arial" pitchFamily="34" charset="-122"/>
                <a:cs typeface="Arial" pitchFamily="34" charset="-120"/>
              </a:rPr>
              <a:t>How ETS Updates Its Hidden State, One Year at a Time</a:t>
            </a:r>
            <a:endParaRPr lang="en-US" sz="2400" dirty="0"/>
          </a:p>
        </p:txBody>
      </p:sp>
      <p:sp>
        <p:nvSpPr>
          <p:cNvPr id="4" name="Text 2"/>
          <p:cNvSpPr/>
          <p:nvPr/>
        </p:nvSpPr>
        <p:spPr>
          <a:xfrm>
            <a:off x="3514954" y="1463040"/>
            <a:ext cx="2286000" cy="777240"/>
          </a:xfrm>
          <a:prstGeom prst="roundRect">
            <a:avLst>
              <a:gd name="adj" fmla="val 9412"/>
            </a:avLst>
          </a:prstGeom>
          <a:solidFill>
            <a:srgbClr val="EAF9FB"/>
          </a:solidFill>
          <a:ln w="12700">
            <a:solidFill>
              <a:srgbClr val="00B8D9"/>
            </a:solidFill>
          </a:ln>
        </p:spPr>
        <p:txBody>
          <a:bodyPr wrap="square" lIns="1016" tIns="1016" rIns="1016" bIns="1016" rtlCol="0" anchor="ctr"/>
          <a:lstStyle/>
          <a:p>
            <a:pPr marL="0" indent="0" algn="ctr">
              <a:buNone/>
            </a:pPr>
            <a:r>
              <a:rPr lang="en-US" sz="1300" b="1" dirty="0">
                <a:solidFill>
                  <a:srgbClr val="213541"/>
                </a:solidFill>
                <a:latin typeface="Arial" pitchFamily="34" charset="0"/>
                <a:ea typeface="Arial" pitchFamily="34" charset="-122"/>
                <a:cs typeface="Arial" pitchFamily="34" charset="-120"/>
              </a:rPr>
              <a:t>New Observation</a:t>
            </a:r>
            <a:endParaRPr lang="en-US" sz="1300" dirty="0"/>
          </a:p>
          <a:p>
            <a:pPr marL="0" indent="0" algn="ctr">
              <a:buNone/>
            </a:pPr>
            <a:r>
              <a:rPr lang="en-US" sz="1100" dirty="0">
                <a:solidFill>
                  <a:srgbClr val="213541"/>
                </a:solidFill>
                <a:latin typeface="Arial" pitchFamily="34" charset="0"/>
                <a:ea typeface="Arial" pitchFamily="34" charset="-122"/>
                <a:cs typeface="Arial" pitchFamily="34" charset="-120"/>
              </a:rPr>
              <a:t>yₜ  (actual CO₂ this year)</a:t>
            </a:r>
            <a:endParaRPr lang="en-US" sz="1300" dirty="0"/>
          </a:p>
        </p:txBody>
      </p:sp>
      <p:sp>
        <p:nvSpPr>
          <p:cNvPr id="5" name="Text 3"/>
          <p:cNvSpPr/>
          <p:nvPr/>
        </p:nvSpPr>
        <p:spPr>
          <a:xfrm>
            <a:off x="640080" y="2606040"/>
            <a:ext cx="2286000" cy="1097280"/>
          </a:xfrm>
          <a:prstGeom prst="roundRect">
            <a:avLst>
              <a:gd name="adj" fmla="val 6667"/>
            </a:avLst>
          </a:prstGeom>
          <a:solidFill>
            <a:srgbClr val="EAF9FB"/>
          </a:solidFill>
          <a:ln w="12700">
            <a:solidFill>
              <a:srgbClr val="00B8D9"/>
            </a:solidFill>
          </a:ln>
        </p:spPr>
        <p:txBody>
          <a:bodyPr wrap="square" lIns="1016" tIns="1016" rIns="1016" bIns="1016" rtlCol="0" anchor="ctr"/>
          <a:lstStyle/>
          <a:p>
            <a:pPr marL="0" indent="0" algn="ctr">
              <a:buNone/>
            </a:pPr>
            <a:r>
              <a:rPr lang="en-US" sz="1400" b="1" dirty="0">
                <a:solidFill>
                  <a:srgbClr val="213541"/>
                </a:solidFill>
                <a:latin typeface="Arial" pitchFamily="34" charset="0"/>
                <a:ea typeface="Arial" pitchFamily="34" charset="-122"/>
                <a:cs typeface="Arial" pitchFamily="34" charset="-120"/>
              </a:rPr>
              <a:t>Prior State</a:t>
            </a:r>
            <a:endParaRPr lang="en-US" sz="1400" dirty="0"/>
          </a:p>
          <a:p>
            <a:pPr marL="0" indent="0" algn="ctr">
              <a:buNone/>
            </a:pPr>
            <a:r>
              <a:rPr lang="en-US" sz="1000" i="1" dirty="0">
                <a:solidFill>
                  <a:srgbClr val="5B6B77"/>
                </a:solidFill>
                <a:latin typeface="Arial" pitchFamily="34" charset="0"/>
                <a:ea typeface="Arial" pitchFamily="34" charset="-122"/>
                <a:cs typeface="Arial" pitchFamily="34" charset="-120"/>
              </a:rPr>
              <a:t>year t − 1</a:t>
            </a:r>
            <a:endParaRPr lang="en-US" sz="1400" dirty="0"/>
          </a:p>
          <a:p>
            <a:pPr marL="0" indent="0" algn="ctr">
              <a:buNone/>
            </a:pPr>
            <a:r>
              <a:rPr lang="en-US" sz="1200" dirty="0">
                <a:solidFill>
                  <a:srgbClr val="213541"/>
                </a:solidFill>
                <a:latin typeface="Arial" pitchFamily="34" charset="0"/>
                <a:ea typeface="Arial" pitchFamily="34" charset="-122"/>
                <a:cs typeface="Arial" pitchFamily="34" charset="-120"/>
              </a:rPr>
              <a:t>Level, Trend</a:t>
            </a:r>
            <a:endParaRPr lang="en-US" sz="1400" dirty="0"/>
          </a:p>
        </p:txBody>
      </p:sp>
      <p:sp>
        <p:nvSpPr>
          <p:cNvPr id="6" name="Text 4"/>
          <p:cNvSpPr/>
          <p:nvPr/>
        </p:nvSpPr>
        <p:spPr>
          <a:xfrm>
            <a:off x="3514954" y="2606040"/>
            <a:ext cx="2286000" cy="1097280"/>
          </a:xfrm>
          <a:prstGeom prst="roundRect">
            <a:avLst>
              <a:gd name="adj" fmla="val 6667"/>
            </a:avLst>
          </a:prstGeom>
          <a:solidFill>
            <a:srgbClr val="213541"/>
          </a:solidFill>
          <a:ln/>
        </p:spPr>
        <p:txBody>
          <a:bodyPr wrap="square" lIns="1016" tIns="1016" rIns="1016" bIns="1016"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Update Step</a:t>
            </a:r>
            <a:endParaRPr lang="en-US" sz="1400" dirty="0"/>
          </a:p>
          <a:p>
            <a:pPr marL="0" indent="0" algn="ctr">
              <a:buNone/>
            </a:pPr>
            <a:r>
              <a:rPr lang="en-US" sz="1100" dirty="0">
                <a:solidFill>
                  <a:srgbClr val="FFFFFF"/>
                </a:solidFill>
                <a:latin typeface="Arial" pitchFamily="34" charset="0"/>
                <a:ea typeface="Arial" pitchFamily="34" charset="-122"/>
                <a:cs typeface="Arial" pitchFamily="34" charset="-120"/>
              </a:rPr>
              <a:t>α, β*  smoothing</a:t>
            </a:r>
            <a:endParaRPr lang="en-US" sz="1400" dirty="0"/>
          </a:p>
          <a:p>
            <a:pPr marL="0" indent="0" algn="ctr">
              <a:buNone/>
            </a:pPr>
            <a:r>
              <a:rPr lang="en-US" sz="1100" dirty="0">
                <a:solidFill>
                  <a:srgbClr val="FFFFFF"/>
                </a:solidFill>
                <a:latin typeface="Arial" pitchFamily="34" charset="0"/>
                <a:ea typeface="Arial" pitchFamily="34" charset="-122"/>
                <a:cs typeface="Arial" pitchFamily="34" charset="-120"/>
              </a:rPr>
              <a:t>φ  damping on trend</a:t>
            </a:r>
            <a:endParaRPr lang="en-US" sz="1400" dirty="0"/>
          </a:p>
        </p:txBody>
      </p:sp>
      <p:sp>
        <p:nvSpPr>
          <p:cNvPr id="7" name="Text 5"/>
          <p:cNvSpPr/>
          <p:nvPr/>
        </p:nvSpPr>
        <p:spPr>
          <a:xfrm>
            <a:off x="6389827" y="2606040"/>
            <a:ext cx="2286000" cy="1097280"/>
          </a:xfrm>
          <a:prstGeom prst="roundRect">
            <a:avLst>
              <a:gd name="adj" fmla="val 6667"/>
            </a:avLst>
          </a:prstGeom>
          <a:solidFill>
            <a:srgbClr val="EAF9FB"/>
          </a:solidFill>
          <a:ln w="12700">
            <a:solidFill>
              <a:srgbClr val="00B8D9"/>
            </a:solidFill>
          </a:ln>
        </p:spPr>
        <p:txBody>
          <a:bodyPr wrap="square" lIns="1016" tIns="1016" rIns="1016" bIns="1016" rtlCol="0" anchor="ctr"/>
          <a:lstStyle/>
          <a:p>
            <a:pPr marL="0" indent="0" algn="ctr">
              <a:buNone/>
            </a:pPr>
            <a:r>
              <a:rPr lang="en-US" sz="1400" b="1" dirty="0">
                <a:solidFill>
                  <a:srgbClr val="213541"/>
                </a:solidFill>
                <a:latin typeface="Arial" pitchFamily="34" charset="0"/>
                <a:ea typeface="Arial" pitchFamily="34" charset="-122"/>
                <a:cs typeface="Arial" pitchFamily="34" charset="-120"/>
              </a:rPr>
              <a:t>New State</a:t>
            </a:r>
            <a:endParaRPr lang="en-US" sz="1400" dirty="0"/>
          </a:p>
          <a:p>
            <a:pPr marL="0" indent="0" algn="ctr">
              <a:buNone/>
            </a:pPr>
            <a:r>
              <a:rPr lang="en-US" sz="1000" i="1" dirty="0">
                <a:solidFill>
                  <a:srgbClr val="5B6B77"/>
                </a:solidFill>
                <a:latin typeface="Arial" pitchFamily="34" charset="0"/>
                <a:ea typeface="Arial" pitchFamily="34" charset="-122"/>
                <a:cs typeface="Arial" pitchFamily="34" charset="-120"/>
              </a:rPr>
              <a:t>year t</a:t>
            </a:r>
            <a:endParaRPr lang="en-US" sz="1400" dirty="0"/>
          </a:p>
          <a:p>
            <a:pPr marL="0" indent="0" algn="ctr">
              <a:buNone/>
            </a:pPr>
            <a:r>
              <a:rPr lang="en-US" sz="1200" dirty="0">
                <a:solidFill>
                  <a:srgbClr val="213541"/>
                </a:solidFill>
                <a:latin typeface="Arial" pitchFamily="34" charset="0"/>
                <a:ea typeface="Arial" pitchFamily="34" charset="-122"/>
                <a:cs typeface="Arial" pitchFamily="34" charset="-120"/>
              </a:rPr>
              <a:t>Level, Trend</a:t>
            </a:r>
            <a:endParaRPr lang="en-US" sz="1400" dirty="0"/>
          </a:p>
        </p:txBody>
      </p:sp>
      <p:sp>
        <p:nvSpPr>
          <p:cNvPr id="8" name="Text 6"/>
          <p:cNvSpPr/>
          <p:nvPr/>
        </p:nvSpPr>
        <p:spPr>
          <a:xfrm>
            <a:off x="9264701" y="2606040"/>
            <a:ext cx="2286000" cy="1097280"/>
          </a:xfrm>
          <a:prstGeom prst="roundRect">
            <a:avLst>
              <a:gd name="adj" fmla="val 6667"/>
            </a:avLst>
          </a:prstGeom>
          <a:solidFill>
            <a:srgbClr val="EAF9FB"/>
          </a:solidFill>
          <a:ln w="12700">
            <a:solidFill>
              <a:srgbClr val="00B8D9"/>
            </a:solidFill>
          </a:ln>
        </p:spPr>
        <p:txBody>
          <a:bodyPr wrap="square" lIns="1016" tIns="1016" rIns="1016" bIns="1016" rtlCol="0" anchor="ctr"/>
          <a:lstStyle/>
          <a:p>
            <a:pPr marL="0" indent="0" algn="ctr">
              <a:buNone/>
            </a:pPr>
            <a:r>
              <a:rPr lang="en-US" sz="1400" b="1" dirty="0">
                <a:solidFill>
                  <a:srgbClr val="213541"/>
                </a:solidFill>
                <a:latin typeface="Arial" pitchFamily="34" charset="0"/>
                <a:ea typeface="Arial" pitchFamily="34" charset="-122"/>
                <a:cs typeface="Arial" pitchFamily="34" charset="-120"/>
              </a:rPr>
              <a:t>Forecast</a:t>
            </a:r>
            <a:endParaRPr lang="en-US" sz="1400" dirty="0"/>
          </a:p>
          <a:p>
            <a:pPr marL="0" indent="0" algn="ctr">
              <a:buNone/>
            </a:pPr>
            <a:r>
              <a:rPr lang="en-US" sz="1050" dirty="0">
                <a:solidFill>
                  <a:srgbClr val="213541"/>
                </a:solidFill>
                <a:latin typeface="Arial" pitchFamily="34" charset="0"/>
                <a:ea typeface="Arial" pitchFamily="34" charset="-122"/>
                <a:cs typeface="Arial" pitchFamily="34" charset="-120"/>
              </a:rPr>
              <a:t>no new data – state evolves via φ-damped trend only</a:t>
            </a:r>
            <a:endParaRPr lang="en-US" sz="1400" dirty="0"/>
          </a:p>
        </p:txBody>
      </p:sp>
      <p:sp>
        <p:nvSpPr>
          <p:cNvPr id="9" name="Shape 7"/>
          <p:cNvSpPr/>
          <p:nvPr/>
        </p:nvSpPr>
        <p:spPr>
          <a:xfrm>
            <a:off x="2926080" y="3154680"/>
            <a:ext cx="588874" cy="0"/>
          </a:xfrm>
          <a:prstGeom prst="line">
            <a:avLst/>
          </a:prstGeom>
          <a:noFill/>
          <a:ln w="22225">
            <a:solidFill>
              <a:srgbClr val="213541"/>
            </a:solidFill>
            <a:prstDash val="solid"/>
            <a:tailEnd type="triangle"/>
          </a:ln>
        </p:spPr>
        <p:txBody>
          <a:bodyPr/>
          <a:lstStyle/>
          <a:p>
            <a:endParaRPr lang="en-US"/>
          </a:p>
        </p:txBody>
      </p:sp>
      <p:sp>
        <p:nvSpPr>
          <p:cNvPr id="10" name="Shape 8"/>
          <p:cNvSpPr/>
          <p:nvPr/>
        </p:nvSpPr>
        <p:spPr>
          <a:xfrm>
            <a:off x="4657954" y="2240280"/>
            <a:ext cx="0" cy="365760"/>
          </a:xfrm>
          <a:prstGeom prst="line">
            <a:avLst/>
          </a:prstGeom>
          <a:noFill/>
          <a:ln w="22225">
            <a:solidFill>
              <a:srgbClr val="213541"/>
            </a:solidFill>
            <a:prstDash val="solid"/>
            <a:tailEnd type="triangle"/>
          </a:ln>
        </p:spPr>
        <p:txBody>
          <a:bodyPr/>
          <a:lstStyle/>
          <a:p>
            <a:endParaRPr lang="en-US"/>
          </a:p>
        </p:txBody>
      </p:sp>
      <p:sp>
        <p:nvSpPr>
          <p:cNvPr id="11" name="Shape 9"/>
          <p:cNvSpPr/>
          <p:nvPr/>
        </p:nvSpPr>
        <p:spPr>
          <a:xfrm>
            <a:off x="5800954" y="3154680"/>
            <a:ext cx="588874" cy="0"/>
          </a:xfrm>
          <a:prstGeom prst="line">
            <a:avLst/>
          </a:prstGeom>
          <a:noFill/>
          <a:ln w="22225">
            <a:solidFill>
              <a:srgbClr val="213541"/>
            </a:solidFill>
            <a:prstDash val="solid"/>
            <a:tailEnd type="triangle"/>
          </a:ln>
        </p:spPr>
        <p:txBody>
          <a:bodyPr/>
          <a:lstStyle/>
          <a:p>
            <a:endParaRPr lang="en-US"/>
          </a:p>
        </p:txBody>
      </p:sp>
      <p:sp>
        <p:nvSpPr>
          <p:cNvPr id="12" name="Shape 10"/>
          <p:cNvSpPr/>
          <p:nvPr/>
        </p:nvSpPr>
        <p:spPr>
          <a:xfrm>
            <a:off x="8675827" y="3154680"/>
            <a:ext cx="588874" cy="0"/>
          </a:xfrm>
          <a:prstGeom prst="line">
            <a:avLst/>
          </a:prstGeom>
          <a:noFill/>
          <a:ln w="22225">
            <a:solidFill>
              <a:srgbClr val="213541"/>
            </a:solidFill>
            <a:prstDash val="solid"/>
            <a:tailEnd type="triangle"/>
          </a:ln>
        </p:spPr>
        <p:txBody>
          <a:bodyPr/>
          <a:lstStyle/>
          <a:p>
            <a:endParaRPr lang="en-US"/>
          </a:p>
        </p:txBody>
      </p:sp>
      <p:sp>
        <p:nvSpPr>
          <p:cNvPr id="13" name="Shape 11"/>
          <p:cNvSpPr/>
          <p:nvPr/>
        </p:nvSpPr>
        <p:spPr>
          <a:xfrm>
            <a:off x="7532827" y="3703320"/>
            <a:ext cx="0" cy="502920"/>
          </a:xfrm>
          <a:prstGeom prst="line">
            <a:avLst/>
          </a:prstGeom>
          <a:noFill/>
          <a:ln w="19050">
            <a:solidFill>
              <a:srgbClr val="5B6B77"/>
            </a:solidFill>
            <a:prstDash val="dash"/>
          </a:ln>
        </p:spPr>
        <p:txBody>
          <a:bodyPr/>
          <a:lstStyle/>
          <a:p>
            <a:endParaRPr lang="en-US"/>
          </a:p>
        </p:txBody>
      </p:sp>
      <p:sp>
        <p:nvSpPr>
          <p:cNvPr id="14" name="Shape 12"/>
          <p:cNvSpPr/>
          <p:nvPr/>
        </p:nvSpPr>
        <p:spPr>
          <a:xfrm>
            <a:off x="1783080" y="4206240"/>
            <a:ext cx="5749747" cy="0"/>
          </a:xfrm>
          <a:prstGeom prst="line">
            <a:avLst/>
          </a:prstGeom>
          <a:noFill/>
          <a:ln w="19050">
            <a:solidFill>
              <a:srgbClr val="5B6B77"/>
            </a:solidFill>
            <a:prstDash val="dash"/>
          </a:ln>
        </p:spPr>
        <p:txBody>
          <a:bodyPr/>
          <a:lstStyle/>
          <a:p>
            <a:endParaRPr lang="en-US"/>
          </a:p>
        </p:txBody>
      </p:sp>
      <p:sp>
        <p:nvSpPr>
          <p:cNvPr id="15" name="Shape 13"/>
          <p:cNvSpPr/>
          <p:nvPr/>
        </p:nvSpPr>
        <p:spPr>
          <a:xfrm flipV="1">
            <a:off x="1783080" y="3703320"/>
            <a:ext cx="0" cy="502920"/>
          </a:xfrm>
          <a:prstGeom prst="line">
            <a:avLst/>
          </a:prstGeom>
          <a:noFill/>
          <a:ln w="19050">
            <a:solidFill>
              <a:srgbClr val="5B6B77"/>
            </a:solidFill>
            <a:prstDash val="dash"/>
            <a:tailEnd type="triangle"/>
          </a:ln>
        </p:spPr>
        <p:txBody>
          <a:bodyPr/>
          <a:lstStyle/>
          <a:p>
            <a:endParaRPr lang="en-US"/>
          </a:p>
        </p:txBody>
      </p:sp>
      <p:sp>
        <p:nvSpPr>
          <p:cNvPr id="16" name="Text 14"/>
          <p:cNvSpPr/>
          <p:nvPr/>
        </p:nvSpPr>
        <p:spPr>
          <a:xfrm>
            <a:off x="640080" y="4297680"/>
            <a:ext cx="8035747" cy="274320"/>
          </a:xfrm>
          <a:prstGeom prst="rect">
            <a:avLst/>
          </a:prstGeom>
          <a:noFill/>
          <a:ln/>
        </p:spPr>
        <p:txBody>
          <a:bodyPr wrap="square" lIns="0" tIns="0" rIns="0" bIns="0" rtlCol="0" anchor="ctr"/>
          <a:lstStyle/>
          <a:p>
            <a:pPr marL="0" indent="0" algn="ctr">
              <a:buNone/>
            </a:pPr>
            <a:r>
              <a:rPr lang="en-US" sz="1050" i="1" dirty="0">
                <a:solidFill>
                  <a:srgbClr val="5B6B77"/>
                </a:solidFill>
                <a:latin typeface="Arial" pitchFamily="34" charset="0"/>
                <a:ea typeface="Arial" pitchFamily="34" charset="-122"/>
                <a:cs typeface="Arial" pitchFamily="34" charset="-120"/>
              </a:rPr>
              <a:t>repeats every year, 1990 → 2018</a:t>
            </a:r>
            <a:endParaRPr lang="en-US" sz="1050" dirty="0"/>
          </a:p>
        </p:txBody>
      </p:sp>
      <p:sp>
        <p:nvSpPr>
          <p:cNvPr id="17" name="Text 15"/>
          <p:cNvSpPr/>
          <p:nvPr/>
        </p:nvSpPr>
        <p:spPr>
          <a:xfrm>
            <a:off x="640080" y="4800600"/>
            <a:ext cx="10911535" cy="822960"/>
          </a:xfrm>
          <a:prstGeom prst="rect">
            <a:avLst/>
          </a:prstGeom>
          <a:noFill/>
          <a:ln/>
        </p:spPr>
        <p:txBody>
          <a:bodyPr wrap="square" lIns="0" tIns="0" rIns="0" bIns="0" rtlCol="0" anchor="t"/>
          <a:lstStyle/>
          <a:p>
            <a:pPr marL="0" indent="0" algn="l">
              <a:lnSpc>
                <a:spcPct val="120000"/>
              </a:lnSpc>
              <a:buNone/>
            </a:pPr>
            <a:r>
              <a:rPr lang="en-US" sz="1250" i="1" dirty="0">
                <a:solidFill>
                  <a:srgbClr val="5B6B77"/>
                </a:solidFill>
                <a:latin typeface="Arial" pitchFamily="34" charset="0"/>
                <a:ea typeface="Arial" pitchFamily="34" charset="-122"/>
                <a:cs typeface="Arial" pitchFamily="34" charset="-120"/>
              </a:rPr>
              <a:t>There is no feature matrix here – only the series itself feeds the loop. Each year's actual value nudges the level and trend; forecasting just keeps running the loop forward without new data to correct it.</a:t>
            </a:r>
            <a:endParaRPr lang="en-US" sz="1250" dirty="0"/>
          </a:p>
        </p:txBody>
      </p:sp>
      <p:pic>
        <p:nvPicPr>
          <p:cNvPr id="18"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19" name="Text 16"/>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22" name="Text 5">
            <a:extLst>
              <a:ext uri="{FF2B5EF4-FFF2-40B4-BE49-F238E27FC236}">
                <a16:creationId xmlns:a16="http://schemas.microsoft.com/office/drawing/2014/main" id="{31EE8074-4A70-657A-20A3-8AFFABAEEB5A}"/>
              </a:ext>
            </a:extLst>
          </p:cNvPr>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15 of 19</a:t>
            </a:r>
            <a:endParaRPr lang="en-US" sz="900" dirty="0">
              <a:solidFill>
                <a:srgbClr val="8A98A3"/>
              </a:solidFill>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4  ·  Q&amp;A SUMMARY  ·  5 QUESTIONS</a:t>
            </a:r>
            <a:endParaRPr lang="en-US" sz="1200" dirty="0"/>
          </a:p>
        </p:txBody>
      </p:sp>
      <p:sp>
        <p:nvSpPr>
          <p:cNvPr id="3" name="Text 1"/>
          <p:cNvSpPr/>
          <p:nvPr/>
        </p:nvSpPr>
        <p:spPr>
          <a:xfrm>
            <a:off x="640080" y="822960"/>
            <a:ext cx="10911535" cy="460080"/>
          </a:xfrm>
          <a:prstGeom prst="rect">
            <a:avLst/>
          </a:prstGeom>
          <a:noFill/>
          <a:ln/>
        </p:spPr>
        <p:txBody>
          <a:bodyPr wrap="square" lIns="0" tIns="0" rIns="0" bIns="0" rtlCol="0" anchor="t"/>
          <a:lstStyle/>
          <a:p>
            <a:pPr marL="0" indent="0" algn="l">
              <a:buNone/>
            </a:pPr>
            <a:r>
              <a:rPr lang="en-US" sz="2200" b="1" dirty="0">
                <a:solidFill>
                  <a:srgbClr val="213541"/>
                </a:solidFill>
                <a:latin typeface="Arial" pitchFamily="34" charset="0"/>
                <a:ea typeface="Arial" pitchFamily="34" charset="-122"/>
                <a:cs typeface="Arial" pitchFamily="34" charset="-120"/>
              </a:rPr>
              <a:t>Q&amp;A Summary – ETS Time-Series Forecasting</a:t>
            </a:r>
            <a:endParaRPr lang="en-US" sz="2200" dirty="0"/>
          </a:p>
        </p:txBody>
      </p:sp>
      <p:sp>
        <p:nvSpPr>
          <p:cNvPr id="4" name="Text 2"/>
          <p:cNvSpPr/>
          <p:nvPr/>
        </p:nvSpPr>
        <p:spPr>
          <a:xfrm>
            <a:off x="640080" y="134112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All questions are shown now – press → or click to reveal each answer in turn.</a:t>
            </a:r>
            <a:endParaRPr lang="en-US" sz="1100" dirty="0"/>
          </a:p>
        </p:txBody>
      </p:sp>
      <p:sp>
        <p:nvSpPr>
          <p:cNvPr id="9" name="HeaderQ"/>
          <p:cNvSpPr/>
          <p:nvPr/>
        </p:nvSpPr>
        <p:spPr>
          <a:xfrm>
            <a:off x="640080" y="1706880"/>
            <a:ext cx="3962400"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QUESTION</a:t>
            </a:r>
            <a:endParaRPr lang="en-US" sz="1000" dirty="0"/>
          </a:p>
        </p:txBody>
      </p:sp>
      <p:sp>
        <p:nvSpPr>
          <p:cNvPr id="10" name="HeaderA"/>
          <p:cNvSpPr/>
          <p:nvPr/>
        </p:nvSpPr>
        <p:spPr>
          <a:xfrm>
            <a:off x="4739640" y="1706880"/>
            <a:ext cx="6811975"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ANSWER  (click to reveal)</a:t>
            </a:r>
            <a:endParaRPr lang="en-US" sz="1000" dirty="0"/>
          </a:p>
        </p:txBody>
      </p:sp>
      <p:cxnSp>
        <p:nvCxnSpPr>
          <p:cNvPr id="11" name="Divider0"/>
          <p:cNvCxnSpPr/>
          <p:nvPr/>
        </p:nvCxnSpPr>
        <p:spPr>
          <a:xfrm>
            <a:off x="640080" y="1995420"/>
            <a:ext cx="10911535" cy="0"/>
          </a:xfrm>
          <a:prstGeom prst="line">
            <a:avLst/>
          </a:prstGeom>
          <a:ln w="9525">
            <a:solidFill>
              <a:srgbClr val="E1E7EA"/>
            </a:solidFill>
          </a:ln>
        </p:spPr>
      </p:cxnSp>
      <p:sp>
        <p:nvSpPr>
          <p:cNvPr id="12" name="Row1Question"/>
          <p:cNvSpPr/>
          <p:nvPr/>
        </p:nvSpPr>
        <p:spPr>
          <a:xfrm>
            <a:off x="640080" y="2018280"/>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does ETS(A,Ad,N) stand for?</a:t>
            </a:r>
            <a:endParaRPr lang="en-US" sz="1100" dirty="0"/>
          </a:p>
        </p:txBody>
      </p:sp>
      <p:sp>
        <p:nvSpPr>
          <p:cNvPr id="13" name="Row1Answer"/>
          <p:cNvSpPr/>
          <p:nvPr/>
        </p:nvSpPr>
        <p:spPr>
          <a:xfrm>
            <a:off x="4739640" y="2048760"/>
            <a:ext cx="6811975" cy="766166"/>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Error = Additive, Trend = Additive Damped, Seasonality = None - the damped trend bounds a 20-year forecast to something plausible, prevents unbounded linear extrapolation, which is more physically realistic for emissions that tend to slow, plateau, or reverse rather than grow at a constant rate forever.</a:t>
            </a:r>
            <a:endParaRPr lang="en-US" sz="1100" dirty="0"/>
          </a:p>
        </p:txBody>
      </p:sp>
      <p:cxnSp>
        <p:nvCxnSpPr>
          <p:cNvPr id="14" name="Divider1"/>
          <p:cNvCxnSpPr/>
          <p:nvPr/>
        </p:nvCxnSpPr>
        <p:spPr>
          <a:xfrm>
            <a:off x="640080" y="2845406"/>
            <a:ext cx="10911535" cy="0"/>
          </a:xfrm>
          <a:prstGeom prst="line">
            <a:avLst/>
          </a:prstGeom>
          <a:ln w="9525">
            <a:solidFill>
              <a:srgbClr val="E1E7EA"/>
            </a:solidFill>
          </a:ln>
        </p:spPr>
      </p:cxnSp>
      <p:sp>
        <p:nvSpPr>
          <p:cNvPr id="15" name="Row2Question"/>
          <p:cNvSpPr/>
          <p:nvPr/>
        </p:nvSpPr>
        <p:spPr>
          <a:xfrm>
            <a:off x="640080" y="2845406"/>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do α, β*, and φ each control?</a:t>
            </a:r>
            <a:endParaRPr lang="en-US" sz="1100" dirty="0"/>
          </a:p>
        </p:txBody>
      </p:sp>
      <p:sp>
        <p:nvSpPr>
          <p:cNvPr id="16" name="Row2Answer"/>
          <p:cNvSpPr/>
          <p:nvPr/>
        </p:nvSpPr>
        <p:spPr>
          <a:xfrm>
            <a:off x="4739640" y="2875886"/>
            <a:ext cx="6811975" cy="819506"/>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l-GR" sz="1100" dirty="0">
                <a:solidFill>
                  <a:srgbClr val="213541"/>
                </a:solidFill>
                <a:latin typeface="Arial" pitchFamily="34" charset="0"/>
                <a:ea typeface="Arial" pitchFamily="34" charset="-122"/>
                <a:cs typeface="Arial" pitchFamily="34" charset="-120"/>
              </a:rPr>
              <a:t>α (</a:t>
            </a:r>
            <a:r>
              <a:rPr lang="en-US" sz="1100" dirty="0">
                <a:solidFill>
                  <a:srgbClr val="213541"/>
                </a:solidFill>
                <a:latin typeface="Arial" pitchFamily="34" charset="0"/>
                <a:ea typeface="Arial" pitchFamily="34" charset="-122"/>
                <a:cs typeface="Arial" pitchFamily="34" charset="-120"/>
              </a:rPr>
              <a:t>smoothing level) is how much weight recent observations get versus the smoothed history. </a:t>
            </a:r>
            <a:r>
              <a:rPr lang="el-GR" sz="1100" dirty="0">
                <a:solidFill>
                  <a:srgbClr val="213541"/>
                </a:solidFill>
                <a:latin typeface="Arial" pitchFamily="34" charset="0"/>
                <a:ea typeface="Arial" pitchFamily="34" charset="-122"/>
                <a:cs typeface="Arial" pitchFamily="34" charset="-120"/>
              </a:rPr>
              <a:t>β\* (</a:t>
            </a:r>
            <a:r>
              <a:rPr lang="en-US" sz="1100" dirty="0">
                <a:solidFill>
                  <a:srgbClr val="213541"/>
                </a:solidFill>
                <a:latin typeface="Arial" pitchFamily="34" charset="0"/>
                <a:ea typeface="Arial" pitchFamily="34" charset="-122"/>
                <a:cs typeface="Arial" pitchFamily="34" charset="-120"/>
              </a:rPr>
              <a:t>smoothing trend) is how quickly the trend estimate itself updates to recent slope changes. </a:t>
            </a:r>
            <a:r>
              <a:rPr lang="el-GR" sz="1100" dirty="0">
                <a:solidFill>
                  <a:srgbClr val="213541"/>
                </a:solidFill>
                <a:latin typeface="Arial" pitchFamily="34" charset="0"/>
                <a:ea typeface="Arial" pitchFamily="34" charset="-122"/>
                <a:cs typeface="Arial" pitchFamily="34" charset="-120"/>
              </a:rPr>
              <a:t>φ (</a:t>
            </a:r>
            <a:r>
              <a:rPr lang="en-US" sz="1100" dirty="0">
                <a:solidFill>
                  <a:srgbClr val="213541"/>
                </a:solidFill>
                <a:latin typeface="Arial" pitchFamily="34" charset="0"/>
                <a:ea typeface="Arial" pitchFamily="34" charset="-122"/>
                <a:cs typeface="Arial" pitchFamily="34" charset="-120"/>
              </a:rPr>
              <a:t>damping) controls how fast the trend decays toward zero over the forecast horizon.</a:t>
            </a:r>
            <a:endParaRPr lang="en-US" sz="1100" dirty="0"/>
          </a:p>
        </p:txBody>
      </p:sp>
      <p:cxnSp>
        <p:nvCxnSpPr>
          <p:cNvPr id="17" name="Divider2"/>
          <p:cNvCxnSpPr/>
          <p:nvPr/>
        </p:nvCxnSpPr>
        <p:spPr>
          <a:xfrm>
            <a:off x="640080" y="3751188"/>
            <a:ext cx="10911535" cy="0"/>
          </a:xfrm>
          <a:prstGeom prst="line">
            <a:avLst/>
          </a:prstGeom>
          <a:ln w="9525">
            <a:solidFill>
              <a:srgbClr val="E1E7EA"/>
            </a:solidFill>
          </a:ln>
        </p:spPr>
      </p:cxnSp>
      <p:sp>
        <p:nvSpPr>
          <p:cNvPr id="18" name="Row3Question"/>
          <p:cNvSpPr/>
          <p:nvPr/>
        </p:nvSpPr>
        <p:spPr>
          <a:xfrm>
            <a:off x="640080" y="3761020"/>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does ETS use no engineered features?</a:t>
            </a:r>
            <a:endParaRPr lang="en-US" sz="1100" dirty="0"/>
          </a:p>
        </p:txBody>
      </p:sp>
      <p:sp>
        <p:nvSpPr>
          <p:cNvPr id="19" name="Row3Answer"/>
          <p:cNvSpPr/>
          <p:nvPr/>
        </p:nvSpPr>
        <p:spPr>
          <a:xfrm>
            <a:off x="4739640" y="3791500"/>
            <a:ext cx="6811975" cy="766166"/>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It's a state-space model – it updates level, trend, and (if present) seasonality components recursively from each new observation in the series. It has no feature matrix and doesn't use any Week 2 features – it’s a fundamentally different modeling paradigm from the Week 3 regressions.</a:t>
            </a:r>
            <a:endParaRPr lang="en-US" sz="1100" dirty="0"/>
          </a:p>
        </p:txBody>
      </p:sp>
      <p:cxnSp>
        <p:nvCxnSpPr>
          <p:cNvPr id="20" name="Divider3"/>
          <p:cNvCxnSpPr/>
          <p:nvPr/>
        </p:nvCxnSpPr>
        <p:spPr>
          <a:xfrm>
            <a:off x="640080" y="4597981"/>
            <a:ext cx="10911535" cy="0"/>
          </a:xfrm>
          <a:prstGeom prst="line">
            <a:avLst/>
          </a:prstGeom>
          <a:ln w="9525">
            <a:solidFill>
              <a:srgbClr val="E1E7EA"/>
            </a:solidFill>
          </a:ln>
        </p:spPr>
      </p:cxnSp>
      <p:sp>
        <p:nvSpPr>
          <p:cNvPr id="21" name="Row4Question"/>
          <p:cNvSpPr/>
          <p:nvPr/>
        </p:nvSpPr>
        <p:spPr>
          <a:xfrm>
            <a:off x="640080" y="4636818"/>
            <a:ext cx="3962400" cy="689965"/>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Does ETS beat the other models on the holdout?</a:t>
            </a:r>
            <a:endParaRPr lang="en-US" sz="1100" dirty="0"/>
          </a:p>
        </p:txBody>
      </p:sp>
      <p:sp>
        <p:nvSpPr>
          <p:cNvPr id="22" name="Row4Answer"/>
          <p:cNvSpPr/>
          <p:nvPr/>
        </p:nvSpPr>
        <p:spPr>
          <a:xfrm>
            <a:off x="4739640" y="4636820"/>
            <a:ext cx="6811975" cy="659483"/>
          </a:xfrm>
          <a:prstGeom prst="roundRect">
            <a:avLst>
              <a:gd name="adj" fmla="val 8000"/>
            </a:avLst>
          </a:prstGeom>
          <a:solidFill>
            <a:srgbClr val="EAF9FB"/>
          </a:solidFill>
          <a:ln>
            <a:noFill/>
          </a:ln>
        </p:spPr>
        <p:txBody>
          <a:bodyPr wrap="square" lIns="137160" tIns="45720" rIns="137160" bIns="45720" rtlCol="0" anchor="t"/>
          <a:lstStyle/>
          <a:p>
            <a:pPr>
              <a:lnSpc>
                <a:spcPct val="112000"/>
              </a:lnSpc>
            </a:pPr>
            <a:r>
              <a:rPr lang="en-US" sz="1100" dirty="0">
                <a:solidFill>
                  <a:srgbClr val="213541"/>
                </a:solidFill>
                <a:latin typeface="Arial" pitchFamily="34" charset="0"/>
                <a:ea typeface="Arial" pitchFamily="34" charset="-122"/>
                <a:cs typeface="Arial" pitchFamily="34" charset="-120"/>
              </a:rPr>
              <a:t>Only in some cases – its real value isn't short-horizon accuracy; it's long-horizon *physical plausibility* – the 2019–2023 window includes the COVID dip, a discrete shock a smooth trend model can't anticipate, whereas LR's simple linear fit happens to interpolate through that turbulence well.</a:t>
            </a:r>
            <a:endParaRPr lang="en-US" sz="1100" dirty="0"/>
          </a:p>
        </p:txBody>
      </p:sp>
      <p:cxnSp>
        <p:nvCxnSpPr>
          <p:cNvPr id="23" name="Divider4"/>
          <p:cNvCxnSpPr/>
          <p:nvPr/>
        </p:nvCxnSpPr>
        <p:spPr>
          <a:xfrm>
            <a:off x="640080" y="5326784"/>
            <a:ext cx="10911535" cy="0"/>
          </a:xfrm>
          <a:prstGeom prst="line">
            <a:avLst/>
          </a:prstGeom>
          <a:ln w="9525">
            <a:solidFill>
              <a:srgbClr val="E1E7EA"/>
            </a:solidFill>
          </a:ln>
        </p:spPr>
      </p:cxnSp>
      <p:sp>
        <p:nvSpPr>
          <p:cNvPr id="24" name="Row5Question"/>
          <p:cNvSpPr/>
          <p:nvPr/>
        </p:nvSpPr>
        <p:spPr>
          <a:xfrm>
            <a:off x="640080" y="5326784"/>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Does the confidence interval widen or narrow with horizon?</a:t>
            </a:r>
            <a:endParaRPr lang="en-US" sz="1100" dirty="0"/>
          </a:p>
        </p:txBody>
      </p:sp>
      <p:sp>
        <p:nvSpPr>
          <p:cNvPr id="25" name="Row5Answer"/>
          <p:cNvSpPr/>
          <p:nvPr/>
        </p:nvSpPr>
        <p:spPr>
          <a:xfrm>
            <a:off x="4739640" y="5357264"/>
            <a:ext cx="6811975" cy="766166"/>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It widens – uncertainty compounds the further out you forecast – treat a 2040 point estimate with far less confidence than a 2030 one.</a:t>
            </a:r>
            <a:endParaRPr lang="en-US" sz="1100" dirty="0"/>
          </a:p>
        </p:txBody>
      </p:sp>
      <p:pic>
        <p:nvPicPr>
          <p:cNvPr id="6"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16 of 19</a:t>
            </a:r>
            <a:endParaRPr lang="en-US" sz="900" dirty="0">
              <a:solidFill>
                <a:srgbClr val="8A98A3"/>
              </a:solidFill>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2"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35">
    <p:bg>
      <p:bgPr>
        <a:solidFill>
          <a:srgbClr val="213541"/>
        </a:solidFill>
        <a:effectLst/>
      </p:bgPr>
    </p:bg>
    <p:spTree>
      <p:nvGrpSpPr>
        <p:cNvPr id="1" name=""/>
        <p:cNvGrpSpPr/>
        <p:nvPr/>
      </p:nvGrpSpPr>
      <p:grpSpPr>
        <a:xfrm>
          <a:off x="0" y="0"/>
          <a:ext cx="0" cy="0"/>
          <a:chOff x="0" y="0"/>
          <a:chExt cx="0" cy="0"/>
        </a:xfrm>
      </p:grpSpPr>
      <p:sp>
        <p:nvSpPr>
          <p:cNvPr id="2" name="Text 0"/>
          <p:cNvSpPr/>
          <p:nvPr/>
        </p:nvSpPr>
        <p:spPr>
          <a:xfrm>
            <a:off x="914400" y="2514600"/>
            <a:ext cx="10362895" cy="365760"/>
          </a:xfrm>
          <a:prstGeom prst="rect">
            <a:avLst/>
          </a:prstGeom>
          <a:noFill/>
          <a:ln/>
        </p:spPr>
        <p:txBody>
          <a:bodyPr wrap="square" lIns="0" tIns="0" rIns="0" bIns="0" rtlCol="0" anchor="ctr"/>
          <a:lstStyle/>
          <a:p>
            <a:pPr marL="0" indent="0" algn="ctr">
              <a:buNone/>
            </a:pPr>
            <a:r>
              <a:rPr lang="en-US" sz="1300" b="1" kern="0" spc="200">
                <a:solidFill>
                  <a:srgbClr val="00B8D9"/>
                </a:solidFill>
                <a:latin typeface="Arial" pitchFamily="34" charset="0"/>
                <a:ea typeface="Arial" pitchFamily="34" charset="-122"/>
                <a:cs typeface="Arial" pitchFamily="34" charset="-120"/>
              </a:rPr>
              <a:t>SECTION 5 OF 5</a:t>
            </a:r>
            <a:endParaRPr lang="en-US" sz="1300" dirty="0"/>
          </a:p>
        </p:txBody>
      </p:sp>
      <p:sp>
        <p:nvSpPr>
          <p:cNvPr id="3" name="Text 1"/>
          <p:cNvSpPr/>
          <p:nvPr/>
        </p:nvSpPr>
        <p:spPr>
          <a:xfrm>
            <a:off x="914400" y="2880360"/>
            <a:ext cx="10362895" cy="118872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Week 5 – Scenario Analysis</a:t>
            </a:r>
            <a:endParaRPr lang="en-US" sz="3400" dirty="0"/>
          </a:p>
        </p:txBody>
      </p:sp>
      <p:sp>
        <p:nvSpPr>
          <p:cNvPr id="4" name="Text 2"/>
          <p:cNvSpPr/>
          <p:nvPr/>
        </p:nvSpPr>
        <p:spPr>
          <a:xfrm>
            <a:off x="914400" y="4069080"/>
            <a:ext cx="10362895" cy="365760"/>
          </a:xfrm>
          <a:prstGeom prst="rect">
            <a:avLst/>
          </a:prstGeom>
          <a:noFill/>
          <a:ln/>
        </p:spPr>
        <p:txBody>
          <a:bodyPr wrap="square" lIns="0" tIns="0" rIns="0" bIns="0" rtlCol="0" anchor="ctr"/>
          <a:lstStyle/>
          <a:p>
            <a:pPr algn="ctr"/>
            <a:r>
              <a:rPr lang="en-US" sz="1400" dirty="0">
                <a:solidFill>
                  <a:srgbClr val="8A98A3"/>
                </a:solidFill>
                <a:latin typeface="Arial" pitchFamily="34" charset="0"/>
                <a:ea typeface="Arial" pitchFamily="34" charset="-122"/>
                <a:cs typeface="Arial" pitchFamily="34" charset="-120"/>
              </a:rPr>
              <a:t>Review &amp; Questions</a:t>
            </a:r>
            <a:endParaRPr lang="en-US" sz="1400" dirty="0"/>
          </a:p>
        </p:txBody>
      </p:sp>
      <p:pic>
        <p:nvPicPr>
          <p:cNvPr id="5"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6" name="Text 3"/>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FFFFFF"/>
                </a:solidFill>
                <a:latin typeface="Arial" pitchFamily="34" charset="0"/>
                <a:ea typeface="Arial" pitchFamily="34" charset="-122"/>
                <a:cs typeface="Arial" pitchFamily="34" charset="-120"/>
              </a:rPr>
              <a:t>SYENA</a:t>
            </a:r>
            <a:endParaRPr lang="en-US" sz="900" dirty="0"/>
          </a:p>
        </p:txBody>
      </p:sp>
      <p:sp>
        <p:nvSpPr>
          <p:cNvPr id="7" name="Text 4"/>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17 of 19</a:t>
            </a:r>
            <a:endParaRPr lang="en-US" sz="900" dirty="0">
              <a:solidFill>
                <a:srgbClr val="8A98A3"/>
              </a:solidFill>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5  ·  REVIEW</a:t>
            </a:r>
            <a:endParaRPr lang="en-US" sz="1200" dirty="0"/>
          </a:p>
        </p:txBody>
      </p:sp>
      <p:sp>
        <p:nvSpPr>
          <p:cNvPr id="3" name="Text 1"/>
          <p:cNvSpPr/>
          <p:nvPr/>
        </p:nvSpPr>
        <p:spPr>
          <a:xfrm>
            <a:off x="640080" y="868680"/>
            <a:ext cx="10911535" cy="1280160"/>
          </a:xfrm>
          <a:prstGeom prst="rect">
            <a:avLst/>
          </a:prstGeom>
          <a:noFill/>
          <a:ln/>
        </p:spPr>
        <p:txBody>
          <a:bodyPr wrap="square" lIns="0" tIns="0" rIns="0" bIns="0" rtlCol="0" anchor="t"/>
          <a:lstStyle/>
          <a:p>
            <a:pPr marL="0" indent="0" algn="l">
              <a:lnSpc>
                <a:spcPct val="112000"/>
              </a:lnSpc>
              <a:buNone/>
            </a:pPr>
            <a:r>
              <a:rPr lang="en-US" sz="2700" b="1" dirty="0">
                <a:solidFill>
                  <a:srgbClr val="213541"/>
                </a:solidFill>
                <a:latin typeface="Arial" pitchFamily="34" charset="0"/>
                <a:ea typeface="Arial" pitchFamily="34" charset="-122"/>
                <a:cs typeface="Arial" pitchFamily="34" charset="-120"/>
              </a:rPr>
              <a:t>Key Lessons – Scenario Analysis</a:t>
            </a:r>
            <a:endParaRPr lang="en-US" sz="2700" dirty="0"/>
          </a:p>
        </p:txBody>
      </p:sp>
      <p:sp>
        <p:nvSpPr>
          <p:cNvPr id="4" name="Text 2"/>
          <p:cNvSpPr/>
          <p:nvPr/>
        </p:nvSpPr>
        <p:spPr>
          <a:xfrm>
            <a:off x="640080" y="219456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Source: Time-Series Forecasting curriculum doc, §7</a:t>
            </a:r>
            <a:endParaRPr lang="en-US" sz="1100" dirty="0"/>
          </a:p>
        </p:txBody>
      </p:sp>
      <p:sp>
        <p:nvSpPr>
          <p:cNvPr id="5" name="AnswerBox"/>
          <p:cNvSpPr/>
          <p:nvPr/>
        </p:nvSpPr>
        <p:spPr>
          <a:xfrm>
            <a:off x="640080" y="2606040"/>
            <a:ext cx="10911535" cy="3474720"/>
          </a:xfrm>
          <a:prstGeom prst="roundRect">
            <a:avLst>
              <a:gd name="adj" fmla="val 2105"/>
            </a:avLst>
          </a:prstGeom>
          <a:solidFill>
            <a:srgbClr val="EAF9FB"/>
          </a:solidFill>
          <a:ln/>
        </p:spPr>
        <p:txBody>
          <a:bodyPr wrap="square" lIns="320040" tIns="320040" rIns="320040" bIns="320040" rtlCol="0" anchor="t"/>
          <a:lstStyle/>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A what-if scenario applies a compounding adjustment rate to a baseline forecast.</a:t>
            </a:r>
            <a:r>
              <a:rPr lang="en-US" sz="1300" dirty="0">
                <a:solidFill>
                  <a:srgbClr val="213541"/>
                </a:solidFill>
                <a:latin typeface="Arial" pitchFamily="34" charset="0"/>
                <a:ea typeface="Arial" pitchFamily="34" charset="-122"/>
                <a:cs typeface="Arial" pitchFamily="34" charset="-120"/>
              </a:rPr>
              <a:t> It's a simple, transparent mechanism – not a new model.</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It's illustrative, not causal.</a:t>
            </a:r>
            <a:r>
              <a:rPr lang="en-US" sz="1300" dirty="0">
                <a:solidFill>
                  <a:srgbClr val="213541"/>
                </a:solidFill>
                <a:latin typeface="Arial" pitchFamily="34" charset="0"/>
                <a:ea typeface="Arial" pitchFamily="34" charset="-122"/>
                <a:cs typeface="Arial" pitchFamily="34" charset="-120"/>
              </a:rPr>
              <a:t> A flat 2%/5% rate applied uniformly across very different countries is a simplification, useful for order-of-magnitude comparisons only.</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Always benchmark against a real reference point.</a:t>
            </a:r>
            <a:r>
              <a:rPr lang="en-US" sz="1300" dirty="0">
                <a:solidFill>
                  <a:srgbClr val="213541"/>
                </a:solidFill>
                <a:latin typeface="Arial" pitchFamily="34" charset="0"/>
                <a:ea typeface="Arial" pitchFamily="34" charset="-122"/>
                <a:cs typeface="Arial" pitchFamily="34" charset="-120"/>
              </a:rPr>
              <a:t> Showing each country's 1990 level lets a reader judge a scenario against an actual policy baseline, not just a trend line.</a:t>
            </a:r>
            <a:endParaRPr lang="en-US" sz="1300" dirty="0"/>
          </a:p>
          <a:p>
            <a:pPr marL="228600" indent="-228600" algn="l">
              <a:lnSpc>
                <a:spcPct val="110000"/>
              </a:lnSpc>
              <a:spcAft>
                <a:spcPts val="600"/>
              </a:spcAft>
              <a:buFont typeface="Arial"/>
              <a:buChar char="•"/>
            </a:pPr>
            <a:r>
              <a:rPr lang="en-US" sz="1300" b="1" dirty="0">
                <a:solidFill>
                  <a:srgbClr val="213541"/>
                </a:solidFill>
                <a:latin typeface="Arial" pitchFamily="34" charset="0"/>
                <a:ea typeface="Arial" pitchFamily="34" charset="-122"/>
                <a:cs typeface="Arial" pitchFamily="34" charset="-120"/>
              </a:rPr>
              <a:t>Report both the individual and the aggregate view.</a:t>
            </a:r>
            <a:r>
              <a:rPr lang="en-US" sz="1300" dirty="0">
                <a:solidFill>
                  <a:srgbClr val="213541"/>
                </a:solidFill>
                <a:latin typeface="Arial" pitchFamily="34" charset="0"/>
                <a:ea typeface="Arial" pitchFamily="34" charset="-122"/>
                <a:cs typeface="Arial" pitchFamily="34" charset="-120"/>
              </a:rPr>
              <a:t> A per-country chart shows who moves most; a summed chart answers the more policy-relevant “collectively, how much does this group change.”</a:t>
            </a:r>
            <a:endParaRPr lang="en-US" sz="1300" dirty="0"/>
          </a:p>
        </p:txBody>
      </p:sp>
      <p:pic>
        <p:nvPicPr>
          <p:cNvPr id="6" name="Image 0" descr="logo_small.png"/>
          <p:cNvPicPr>
            <a:picLocks noChangeAspect="1"/>
          </p:cNvPicPr>
          <p:nvPr/>
        </p:nvPicPr>
        <p:blipFill>
          <a:blip r:embed="rId2"/>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18 of 19</a:t>
            </a:r>
            <a:endParaRPr lang="en-US" sz="900" dirty="0">
              <a:solidFill>
                <a:srgbClr val="8A98A3"/>
              </a:solidFill>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11535" cy="320040"/>
          </a:xfrm>
          <a:prstGeom prst="rect">
            <a:avLst/>
          </a:prstGeom>
          <a:noFill/>
          <a:ln/>
        </p:spPr>
        <p:txBody>
          <a:bodyPr wrap="square" lIns="0" tIns="0" rIns="0" bIns="0" rtlCol="0" anchor="ctr"/>
          <a:lstStyle/>
          <a:p>
            <a:pPr marL="0" indent="0">
              <a:buNone/>
            </a:pPr>
            <a:r>
              <a:rPr lang="en-US" sz="1200" b="1" kern="0" spc="150" dirty="0">
                <a:solidFill>
                  <a:srgbClr val="00B8D9"/>
                </a:solidFill>
                <a:latin typeface="Arial" pitchFamily="34" charset="0"/>
                <a:ea typeface="Arial" pitchFamily="34" charset="-122"/>
                <a:cs typeface="Arial" pitchFamily="34" charset="-120"/>
              </a:rPr>
              <a:t>WEEK 5  ·  Q&amp;A SUMMARY  ·  5 QUESTIONS</a:t>
            </a:r>
            <a:endParaRPr lang="en-US" sz="1200" dirty="0"/>
          </a:p>
        </p:txBody>
      </p:sp>
      <p:sp>
        <p:nvSpPr>
          <p:cNvPr id="3" name="Text 1"/>
          <p:cNvSpPr/>
          <p:nvPr/>
        </p:nvSpPr>
        <p:spPr>
          <a:xfrm>
            <a:off x="640080" y="822960"/>
            <a:ext cx="10911535" cy="460080"/>
          </a:xfrm>
          <a:prstGeom prst="rect">
            <a:avLst/>
          </a:prstGeom>
          <a:noFill/>
          <a:ln/>
        </p:spPr>
        <p:txBody>
          <a:bodyPr wrap="square" lIns="0" tIns="0" rIns="0" bIns="0" rtlCol="0" anchor="t"/>
          <a:lstStyle/>
          <a:p>
            <a:pPr marL="0" indent="0" algn="l">
              <a:buNone/>
            </a:pPr>
            <a:r>
              <a:rPr lang="en-US" sz="2200" b="1" dirty="0">
                <a:solidFill>
                  <a:srgbClr val="213541"/>
                </a:solidFill>
                <a:latin typeface="Arial" pitchFamily="34" charset="0"/>
                <a:ea typeface="Arial" pitchFamily="34" charset="-122"/>
                <a:cs typeface="Arial" pitchFamily="34" charset="-120"/>
              </a:rPr>
              <a:t>Q&amp;A Summary – Scenario Analysis</a:t>
            </a:r>
            <a:endParaRPr lang="en-US" sz="2200" dirty="0"/>
          </a:p>
        </p:txBody>
      </p:sp>
      <p:sp>
        <p:nvSpPr>
          <p:cNvPr id="4" name="Text 2"/>
          <p:cNvSpPr/>
          <p:nvPr/>
        </p:nvSpPr>
        <p:spPr>
          <a:xfrm>
            <a:off x="640080" y="1341120"/>
            <a:ext cx="10911535" cy="274320"/>
          </a:xfrm>
          <a:prstGeom prst="rect">
            <a:avLst/>
          </a:prstGeom>
          <a:noFill/>
          <a:ln/>
        </p:spPr>
        <p:txBody>
          <a:bodyPr wrap="square" lIns="0" tIns="0" rIns="0" bIns="0" rtlCol="0" anchor="ctr"/>
          <a:lstStyle/>
          <a:p>
            <a:pPr marL="0" indent="0">
              <a:buNone/>
            </a:pPr>
            <a:r>
              <a:rPr lang="en-US" sz="1100" i="1" dirty="0">
                <a:solidFill>
                  <a:srgbClr val="8A98A3"/>
                </a:solidFill>
                <a:latin typeface="Arial" pitchFamily="34" charset="0"/>
                <a:ea typeface="Arial" pitchFamily="34" charset="-122"/>
                <a:cs typeface="Arial" pitchFamily="34" charset="-120"/>
              </a:rPr>
              <a:t>All questions are shown now – press → or click to reveal each answer in turn.</a:t>
            </a:r>
            <a:endParaRPr lang="en-US" sz="1100" dirty="0"/>
          </a:p>
        </p:txBody>
      </p:sp>
      <p:sp>
        <p:nvSpPr>
          <p:cNvPr id="9" name="HeaderQ"/>
          <p:cNvSpPr/>
          <p:nvPr/>
        </p:nvSpPr>
        <p:spPr>
          <a:xfrm>
            <a:off x="640080" y="1706880"/>
            <a:ext cx="3962400"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QUESTION</a:t>
            </a:r>
            <a:endParaRPr lang="en-US" sz="1000" dirty="0"/>
          </a:p>
        </p:txBody>
      </p:sp>
      <p:sp>
        <p:nvSpPr>
          <p:cNvPr id="10" name="HeaderA"/>
          <p:cNvSpPr/>
          <p:nvPr/>
        </p:nvSpPr>
        <p:spPr>
          <a:xfrm>
            <a:off x="4739640" y="1706880"/>
            <a:ext cx="6811975" cy="265680"/>
          </a:xfrm>
          <a:prstGeom prst="rect">
            <a:avLst/>
          </a:prstGeom>
          <a:noFill/>
          <a:ln/>
        </p:spPr>
        <p:txBody>
          <a:bodyPr wrap="square" lIns="0" tIns="0" rIns="0" bIns="0" rtlCol="0" anchor="ctr"/>
          <a:lstStyle/>
          <a:p>
            <a:pPr marL="0" indent="0">
              <a:buNone/>
            </a:pPr>
            <a:r>
              <a:rPr lang="en-US" sz="1000" b="1" kern="0" spc="100" dirty="0">
                <a:solidFill>
                  <a:srgbClr val="8A98A3"/>
                </a:solidFill>
                <a:latin typeface="Arial" pitchFamily="34" charset="0"/>
              </a:rPr>
              <a:t>ANSWER  (click to reveal)</a:t>
            </a:r>
            <a:endParaRPr lang="en-US" sz="1000" dirty="0"/>
          </a:p>
        </p:txBody>
      </p:sp>
      <p:cxnSp>
        <p:nvCxnSpPr>
          <p:cNvPr id="11" name="Divider0"/>
          <p:cNvCxnSpPr/>
          <p:nvPr/>
        </p:nvCxnSpPr>
        <p:spPr>
          <a:xfrm>
            <a:off x="640080" y="1995420"/>
            <a:ext cx="10911535" cy="0"/>
          </a:xfrm>
          <a:prstGeom prst="line">
            <a:avLst/>
          </a:prstGeom>
          <a:ln w="9525">
            <a:solidFill>
              <a:srgbClr val="E1E7EA"/>
            </a:solidFill>
          </a:ln>
        </p:spPr>
      </p:cxnSp>
      <p:sp>
        <p:nvSpPr>
          <p:cNvPr id="12" name="Row1Question"/>
          <p:cNvSpPr/>
          <p:nvPr/>
        </p:nvSpPr>
        <p:spPr>
          <a:xfrm>
            <a:off x="640080" y="2018280"/>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are the three scenarios?</a:t>
            </a:r>
            <a:endParaRPr lang="en-US" sz="1100" dirty="0"/>
          </a:p>
        </p:txBody>
      </p:sp>
      <p:sp>
        <p:nvSpPr>
          <p:cNvPr id="13" name="Row1Answer"/>
          <p:cNvSpPr/>
          <p:nvPr/>
        </p:nvSpPr>
        <p:spPr>
          <a:xfrm>
            <a:off x="4739640" y="2048760"/>
            <a:ext cx="6811975" cy="766166"/>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BAU = unmodified ETS forecast; Moderate = −2%/yr from 2025; Aggressive = −5%/yr from 2025.</a:t>
            </a:r>
            <a:endParaRPr lang="en-US" sz="1100" dirty="0"/>
          </a:p>
        </p:txBody>
      </p:sp>
      <p:cxnSp>
        <p:nvCxnSpPr>
          <p:cNvPr id="14" name="Divider1"/>
          <p:cNvCxnSpPr/>
          <p:nvPr/>
        </p:nvCxnSpPr>
        <p:spPr>
          <a:xfrm>
            <a:off x="640080" y="2845406"/>
            <a:ext cx="10911535" cy="0"/>
          </a:xfrm>
          <a:prstGeom prst="line">
            <a:avLst/>
          </a:prstGeom>
          <a:ln w="9525">
            <a:solidFill>
              <a:srgbClr val="E1E7EA"/>
            </a:solidFill>
          </a:ln>
        </p:spPr>
      </p:cxnSp>
      <p:sp>
        <p:nvSpPr>
          <p:cNvPr id="15" name="Row2Question"/>
          <p:cNvSpPr/>
          <p:nvPr/>
        </p:nvSpPr>
        <p:spPr>
          <a:xfrm>
            <a:off x="640080" y="2845406"/>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Are the 2%/5% rates a flaw, since they're not policy-derived?</a:t>
            </a:r>
            <a:endParaRPr lang="en-US" sz="1100" dirty="0"/>
          </a:p>
        </p:txBody>
      </p:sp>
      <p:sp>
        <p:nvSpPr>
          <p:cNvPr id="16" name="Row2Answer"/>
          <p:cNvSpPr/>
          <p:nvPr/>
        </p:nvSpPr>
        <p:spPr>
          <a:xfrm>
            <a:off x="4739640" y="2875886"/>
            <a:ext cx="6811975" cy="766166"/>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No – they’re explicitly illustrative, meant to build the what-if mechanics, not a calibrated projection.</a:t>
            </a:r>
            <a:endParaRPr lang="en-US" sz="1100" dirty="0"/>
          </a:p>
        </p:txBody>
      </p:sp>
      <p:cxnSp>
        <p:nvCxnSpPr>
          <p:cNvPr id="17" name="Divider2"/>
          <p:cNvCxnSpPr/>
          <p:nvPr/>
        </p:nvCxnSpPr>
        <p:spPr>
          <a:xfrm>
            <a:off x="640080" y="3672532"/>
            <a:ext cx="10911535" cy="0"/>
          </a:xfrm>
          <a:prstGeom prst="line">
            <a:avLst/>
          </a:prstGeom>
          <a:ln w="9525">
            <a:solidFill>
              <a:srgbClr val="E1E7EA"/>
            </a:solidFill>
          </a:ln>
        </p:spPr>
      </p:cxnSp>
      <p:sp>
        <p:nvSpPr>
          <p:cNvPr id="18" name="Row3Question"/>
          <p:cNvSpPr/>
          <p:nvPr/>
        </p:nvSpPr>
        <p:spPr>
          <a:xfrm>
            <a:off x="640080" y="3672532"/>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Why show each country's 1990 level on the charts?</a:t>
            </a:r>
            <a:endParaRPr lang="en-US" sz="1100" dirty="0"/>
          </a:p>
        </p:txBody>
      </p:sp>
      <p:sp>
        <p:nvSpPr>
          <p:cNvPr id="19" name="Row3Answer"/>
          <p:cNvSpPr/>
          <p:nvPr/>
        </p:nvSpPr>
        <p:spPr>
          <a:xfrm>
            <a:off x="4739640" y="3703012"/>
            <a:ext cx="6811975" cy="766166"/>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It's the standard policy baseline – lets a reader see if a scenario gets back to it.</a:t>
            </a:r>
            <a:endParaRPr lang="en-US" sz="1100" dirty="0"/>
          </a:p>
        </p:txBody>
      </p:sp>
      <p:cxnSp>
        <p:nvCxnSpPr>
          <p:cNvPr id="20" name="Divider3"/>
          <p:cNvCxnSpPr/>
          <p:nvPr/>
        </p:nvCxnSpPr>
        <p:spPr>
          <a:xfrm>
            <a:off x="640080" y="4499658"/>
            <a:ext cx="10911535" cy="0"/>
          </a:xfrm>
          <a:prstGeom prst="line">
            <a:avLst/>
          </a:prstGeom>
          <a:ln w="9525">
            <a:solidFill>
              <a:srgbClr val="E1E7EA"/>
            </a:solidFill>
          </a:ln>
        </p:spPr>
      </p:cxnSp>
      <p:sp>
        <p:nvSpPr>
          <p:cNvPr id="21" name="Row4Question"/>
          <p:cNvSpPr/>
          <p:nvPr/>
        </p:nvSpPr>
        <p:spPr>
          <a:xfrm>
            <a:off x="640080" y="4499658"/>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What does the global aggregate chart add?</a:t>
            </a:r>
            <a:endParaRPr lang="en-US" sz="1100" dirty="0"/>
          </a:p>
        </p:txBody>
      </p:sp>
      <p:sp>
        <p:nvSpPr>
          <p:cNvPr id="22" name="Row4Answer"/>
          <p:cNvSpPr/>
          <p:nvPr/>
        </p:nvSpPr>
        <p:spPr>
          <a:xfrm>
            <a:off x="4739640" y="4530138"/>
            <a:ext cx="6811975" cy="766166"/>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It sums all 10 countries per scenario – answers “how much does this whole group change,” which per-country charts don't.</a:t>
            </a:r>
            <a:endParaRPr lang="en-US" sz="1100" dirty="0"/>
          </a:p>
        </p:txBody>
      </p:sp>
      <p:cxnSp>
        <p:nvCxnSpPr>
          <p:cNvPr id="23" name="Divider4"/>
          <p:cNvCxnSpPr/>
          <p:nvPr/>
        </p:nvCxnSpPr>
        <p:spPr>
          <a:xfrm>
            <a:off x="640080" y="5326784"/>
            <a:ext cx="10911535" cy="0"/>
          </a:xfrm>
          <a:prstGeom prst="line">
            <a:avLst/>
          </a:prstGeom>
          <a:ln w="9525">
            <a:solidFill>
              <a:srgbClr val="E1E7EA"/>
            </a:solidFill>
          </a:ln>
        </p:spPr>
      </p:cxnSp>
      <p:sp>
        <p:nvSpPr>
          <p:cNvPr id="24" name="Row5Question"/>
          <p:cNvSpPr/>
          <p:nvPr/>
        </p:nvSpPr>
        <p:spPr>
          <a:xfrm>
            <a:off x="640080" y="5326784"/>
            <a:ext cx="3962400" cy="827126"/>
          </a:xfrm>
          <a:prstGeom prst="rect">
            <a:avLst/>
          </a:prstGeom>
          <a:noFill/>
          <a:ln/>
        </p:spPr>
        <p:txBody>
          <a:bodyPr wrap="square" lIns="0" tIns="45720" rIns="91440" bIns="45720" rtlCol="0" anchor="t"/>
          <a:lstStyle/>
          <a:p>
            <a:pPr marL="0" indent="0" algn="l">
              <a:lnSpc>
                <a:spcPct val="112000"/>
              </a:lnSpc>
              <a:buNone/>
            </a:pPr>
            <a:r>
              <a:rPr lang="en-US" sz="1100" b="1" dirty="0">
                <a:solidFill>
                  <a:srgbClr val="213541"/>
                </a:solidFill>
                <a:latin typeface="Arial" pitchFamily="34" charset="0"/>
                <a:ea typeface="Arial" pitchFamily="34" charset="-122"/>
                <a:cs typeface="Arial" pitchFamily="34" charset="-120"/>
              </a:rPr>
              <a:t>Which countries benefit most from aggressive mitigation?</a:t>
            </a:r>
            <a:endParaRPr lang="en-US" sz="1100" dirty="0"/>
          </a:p>
        </p:txBody>
      </p:sp>
      <p:sp>
        <p:nvSpPr>
          <p:cNvPr id="25" name="Row5Answer"/>
          <p:cNvSpPr/>
          <p:nvPr/>
        </p:nvSpPr>
        <p:spPr>
          <a:xfrm>
            <a:off x="4739640" y="5357264"/>
            <a:ext cx="6811975" cy="766166"/>
          </a:xfrm>
          <a:prstGeom prst="roundRect">
            <a:avLst>
              <a:gd name="adj" fmla="val 8000"/>
            </a:avLst>
          </a:prstGeom>
          <a:solidFill>
            <a:srgbClr val="EAF9FB"/>
          </a:solidFill>
          <a:ln>
            <a:noFill/>
          </a:ln>
        </p:spPr>
        <p:txBody>
          <a:bodyPr wrap="square" lIns="137160" tIns="45720" rIns="137160" bIns="45720" rtlCol="0" anchor="t"/>
          <a:lstStyle/>
          <a:p>
            <a:pPr marL="0" indent="0" algn="l">
              <a:lnSpc>
                <a:spcPct val="112000"/>
              </a:lnSpc>
              <a:buNone/>
            </a:pPr>
            <a:r>
              <a:rPr lang="en-US" sz="1100" dirty="0">
                <a:solidFill>
                  <a:srgbClr val="213541"/>
                </a:solidFill>
                <a:latin typeface="Arial" pitchFamily="34" charset="0"/>
                <a:ea typeface="Arial" pitchFamily="34" charset="-122"/>
                <a:cs typeface="Arial" pitchFamily="34" charset="-120"/>
              </a:rPr>
              <a:t>Largest absolute emitters (China, USA, India) show the largest absolute cut; percentage cuts are similar across all 10.</a:t>
            </a:r>
            <a:endParaRPr lang="en-US" sz="1100" dirty="0"/>
          </a:p>
        </p:txBody>
      </p:sp>
      <p:pic>
        <p:nvPicPr>
          <p:cNvPr id="6" name="Image 0" descr="logo_small.png"/>
          <p:cNvPicPr>
            <a:picLocks noChangeAspect="1"/>
          </p:cNvPicPr>
          <p:nvPr/>
        </p:nvPicPr>
        <p:blipFill>
          <a:blip r:embed="rId3"/>
          <a:stretch>
            <a:fillRect/>
          </a:stretch>
        </p:blipFill>
        <p:spPr>
          <a:xfrm>
            <a:off x="457200" y="6291072"/>
            <a:ext cx="292608" cy="292608"/>
          </a:xfrm>
          <a:prstGeom prst="rect">
            <a:avLst/>
          </a:prstGeom>
        </p:spPr>
      </p:pic>
      <p:sp>
        <p:nvSpPr>
          <p:cNvPr id="7" name="Text 4"/>
          <p:cNvSpPr/>
          <p:nvPr/>
        </p:nvSpPr>
        <p:spPr>
          <a:xfrm>
            <a:off x="822960" y="6291072"/>
            <a:ext cx="1371600" cy="292608"/>
          </a:xfrm>
          <a:prstGeom prst="rect">
            <a:avLst/>
          </a:prstGeom>
          <a:noFill/>
          <a:ln/>
        </p:spPr>
        <p:txBody>
          <a:bodyPr wrap="square" lIns="0" tIns="0" rIns="0" bIns="0" rtlCol="0" anchor="ctr"/>
          <a:lstStyle/>
          <a:p>
            <a:pPr marL="0" indent="0">
              <a:buNone/>
            </a:pPr>
            <a:r>
              <a:rPr lang="en-US" sz="900" b="1" kern="0" spc="200" dirty="0">
                <a:solidFill>
                  <a:srgbClr val="213541"/>
                </a:solidFill>
                <a:latin typeface="Arial" pitchFamily="34" charset="0"/>
                <a:ea typeface="Arial" pitchFamily="34" charset="-122"/>
                <a:cs typeface="Arial" pitchFamily="34" charset="-120"/>
              </a:rPr>
              <a:t>SYENA</a:t>
            </a:r>
            <a:endParaRPr lang="en-US" sz="900" dirty="0"/>
          </a:p>
        </p:txBody>
      </p:sp>
      <p:sp>
        <p:nvSpPr>
          <p:cNvPr id="8" name="Text 5"/>
          <p:cNvSpPr/>
          <p:nvPr/>
        </p:nvSpPr>
        <p:spPr>
          <a:xfrm>
            <a:off x="9753600" y="6291072"/>
            <a:ext cx="1981200" cy="292608"/>
          </a:xfrm>
          <a:prstGeom prst="rect">
            <a:avLst/>
          </a:prstGeom>
          <a:noFill/>
          <a:ln/>
        </p:spPr>
        <p:txBody>
          <a:bodyPr wrap="square" lIns="0" tIns="0" rIns="0" bIns="0" rtlCol="0" anchor="ctr"/>
          <a:lstStyle/>
          <a:p>
            <a:pPr marL="0" indent="0" algn="r">
              <a:buNone/>
            </a:pPr>
            <a:r>
              <a:rPr lang="en-US" sz="900">
                <a:solidFill>
                  <a:srgbClr val="8A98A3"/>
                </a:solidFill>
                <a:latin typeface="Arial"/>
                <a:ea typeface="Arial" pitchFamily="34" charset="-122"/>
                <a:cs typeface="Arial"/>
              </a:rPr>
              <a:t>Page 19 of 19</a:t>
            </a:r>
            <a:endParaRPr lang="en-US" sz="900" dirty="0">
              <a:solidFill>
                <a:srgbClr val="8A98A3"/>
              </a:solidFill>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2" grpId="0" animBg="1"/>
      <p:bldP spid="2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00A39A-79E6-AF4E-BF91-5F120FCC6001}">
  <we:reference id="wa200010001" version="1.0.0.0" store="en-US" storeType="OMEX"/>
  <we:alternateReferences>
    <we:reference id="wa200010001" version="1.0.0.0" store="" storeType="OMEX"/>
  </we:alternateReferences>
  <we:properties>
    <we:property name="claude.fileId" value="&quot;54422827-f4a8-47d9-a178-9accb1d609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1551</TotalTime>
  <Words>3260</Words>
  <Application>Microsoft Macintosh PowerPoint</Application>
  <PresentationFormat>Widescreen</PresentationFormat>
  <Paragraphs>235</Paragraphs>
  <Slides>19</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Sauparna Sarkar</cp:lastModifiedBy>
  <cp:revision>12</cp:revision>
  <dcterms:created xsi:type="dcterms:W3CDTF">2026-07-27T20:29:39Z</dcterms:created>
  <dcterms:modified xsi:type="dcterms:W3CDTF">2026-07-31T15:04:11Z</dcterms:modified>
</cp:coreProperties>
</file>